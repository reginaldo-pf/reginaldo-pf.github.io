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5"/>
    <p:sldMasterId id="214748367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Lst>
  <p:sldSz cy="5143500" cx="9144000"/>
  <p:notesSz cx="6858000" cy="9144000"/>
  <p:embeddedFontLst>
    <p:embeddedFont>
      <p:font typeface="Montserrat SemiBold"/>
      <p:regular r:id="rId105"/>
      <p:bold r:id="rId106"/>
      <p:italic r:id="rId107"/>
      <p:boldItalic r:id="rId108"/>
    </p:embeddedFont>
    <p:embeddedFont>
      <p:font typeface="Roboto"/>
      <p:regular r:id="rId109"/>
      <p:bold r:id="rId110"/>
      <p:italic r:id="rId111"/>
      <p:boldItalic r:id="rId112"/>
    </p:embeddedFont>
    <p:embeddedFont>
      <p:font typeface="Montserrat"/>
      <p:regular r:id="rId113"/>
      <p:bold r:id="rId114"/>
      <p:italic r:id="rId115"/>
      <p:boldItalic r:id="rId116"/>
    </p:embeddedFont>
    <p:embeddedFont>
      <p:font typeface="Permanent Marker"/>
      <p:regular r:id="rId117"/>
    </p:embeddedFont>
    <p:embeddedFont>
      <p:font typeface="Roboto Light"/>
      <p:regular r:id="rId118"/>
      <p:bold r:id="rId119"/>
      <p:italic r:id="rId120"/>
      <p:boldItalic r:id="rId121"/>
    </p:embeddedFont>
    <p:embeddedFont>
      <p:font typeface="Comfortaa"/>
      <p:regular r:id="rId122"/>
      <p:bold r:id="rId1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6F389CA-A1F8-429B-937D-27BCD03C1D14}">
  <a:tblStyle styleId="{E6F389CA-A1F8-429B-937D-27BCD03C1D14}"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font" Target="fonts/MontserratSemiBold-italic.fntdata"/><Relationship Id="rId106" Type="http://schemas.openxmlformats.org/officeDocument/2006/relationships/font" Target="fonts/MontserratSemiBold-bold.fntdata"/><Relationship Id="rId105" Type="http://schemas.openxmlformats.org/officeDocument/2006/relationships/font" Target="fonts/MontserratSemiBold-regular.fntdata"/><Relationship Id="rId104" Type="http://schemas.openxmlformats.org/officeDocument/2006/relationships/slide" Target="slides/slide97.xml"/><Relationship Id="rId109" Type="http://schemas.openxmlformats.org/officeDocument/2006/relationships/font" Target="fonts/Roboto-regular.fntdata"/><Relationship Id="rId108" Type="http://schemas.openxmlformats.org/officeDocument/2006/relationships/font" Target="fonts/MontserratSemiBold-boldItalic.fntdata"/><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121" Type="http://schemas.openxmlformats.org/officeDocument/2006/relationships/font" Target="fonts/RobotoLight-boldItalic.fntdata"/><Relationship Id="rId25" Type="http://schemas.openxmlformats.org/officeDocument/2006/relationships/slide" Target="slides/slide18.xml"/><Relationship Id="rId120" Type="http://schemas.openxmlformats.org/officeDocument/2006/relationships/font" Target="fonts/RobotoLight-italic.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23" Type="http://schemas.openxmlformats.org/officeDocument/2006/relationships/font" Target="fonts/Comfortaa-bold.fntdata"/><Relationship Id="rId122" Type="http://schemas.openxmlformats.org/officeDocument/2006/relationships/font" Target="fonts/Comfortaa-regular.fntdata"/><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font" Target="fonts/RobotoLight-regular.fntdata"/><Relationship Id="rId117" Type="http://schemas.openxmlformats.org/officeDocument/2006/relationships/font" Target="fonts/PermanentMarker-regular.fntdata"/><Relationship Id="rId116" Type="http://schemas.openxmlformats.org/officeDocument/2006/relationships/font" Target="fonts/Montserrat-boldItalic.fntdata"/><Relationship Id="rId115" Type="http://schemas.openxmlformats.org/officeDocument/2006/relationships/font" Target="fonts/Montserrat-italic.fntdata"/><Relationship Id="rId119" Type="http://schemas.openxmlformats.org/officeDocument/2006/relationships/font" Target="fonts/RobotoLight-bold.fntdata"/><Relationship Id="rId15" Type="http://schemas.openxmlformats.org/officeDocument/2006/relationships/slide" Target="slides/slide8.xml"/><Relationship Id="rId110" Type="http://schemas.openxmlformats.org/officeDocument/2006/relationships/font" Target="fonts/Roboto-bold.fntdata"/><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font" Target="fonts/Montserrat-bold.fntdata"/><Relationship Id="rId18" Type="http://schemas.openxmlformats.org/officeDocument/2006/relationships/slide" Target="slides/slide11.xml"/><Relationship Id="rId113" Type="http://schemas.openxmlformats.org/officeDocument/2006/relationships/font" Target="fonts/Montserrat-regular.fntdata"/><Relationship Id="rId112" Type="http://schemas.openxmlformats.org/officeDocument/2006/relationships/font" Target="fonts/Roboto-boldItalic.fntdata"/><Relationship Id="rId111" Type="http://schemas.openxmlformats.org/officeDocument/2006/relationships/font" Target="fonts/Roboto-italic.fntdata"/><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928e503945_0_9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928e503945_0_9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930480f95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930480f95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930480f953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930480f953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930480f95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930480f95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930480f95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930480f95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930480f95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930480f95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930480f953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930480f953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930480f953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930480f953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930480f953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930480f953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930480f953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930480f953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930480f953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930480f953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930480f953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930480f953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930480f953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930480f953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930480f953_0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930480f953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930480f953_0_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930480f953_0_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930480f953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930480f953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930480f953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930480f953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930480f953_0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930480f953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930480f953_0_7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930480f953_0_7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930480f953_0_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930480f953_0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930480f953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930480f953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930480f953_0_7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930480f953_0_7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930480f953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930480f953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930480f953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930480f953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930480f953_0_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930480f953_0_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930480f953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930480f953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930480f953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930480f953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930480f95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930480f95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930480f953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930480f953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930480f953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930480f953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930480f953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930480f953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930480f953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930480f953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930480f953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930480f953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930480f953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930480f953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932a21cc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932a21cc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930480f953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930480f953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930480f953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930480f953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930480f953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930480f953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930480f953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930480f953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930480f953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930480f953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930480f953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930480f953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930480f953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930480f953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930480f953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930480f953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1f7d8c4ef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1f7d8c4ef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129b3e6e17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129b3e6e17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930480f953_1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930480f953_1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930480f953_1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930480f953_1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930480f953_1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930480f953_1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930480f953_1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930480f953_1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930480f953_1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930480f953_1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930480f953_1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930480f953_1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932c3ca6e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932c3ca6e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930480f953_1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930480f953_1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933438de6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933438de6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1f7d8c4ef2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1f7d8c4ef2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2cf08937b2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2cf08937b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930480f953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930480f953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930480f953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930480f953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930480f953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930480f953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930480f953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930480f953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930480f953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930480f953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930480f953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930480f953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930480f95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930480f95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930480f953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930480f953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930480f953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930480f953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930480f953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930480f953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930480f953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930480f953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930480f953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7" name="Google Shape;797;g930480f953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930480f953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930480f953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930480f953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2" name="Google Shape;812;g930480f953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930480f953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g930480f953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129b3e6e17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8" name="Google Shape;828;g129b3e6e17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930480f953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930480f953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930480f953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930480f953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930480f953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930480f953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930480f953_1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930480f953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930480f953_1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930480f953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930480f953_1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9" name="Google Shape;869;g930480f953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930480f953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930480f953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930480f953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930480f953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930480f953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930480f953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129b3e6e17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129b3e6e17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930480f953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4" name="Google Shape;904;g930480f953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930480f953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930480f953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g930480f953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1" name="Google Shape;921;g930480f953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930480f953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0" name="Google Shape;930;g930480f953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930480f953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9" name="Google Shape;939;g930480f953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930480f953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6" name="Google Shape;946;g930480f953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94fd262f8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3" name="Google Shape;953;g94fd262f8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930480f953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930480f953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930480f953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7" name="Google Shape;967;g930480f953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930480f953_0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4" name="Google Shape;974;g930480f953_0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930480f953_0_42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81" name="Google Shape;981;g930480f953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930480f953_0_42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88" name="Google Shape;988;g930480f953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930480f953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5" name="Google Shape;995;g930480f953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930480f953_0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g930480f953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92cc4b5339_0_20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9" name="Google Shape;1009;g92cc4b5339_0_20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icd-ufmg.github.io/" TargetMode="Externa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hyperlink" Target="mailto:flavio@dcc.ufmg.br"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nvSpPr>
        <p:spPr>
          <a:xfrm>
            <a:off x="311700" y="1972200"/>
            <a:ext cx="8520600" cy="589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b="1" sz="3000"/>
          </a:p>
        </p:txBody>
      </p:sp>
      <p:sp>
        <p:nvSpPr>
          <p:cNvPr id="56" name="Google Shape;56;p14"/>
          <p:cNvSpPr txBox="1"/>
          <p:nvPr/>
        </p:nvSpPr>
        <p:spPr>
          <a:xfrm>
            <a:off x="1116000" y="2561400"/>
            <a:ext cx="6912000" cy="41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pt-BR" sz="1700">
                <a:latin typeface="Montserrat"/>
                <a:ea typeface="Montserrat"/>
                <a:cs typeface="Montserrat"/>
                <a:sym typeface="Montserrat"/>
              </a:rPr>
              <a:t>Introdução à Ciência dos Dados</a:t>
            </a:r>
            <a:br>
              <a:rPr lang="pt-BR" sz="1700">
                <a:latin typeface="Montserrat"/>
                <a:ea typeface="Montserrat"/>
                <a:cs typeface="Montserrat"/>
                <a:sym typeface="Montserrat"/>
              </a:rPr>
            </a:br>
            <a:r>
              <a:rPr lang="pt-BR" sz="2100" u="sng">
                <a:solidFill>
                  <a:schemeClr val="hlink"/>
                </a:solidFill>
                <a:latin typeface="Montserrat"/>
                <a:ea typeface="Montserrat"/>
                <a:cs typeface="Montserrat"/>
                <a:sym typeface="Montserrat"/>
                <a:hlinkClick r:id="rId2"/>
              </a:rPr>
              <a:t>https://icd-ufmg.github.io/</a:t>
            </a:r>
            <a:endParaRPr sz="2700">
              <a:latin typeface="Montserrat"/>
              <a:ea typeface="Montserrat"/>
              <a:cs typeface="Montserrat"/>
              <a:sym typeface="Montserrat"/>
            </a:endParaRPr>
          </a:p>
        </p:txBody>
      </p:sp>
      <p:pic>
        <p:nvPicPr>
          <p:cNvPr id="57" name="Google Shape;57;p14"/>
          <p:cNvPicPr preferRelativeResize="0"/>
          <p:nvPr/>
        </p:nvPicPr>
        <p:blipFill>
          <a:blip r:embed="rId3">
            <a:alphaModFix/>
          </a:blip>
          <a:stretch>
            <a:fillRect/>
          </a:stretch>
        </p:blipFill>
        <p:spPr>
          <a:xfrm>
            <a:off x="216000" y="4428000"/>
            <a:ext cx="1166400" cy="540000"/>
          </a:xfrm>
          <a:prstGeom prst="rect">
            <a:avLst/>
          </a:prstGeom>
          <a:noFill/>
          <a:ln>
            <a:noFill/>
          </a:ln>
        </p:spPr>
      </p:pic>
      <p:pic>
        <p:nvPicPr>
          <p:cNvPr id="58" name="Google Shape;58;p14"/>
          <p:cNvPicPr preferRelativeResize="0"/>
          <p:nvPr/>
        </p:nvPicPr>
        <p:blipFill>
          <a:blip r:embed="rId4">
            <a:alphaModFix/>
          </a:blip>
          <a:stretch>
            <a:fillRect/>
          </a:stretch>
        </p:blipFill>
        <p:spPr>
          <a:xfrm>
            <a:off x="7812000" y="180000"/>
            <a:ext cx="1139915" cy="467999"/>
          </a:xfrm>
          <a:prstGeom prst="rect">
            <a:avLst/>
          </a:prstGeom>
          <a:noFill/>
          <a:ln>
            <a:noFill/>
          </a:ln>
        </p:spPr>
      </p:pic>
      <p:sp>
        <p:nvSpPr>
          <p:cNvPr id="59" name="Google Shape;59;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300">
                <a:solidFill>
                  <a:srgbClr val="000000"/>
                </a:solidFill>
              </a:defRPr>
            </a:lvl1pPr>
            <a:lvl2pPr lvl="1" rtl="0">
              <a:buNone/>
              <a:defRPr sz="1300">
                <a:solidFill>
                  <a:srgbClr val="000000"/>
                </a:solidFill>
              </a:defRPr>
            </a:lvl2pPr>
            <a:lvl3pPr lvl="2" rtl="0">
              <a:buNone/>
              <a:defRPr sz="1300">
                <a:solidFill>
                  <a:srgbClr val="000000"/>
                </a:solidFill>
              </a:defRPr>
            </a:lvl3pPr>
            <a:lvl4pPr lvl="3" rtl="0">
              <a:buNone/>
              <a:defRPr sz="1300">
                <a:solidFill>
                  <a:srgbClr val="000000"/>
                </a:solidFill>
              </a:defRPr>
            </a:lvl4pPr>
            <a:lvl5pPr lvl="4" rtl="0">
              <a:buNone/>
              <a:defRPr sz="1300">
                <a:solidFill>
                  <a:srgbClr val="000000"/>
                </a:solidFill>
              </a:defRPr>
            </a:lvl5pPr>
            <a:lvl6pPr lvl="5" rtl="0">
              <a:buNone/>
              <a:defRPr sz="1300">
                <a:solidFill>
                  <a:srgbClr val="000000"/>
                </a:solidFill>
              </a:defRPr>
            </a:lvl6pPr>
            <a:lvl7pPr lvl="6" rtl="0">
              <a:buNone/>
              <a:defRPr sz="1300">
                <a:solidFill>
                  <a:srgbClr val="000000"/>
                </a:solidFill>
              </a:defRPr>
            </a:lvl7pPr>
            <a:lvl8pPr lvl="7" rtl="0">
              <a:buNone/>
              <a:defRPr sz="1300">
                <a:solidFill>
                  <a:srgbClr val="000000"/>
                </a:solidFill>
              </a:defRPr>
            </a:lvl8pPr>
            <a:lvl9pPr lvl="8" rtl="0">
              <a:buNone/>
              <a:defRPr sz="1300">
                <a:solidFill>
                  <a:srgbClr val="000000"/>
                </a:solidFill>
              </a:defRPr>
            </a:lvl9pPr>
          </a:lstStyle>
          <a:p>
            <a:pPr indent="0" lvl="0" marL="0" rtl="0" algn="r">
              <a:spcBef>
                <a:spcPts val="0"/>
              </a:spcBef>
              <a:spcAft>
                <a:spcPts val="0"/>
              </a:spcAft>
              <a:buNone/>
            </a:pPr>
            <a:fld id="{00000000-1234-1234-1234-123412341234}" type="slidenum">
              <a:rPr lang="pt-BR"/>
              <a:t>‹#›</a:t>
            </a:fld>
            <a:endParaRPr/>
          </a:p>
        </p:txBody>
      </p:sp>
      <p:sp>
        <p:nvSpPr>
          <p:cNvPr id="60" name="Google Shape;60;p14"/>
          <p:cNvSpPr txBox="1"/>
          <p:nvPr/>
        </p:nvSpPr>
        <p:spPr>
          <a:xfrm>
            <a:off x="5140200" y="4359025"/>
            <a:ext cx="3692100" cy="668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pt-BR" sz="1600">
                <a:latin typeface="Montserrat"/>
                <a:ea typeface="Montserrat"/>
                <a:cs typeface="Montserrat"/>
                <a:sym typeface="Montserrat"/>
              </a:rPr>
              <a:t>Flavio Vinicius Diniz de Figueiredo</a:t>
            </a:r>
            <a:endParaRPr sz="1600">
              <a:latin typeface="Montserrat"/>
              <a:ea typeface="Montserrat"/>
              <a:cs typeface="Montserrat"/>
              <a:sym typeface="Montserrat"/>
            </a:endParaRPr>
          </a:p>
          <a:p>
            <a:pPr indent="0" lvl="0" marL="0" rtl="0" algn="r">
              <a:spcBef>
                <a:spcPts val="0"/>
              </a:spcBef>
              <a:spcAft>
                <a:spcPts val="0"/>
              </a:spcAft>
              <a:buNone/>
            </a:pPr>
            <a:r>
              <a:rPr lang="pt-BR" u="sng">
                <a:solidFill>
                  <a:srgbClr val="0097A7"/>
                </a:solidFill>
                <a:latin typeface="Montserrat"/>
                <a:ea typeface="Montserrat"/>
                <a:cs typeface="Montserrat"/>
                <a:sym typeface="Montserrat"/>
                <a:hlinkClick r:id="rId5">
                  <a:extLst>
                    <a:ext uri="{A12FA001-AC4F-418D-AE19-62706E023703}">
                      <ahyp:hlinkClr val="tx"/>
                    </a:ext>
                  </a:extLst>
                </a:hlinkClick>
              </a:rPr>
              <a:t>flavio@dcc.ufmg.br</a:t>
            </a:r>
            <a:r>
              <a:rPr lang="pt-BR">
                <a:latin typeface="Montserrat"/>
                <a:ea typeface="Montserrat"/>
                <a:cs typeface="Montserrat"/>
                <a:sym typeface="Montserrat"/>
              </a:rPr>
              <a:t> </a:t>
            </a:r>
            <a:endParaRPr>
              <a:latin typeface="Montserrat"/>
              <a:ea typeface="Montserrat"/>
              <a:cs typeface="Montserrat"/>
              <a:sym typeface="Montserra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1" name="Shape 61"/>
        <p:cNvGrpSpPr/>
        <p:nvPr/>
      </p:nvGrpSpPr>
      <p:grpSpPr>
        <a:xfrm>
          <a:off x="0" y="0"/>
          <a:ext cx="0" cy="0"/>
          <a:chOff x="0" y="0"/>
          <a:chExt cx="0" cy="0"/>
        </a:xfrm>
      </p:grpSpPr>
      <p:sp>
        <p:nvSpPr>
          <p:cNvPr id="62" name="Google Shape;62;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Font typeface="Montserrat"/>
              <a:buNone/>
              <a:defRPr sz="3600">
                <a:latin typeface="Montserrat"/>
                <a:ea typeface="Montserrat"/>
                <a:cs typeface="Montserrat"/>
                <a:sym typeface="Montserrat"/>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3" name="Google Shape;63;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4" name="Shape 64"/>
        <p:cNvGrpSpPr/>
        <p:nvPr/>
      </p:nvGrpSpPr>
      <p:grpSpPr>
        <a:xfrm>
          <a:off x="0" y="0"/>
          <a:ext cx="0" cy="0"/>
          <a:chOff x="0" y="0"/>
          <a:chExt cx="0" cy="0"/>
        </a:xfrm>
      </p:grpSpPr>
      <p:sp>
        <p:nvSpPr>
          <p:cNvPr id="65" name="Google Shape;65;p16"/>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200"/>
              <a:buFont typeface="Montserrat SemiBold"/>
              <a:buNone/>
              <a:defRPr sz="2200">
                <a:latin typeface="Montserrat SemiBold"/>
                <a:ea typeface="Montserrat SemiBold"/>
                <a:cs typeface="Montserrat SemiBold"/>
                <a:sym typeface="Montserrat SemiBold"/>
              </a:defRPr>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66" name="Google Shape;66;p16"/>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7" name="Google Shape;67;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
        <p:nvSpPr>
          <p:cNvPr id="68" name="Google Shape;68;p16"/>
          <p:cNvSpPr/>
          <p:nvPr/>
        </p:nvSpPr>
        <p:spPr>
          <a:xfrm>
            <a:off x="27625" y="429350"/>
            <a:ext cx="102000" cy="280500"/>
          </a:xfrm>
          <a:prstGeom prst="rect">
            <a:avLst/>
          </a:prstGeom>
          <a:solidFill>
            <a:srgbClr val="B23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 name="Google Shape;69;p16"/>
          <p:cNvPicPr preferRelativeResize="0"/>
          <p:nvPr/>
        </p:nvPicPr>
        <p:blipFill>
          <a:blip r:embed="rId2">
            <a:alphaModFix/>
          </a:blip>
          <a:stretch>
            <a:fillRect/>
          </a:stretch>
        </p:blipFill>
        <p:spPr>
          <a:xfrm>
            <a:off x="8472450" y="304625"/>
            <a:ext cx="548700" cy="5487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7"/>
          <p:cNvSpPr txBox="1"/>
          <p:nvPr>
            <p:ph type="title"/>
          </p:nvPr>
        </p:nvSpPr>
        <p:spPr>
          <a:xfrm>
            <a:off x="311700" y="28325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200"/>
              <a:buNone/>
              <a:defRPr sz="2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7"/>
          <p:cNvSpPr txBox="1"/>
          <p:nvPr>
            <p:ph idx="1" type="body"/>
          </p:nvPr>
        </p:nvSpPr>
        <p:spPr>
          <a:xfrm>
            <a:off x="311700" y="967050"/>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3" name="Google Shape;73;p17"/>
          <p:cNvSpPr txBox="1"/>
          <p:nvPr>
            <p:ph idx="2" type="body"/>
          </p:nvPr>
        </p:nvSpPr>
        <p:spPr>
          <a:xfrm>
            <a:off x="4832400" y="967050"/>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
        <p:nvSpPr>
          <p:cNvPr id="75" name="Google Shape;75;p17"/>
          <p:cNvSpPr/>
          <p:nvPr/>
        </p:nvSpPr>
        <p:spPr>
          <a:xfrm>
            <a:off x="27625" y="429350"/>
            <a:ext cx="102000" cy="280500"/>
          </a:xfrm>
          <a:prstGeom prst="rect">
            <a:avLst/>
          </a:prstGeom>
          <a:solidFill>
            <a:srgbClr val="B23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6" name="Google Shape;76;p17"/>
          <p:cNvPicPr preferRelativeResize="0"/>
          <p:nvPr/>
        </p:nvPicPr>
        <p:blipFill>
          <a:blip r:embed="rId2">
            <a:alphaModFix/>
          </a:blip>
          <a:stretch>
            <a:fillRect/>
          </a:stretch>
        </p:blipFill>
        <p:spPr>
          <a:xfrm>
            <a:off x="8472450" y="304625"/>
            <a:ext cx="548700" cy="5487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18"/>
          <p:cNvSpPr txBox="1"/>
          <p:nvPr>
            <p:ph type="title"/>
          </p:nvPr>
        </p:nvSpPr>
        <p:spPr>
          <a:xfrm>
            <a:off x="311700" y="28325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200"/>
              <a:buNone/>
              <a:defRPr sz="2200"/>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79" name="Google Shape;7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
        <p:nvSpPr>
          <p:cNvPr id="80" name="Google Shape;80;p18"/>
          <p:cNvSpPr/>
          <p:nvPr/>
        </p:nvSpPr>
        <p:spPr>
          <a:xfrm>
            <a:off x="27625" y="429350"/>
            <a:ext cx="102000" cy="280500"/>
          </a:xfrm>
          <a:prstGeom prst="rect">
            <a:avLst/>
          </a:prstGeom>
          <a:solidFill>
            <a:srgbClr val="B23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18"/>
          <p:cNvPicPr preferRelativeResize="0"/>
          <p:nvPr/>
        </p:nvPicPr>
        <p:blipFill>
          <a:blip r:embed="rId2">
            <a:alphaModFix/>
          </a:blip>
          <a:stretch>
            <a:fillRect/>
          </a:stretch>
        </p:blipFill>
        <p:spPr>
          <a:xfrm>
            <a:off x="8472450" y="304625"/>
            <a:ext cx="548700" cy="5487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B23525"/>
        </a:solidFill>
      </p:bgPr>
    </p:bg>
    <p:spTree>
      <p:nvGrpSpPr>
        <p:cNvPr id="82" name="Shape 82"/>
        <p:cNvGrpSpPr/>
        <p:nvPr/>
      </p:nvGrpSpPr>
      <p:grpSpPr>
        <a:xfrm>
          <a:off x="0" y="0"/>
          <a:ext cx="0" cy="0"/>
          <a:chOff x="0" y="0"/>
          <a:chExt cx="0" cy="0"/>
        </a:xfrm>
      </p:grpSpPr>
      <p:sp>
        <p:nvSpPr>
          <p:cNvPr id="83" name="Google Shape;83;p1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FFFFFF"/>
              </a:buClr>
              <a:buSzPts val="4800"/>
              <a:buFont typeface="Montserrat"/>
              <a:buNone/>
              <a:defRPr b="1" sz="4800">
                <a:solidFill>
                  <a:srgbClr val="FFFFFF"/>
                </a:solidFill>
                <a:latin typeface="Montserrat"/>
                <a:ea typeface="Montserrat"/>
                <a:cs typeface="Montserrat"/>
                <a:sym typeface="Montserrat"/>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4" name="Google Shape;84;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5" name="Shape 85"/>
        <p:cNvGrpSpPr/>
        <p:nvPr/>
      </p:nvGrpSpPr>
      <p:grpSpPr>
        <a:xfrm>
          <a:off x="0" y="0"/>
          <a:ext cx="0" cy="0"/>
          <a:chOff x="0" y="0"/>
          <a:chExt cx="0" cy="0"/>
        </a:xfrm>
      </p:grpSpPr>
      <p:sp>
        <p:nvSpPr>
          <p:cNvPr id="86" name="Google Shape;86;p20"/>
          <p:cNvSpPr/>
          <p:nvPr/>
        </p:nvSpPr>
        <p:spPr>
          <a:xfrm>
            <a:off x="4572000" y="-125"/>
            <a:ext cx="4572000" cy="5143500"/>
          </a:xfrm>
          <a:prstGeom prst="rect">
            <a:avLst/>
          </a:prstGeom>
          <a:solidFill>
            <a:srgbClr val="B235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8" name="Google Shape;88;p2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9" name="Google Shape;89;p2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rgbClr val="FFFFFF"/>
              </a:buClr>
              <a:buSzPts val="1800"/>
              <a:buChar char="●"/>
              <a:defRPr>
                <a:solidFill>
                  <a:srgbClr val="FFFFFF"/>
                </a:solidFill>
              </a:defRPr>
            </a:lvl1pPr>
            <a:lvl2pPr indent="-317500" lvl="1" marL="914400" rtl="0">
              <a:spcBef>
                <a:spcPts val="1600"/>
              </a:spcBef>
              <a:spcAft>
                <a:spcPts val="0"/>
              </a:spcAft>
              <a:buClr>
                <a:srgbClr val="FFFFFF"/>
              </a:buClr>
              <a:buSzPts val="1400"/>
              <a:buChar char="○"/>
              <a:defRPr>
                <a:solidFill>
                  <a:srgbClr val="FFFFFF"/>
                </a:solidFill>
              </a:defRPr>
            </a:lvl2pPr>
            <a:lvl3pPr indent="-317500" lvl="2" marL="1371600" rtl="0">
              <a:spcBef>
                <a:spcPts val="1600"/>
              </a:spcBef>
              <a:spcAft>
                <a:spcPts val="0"/>
              </a:spcAft>
              <a:buClr>
                <a:srgbClr val="FFFFFF"/>
              </a:buClr>
              <a:buSzPts val="1400"/>
              <a:buChar char="■"/>
              <a:defRPr>
                <a:solidFill>
                  <a:srgbClr val="FFFFFF"/>
                </a:solidFill>
              </a:defRPr>
            </a:lvl3pPr>
            <a:lvl4pPr indent="-317500" lvl="3" marL="1828800" rtl="0">
              <a:spcBef>
                <a:spcPts val="1600"/>
              </a:spcBef>
              <a:spcAft>
                <a:spcPts val="0"/>
              </a:spcAft>
              <a:buClr>
                <a:srgbClr val="FFFFFF"/>
              </a:buClr>
              <a:buSzPts val="1400"/>
              <a:buChar char="●"/>
              <a:defRPr>
                <a:solidFill>
                  <a:srgbClr val="FFFFFF"/>
                </a:solidFill>
              </a:defRPr>
            </a:lvl4pPr>
            <a:lvl5pPr indent="-317500" lvl="4" marL="2286000" rtl="0">
              <a:spcBef>
                <a:spcPts val="1600"/>
              </a:spcBef>
              <a:spcAft>
                <a:spcPts val="0"/>
              </a:spcAft>
              <a:buClr>
                <a:srgbClr val="FFFFFF"/>
              </a:buClr>
              <a:buSzPts val="1400"/>
              <a:buChar char="○"/>
              <a:defRPr>
                <a:solidFill>
                  <a:srgbClr val="FFFFFF"/>
                </a:solidFill>
              </a:defRPr>
            </a:lvl5pPr>
            <a:lvl6pPr indent="-317500" lvl="5" marL="2743200" rtl="0">
              <a:spcBef>
                <a:spcPts val="1600"/>
              </a:spcBef>
              <a:spcAft>
                <a:spcPts val="0"/>
              </a:spcAft>
              <a:buClr>
                <a:srgbClr val="FFFFFF"/>
              </a:buClr>
              <a:buSzPts val="1400"/>
              <a:buChar char="■"/>
              <a:defRPr>
                <a:solidFill>
                  <a:srgbClr val="FFFFFF"/>
                </a:solidFill>
              </a:defRPr>
            </a:lvl6pPr>
            <a:lvl7pPr indent="-317500" lvl="6" marL="3200400" rtl="0">
              <a:spcBef>
                <a:spcPts val="1600"/>
              </a:spcBef>
              <a:spcAft>
                <a:spcPts val="0"/>
              </a:spcAft>
              <a:buClr>
                <a:srgbClr val="FFFFFF"/>
              </a:buClr>
              <a:buSzPts val="1400"/>
              <a:buChar char="●"/>
              <a:defRPr>
                <a:solidFill>
                  <a:srgbClr val="FFFFFF"/>
                </a:solidFill>
              </a:defRPr>
            </a:lvl7pPr>
            <a:lvl8pPr indent="-317500" lvl="7" marL="3657600" rtl="0">
              <a:spcBef>
                <a:spcPts val="1600"/>
              </a:spcBef>
              <a:spcAft>
                <a:spcPts val="0"/>
              </a:spcAft>
              <a:buClr>
                <a:srgbClr val="FFFFFF"/>
              </a:buClr>
              <a:buSzPts val="1400"/>
              <a:buChar char="○"/>
              <a:defRPr>
                <a:solidFill>
                  <a:srgbClr val="FFFFFF"/>
                </a:solidFill>
              </a:defRPr>
            </a:lvl8pPr>
            <a:lvl9pPr indent="-317500" lvl="8" marL="4114800" rtl="0">
              <a:spcBef>
                <a:spcPts val="1600"/>
              </a:spcBef>
              <a:spcAft>
                <a:spcPts val="1600"/>
              </a:spcAft>
              <a:buClr>
                <a:srgbClr val="FFFFFF"/>
              </a:buClr>
              <a:buSzPts val="1400"/>
              <a:buChar char="■"/>
              <a:defRPr>
                <a:solidFill>
                  <a:srgbClr val="FFFFFF"/>
                </a:solidFill>
              </a:defRPr>
            </a:lvl9pPr>
          </a:lstStyle>
          <a:p/>
        </p:txBody>
      </p:sp>
      <p:sp>
        <p:nvSpPr>
          <p:cNvPr id="90" name="Google Shape;90;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1" name="Shape 91"/>
        <p:cNvGrpSpPr/>
        <p:nvPr/>
      </p:nvGrpSpPr>
      <p:grpSpPr>
        <a:xfrm>
          <a:off x="0" y="0"/>
          <a:ext cx="0" cy="0"/>
          <a:chOff x="0" y="0"/>
          <a:chExt cx="0" cy="0"/>
        </a:xfrm>
      </p:grpSpPr>
      <p:sp>
        <p:nvSpPr>
          <p:cNvPr id="92" name="Google Shape;92;p2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Font typeface="Montserrat"/>
              <a:buNone/>
              <a:defRPr>
                <a:latin typeface="Montserrat"/>
                <a:ea typeface="Montserrat"/>
                <a:cs typeface="Montserrat"/>
                <a:sym typeface="Montserrat"/>
              </a:defRPr>
            </a:lvl1pPr>
          </a:lstStyle>
          <a:p/>
        </p:txBody>
      </p:sp>
      <p:sp>
        <p:nvSpPr>
          <p:cNvPr id="93" name="Google Shape;93;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pic>
        <p:nvPicPr>
          <p:cNvPr id="94" name="Google Shape;94;p21"/>
          <p:cNvPicPr preferRelativeResize="0"/>
          <p:nvPr/>
        </p:nvPicPr>
        <p:blipFill>
          <a:blip r:embed="rId2">
            <a:alphaModFix/>
          </a:blip>
          <a:stretch>
            <a:fillRect/>
          </a:stretch>
        </p:blipFill>
        <p:spPr>
          <a:xfrm>
            <a:off x="8472450" y="304625"/>
            <a:ext cx="548700" cy="5487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5" name="Shape 95"/>
        <p:cNvGrpSpPr/>
        <p:nvPr/>
      </p:nvGrpSpPr>
      <p:grpSpPr>
        <a:xfrm>
          <a:off x="0" y="0"/>
          <a:ext cx="0" cy="0"/>
          <a:chOff x="0" y="0"/>
          <a:chExt cx="0" cy="0"/>
        </a:xfrm>
      </p:grpSpPr>
      <p:sp>
        <p:nvSpPr>
          <p:cNvPr id="96" name="Google Shape;96;p2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7" name="Google Shape;97;p22"/>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98" name="Google Shape;9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pic>
        <p:nvPicPr>
          <p:cNvPr id="99" name="Google Shape;99;p22"/>
          <p:cNvPicPr preferRelativeResize="0"/>
          <p:nvPr/>
        </p:nvPicPr>
        <p:blipFill>
          <a:blip r:embed="rId2">
            <a:alphaModFix/>
          </a:blip>
          <a:stretch>
            <a:fillRect/>
          </a:stretch>
        </p:blipFill>
        <p:spPr>
          <a:xfrm>
            <a:off x="8472450" y="304625"/>
            <a:ext cx="548700" cy="548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0" name="Shape 100"/>
        <p:cNvGrpSpPr/>
        <p:nvPr/>
      </p:nvGrpSpPr>
      <p:grpSpPr>
        <a:xfrm>
          <a:off x="0" y="0"/>
          <a:ext cx="0" cy="0"/>
          <a:chOff x="0" y="0"/>
          <a:chExt cx="0" cy="0"/>
        </a:xfrm>
      </p:grpSpPr>
      <p:sp>
        <p:nvSpPr>
          <p:cNvPr id="101" name="Google Shape;101;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pic>
        <p:nvPicPr>
          <p:cNvPr id="102" name="Google Shape;102;p23"/>
          <p:cNvPicPr preferRelativeResize="0"/>
          <p:nvPr/>
        </p:nvPicPr>
        <p:blipFill>
          <a:blip r:embed="rId2">
            <a:alphaModFix/>
          </a:blip>
          <a:stretch>
            <a:fillRect/>
          </a:stretch>
        </p:blipFill>
        <p:spPr>
          <a:xfrm>
            <a:off x="8472450" y="304625"/>
            <a:ext cx="548700" cy="5487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theme" Target="../theme/theme1.xml"/><Relationship Id="rId10" Type="http://schemas.openxmlformats.org/officeDocument/2006/relationships/slideLayout" Target="../slideLayouts/slideLayout2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Montserrat SemiBold"/>
              <a:buNone/>
              <a:defRPr sz="2800">
                <a:solidFill>
                  <a:schemeClr val="dk1"/>
                </a:solidFill>
                <a:latin typeface="Montserrat SemiBold"/>
                <a:ea typeface="Montserrat SemiBold"/>
                <a:cs typeface="Montserrat SemiBold"/>
                <a:sym typeface="Montserrat SemiBold"/>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SzPts val="1800"/>
              <a:buFont typeface="Comfortaa"/>
              <a:buChar char="●"/>
              <a:defRPr sz="1800">
                <a:latin typeface="Comfortaa"/>
                <a:ea typeface="Comfortaa"/>
                <a:cs typeface="Comfortaa"/>
                <a:sym typeface="Comfortaa"/>
              </a:defRPr>
            </a:lvl1pPr>
            <a:lvl2pPr indent="-317500" lvl="1" marL="914400" rtl="0">
              <a:lnSpc>
                <a:spcPct val="115000"/>
              </a:lnSpc>
              <a:spcBef>
                <a:spcPts val="1600"/>
              </a:spcBef>
              <a:spcAft>
                <a:spcPts val="0"/>
              </a:spcAft>
              <a:buSzPts val="1400"/>
              <a:buFont typeface="Comfortaa"/>
              <a:buChar char="○"/>
              <a:defRPr>
                <a:latin typeface="Comfortaa"/>
                <a:ea typeface="Comfortaa"/>
                <a:cs typeface="Comfortaa"/>
                <a:sym typeface="Comfortaa"/>
              </a:defRPr>
            </a:lvl2pPr>
            <a:lvl3pPr indent="-317500" lvl="2" marL="1371600" rtl="0">
              <a:lnSpc>
                <a:spcPct val="115000"/>
              </a:lnSpc>
              <a:spcBef>
                <a:spcPts val="1600"/>
              </a:spcBef>
              <a:spcAft>
                <a:spcPts val="0"/>
              </a:spcAft>
              <a:buSzPts val="1400"/>
              <a:buFont typeface="Comfortaa"/>
              <a:buChar char="■"/>
              <a:defRPr>
                <a:latin typeface="Comfortaa"/>
                <a:ea typeface="Comfortaa"/>
                <a:cs typeface="Comfortaa"/>
                <a:sym typeface="Comfortaa"/>
              </a:defRPr>
            </a:lvl3pPr>
            <a:lvl4pPr indent="-317500" lvl="3" marL="1828800" rtl="0">
              <a:lnSpc>
                <a:spcPct val="115000"/>
              </a:lnSpc>
              <a:spcBef>
                <a:spcPts val="1600"/>
              </a:spcBef>
              <a:spcAft>
                <a:spcPts val="0"/>
              </a:spcAft>
              <a:buSzPts val="1400"/>
              <a:buFont typeface="Comfortaa"/>
              <a:buChar char="●"/>
              <a:defRPr>
                <a:latin typeface="Comfortaa"/>
                <a:ea typeface="Comfortaa"/>
                <a:cs typeface="Comfortaa"/>
                <a:sym typeface="Comfortaa"/>
              </a:defRPr>
            </a:lvl4pPr>
            <a:lvl5pPr indent="-317500" lvl="4" marL="2286000" rtl="0">
              <a:lnSpc>
                <a:spcPct val="115000"/>
              </a:lnSpc>
              <a:spcBef>
                <a:spcPts val="1600"/>
              </a:spcBef>
              <a:spcAft>
                <a:spcPts val="0"/>
              </a:spcAft>
              <a:buSzPts val="1400"/>
              <a:buFont typeface="Comfortaa"/>
              <a:buChar char="○"/>
              <a:defRPr>
                <a:latin typeface="Comfortaa"/>
                <a:ea typeface="Comfortaa"/>
                <a:cs typeface="Comfortaa"/>
                <a:sym typeface="Comfortaa"/>
              </a:defRPr>
            </a:lvl5pPr>
            <a:lvl6pPr indent="-317500" lvl="5" marL="2743200" rtl="0">
              <a:lnSpc>
                <a:spcPct val="115000"/>
              </a:lnSpc>
              <a:spcBef>
                <a:spcPts val="1600"/>
              </a:spcBef>
              <a:spcAft>
                <a:spcPts val="0"/>
              </a:spcAft>
              <a:buSzPts val="1400"/>
              <a:buFont typeface="Comfortaa"/>
              <a:buChar char="■"/>
              <a:defRPr>
                <a:latin typeface="Comfortaa"/>
                <a:ea typeface="Comfortaa"/>
                <a:cs typeface="Comfortaa"/>
                <a:sym typeface="Comfortaa"/>
              </a:defRPr>
            </a:lvl6pPr>
            <a:lvl7pPr indent="-317500" lvl="6" marL="3200400" rtl="0">
              <a:lnSpc>
                <a:spcPct val="115000"/>
              </a:lnSpc>
              <a:spcBef>
                <a:spcPts val="1600"/>
              </a:spcBef>
              <a:spcAft>
                <a:spcPts val="0"/>
              </a:spcAft>
              <a:buSzPts val="1400"/>
              <a:buFont typeface="Comfortaa"/>
              <a:buChar char="●"/>
              <a:defRPr>
                <a:latin typeface="Comfortaa"/>
                <a:ea typeface="Comfortaa"/>
                <a:cs typeface="Comfortaa"/>
                <a:sym typeface="Comfortaa"/>
              </a:defRPr>
            </a:lvl7pPr>
            <a:lvl8pPr indent="-317500" lvl="7" marL="3657600" rtl="0">
              <a:lnSpc>
                <a:spcPct val="115000"/>
              </a:lnSpc>
              <a:spcBef>
                <a:spcPts val="1600"/>
              </a:spcBef>
              <a:spcAft>
                <a:spcPts val="0"/>
              </a:spcAft>
              <a:buSzPts val="1400"/>
              <a:buFont typeface="Comfortaa"/>
              <a:buChar char="○"/>
              <a:defRPr>
                <a:latin typeface="Comfortaa"/>
                <a:ea typeface="Comfortaa"/>
                <a:cs typeface="Comfortaa"/>
                <a:sym typeface="Comfortaa"/>
              </a:defRPr>
            </a:lvl8pPr>
            <a:lvl9pPr indent="-317500" lvl="8" marL="4114800" rtl="0">
              <a:lnSpc>
                <a:spcPct val="115000"/>
              </a:lnSpc>
              <a:spcBef>
                <a:spcPts val="1600"/>
              </a:spcBef>
              <a:spcAft>
                <a:spcPts val="1600"/>
              </a:spcAft>
              <a:buSzPts val="1400"/>
              <a:buFont typeface="Comfortaa"/>
              <a:buChar char="■"/>
              <a:defRPr>
                <a:latin typeface="Comfortaa"/>
                <a:ea typeface="Comfortaa"/>
                <a:cs typeface="Comfortaa"/>
                <a:sym typeface="Comfortaa"/>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 Id="rId3" Type="http://schemas.openxmlformats.org/officeDocument/2006/relationships/image" Target="../media/image1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image" Target="../media/image1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image" Target="../media/image12.png"/><Relationship Id="rId4" Type="http://schemas.openxmlformats.org/officeDocument/2006/relationships/image" Target="../media/image1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12.png"/><Relationship Id="rId4" Type="http://schemas.openxmlformats.org/officeDocument/2006/relationships/image" Target="../media/image1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 Id="rId3" Type="http://schemas.openxmlformats.org/officeDocument/2006/relationships/image" Target="../media/image15.png"/><Relationship Id="rId4" Type="http://schemas.openxmlformats.org/officeDocument/2006/relationships/image" Target="../media/image1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 Id="rId3" Type="http://schemas.openxmlformats.org/officeDocument/2006/relationships/image" Target="../media/image15.png"/><Relationship Id="rId4" Type="http://schemas.openxmlformats.org/officeDocument/2006/relationships/image" Target="../media/image1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 Id="rId3" Type="http://schemas.openxmlformats.org/officeDocument/2006/relationships/image" Target="../media/image2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 Id="rId3" Type="http://schemas.openxmlformats.org/officeDocument/2006/relationships/image" Target="../media/image15.png"/><Relationship Id="rId4" Type="http://schemas.openxmlformats.org/officeDocument/2006/relationships/image" Target="../media/image19.png"/><Relationship Id="rId10" Type="http://schemas.openxmlformats.org/officeDocument/2006/relationships/image" Target="../media/image16.png"/><Relationship Id="rId9" Type="http://schemas.openxmlformats.org/officeDocument/2006/relationships/image" Target="../media/image14.png"/><Relationship Id="rId5" Type="http://schemas.openxmlformats.org/officeDocument/2006/relationships/image" Target="../media/image23.png"/><Relationship Id="rId6" Type="http://schemas.openxmlformats.org/officeDocument/2006/relationships/image" Target="../media/image18.png"/><Relationship Id="rId7" Type="http://schemas.openxmlformats.org/officeDocument/2006/relationships/image" Target="../media/image13.png"/><Relationship Id="rId8" Type="http://schemas.openxmlformats.org/officeDocument/2006/relationships/image" Target="../media/image2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 Id="rId3" Type="http://schemas.openxmlformats.org/officeDocument/2006/relationships/image" Target="../media/image15.png"/><Relationship Id="rId4" Type="http://schemas.openxmlformats.org/officeDocument/2006/relationships/image" Target="../media/image19.png"/><Relationship Id="rId10" Type="http://schemas.openxmlformats.org/officeDocument/2006/relationships/image" Target="../media/image16.png"/><Relationship Id="rId9" Type="http://schemas.openxmlformats.org/officeDocument/2006/relationships/image" Target="../media/image14.png"/><Relationship Id="rId5" Type="http://schemas.openxmlformats.org/officeDocument/2006/relationships/image" Target="../media/image23.png"/><Relationship Id="rId6" Type="http://schemas.openxmlformats.org/officeDocument/2006/relationships/image" Target="../media/image18.png"/><Relationship Id="rId7" Type="http://schemas.openxmlformats.org/officeDocument/2006/relationships/image" Target="../media/image13.png"/><Relationship Id="rId8" Type="http://schemas.openxmlformats.org/officeDocument/2006/relationships/image" Target="../media/image2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 Id="rId3" Type="http://schemas.openxmlformats.org/officeDocument/2006/relationships/image" Target="../media/image15.png"/><Relationship Id="rId4" Type="http://schemas.openxmlformats.org/officeDocument/2006/relationships/image" Target="../media/image19.png"/><Relationship Id="rId10" Type="http://schemas.openxmlformats.org/officeDocument/2006/relationships/image" Target="../media/image16.png"/><Relationship Id="rId9" Type="http://schemas.openxmlformats.org/officeDocument/2006/relationships/image" Target="../media/image14.png"/><Relationship Id="rId5" Type="http://schemas.openxmlformats.org/officeDocument/2006/relationships/image" Target="../media/image23.png"/><Relationship Id="rId6" Type="http://schemas.openxmlformats.org/officeDocument/2006/relationships/image" Target="../media/image18.png"/><Relationship Id="rId7" Type="http://schemas.openxmlformats.org/officeDocument/2006/relationships/image" Target="../media/image13.png"/><Relationship Id="rId8" Type="http://schemas.openxmlformats.org/officeDocument/2006/relationships/image" Target="../media/image2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 Id="rId3" Type="http://schemas.openxmlformats.org/officeDocument/2006/relationships/image" Target="../media/image15.png"/><Relationship Id="rId4" Type="http://schemas.openxmlformats.org/officeDocument/2006/relationships/image" Target="../media/image19.png"/><Relationship Id="rId10" Type="http://schemas.openxmlformats.org/officeDocument/2006/relationships/image" Target="../media/image16.png"/><Relationship Id="rId9" Type="http://schemas.openxmlformats.org/officeDocument/2006/relationships/image" Target="../media/image14.png"/><Relationship Id="rId5" Type="http://schemas.openxmlformats.org/officeDocument/2006/relationships/image" Target="../media/image23.png"/><Relationship Id="rId6" Type="http://schemas.openxmlformats.org/officeDocument/2006/relationships/image" Target="../media/image18.png"/><Relationship Id="rId7" Type="http://schemas.openxmlformats.org/officeDocument/2006/relationships/image" Target="../media/image13.png"/><Relationship Id="rId8" Type="http://schemas.openxmlformats.org/officeDocument/2006/relationships/image" Target="../media/image2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 Id="rId3" Type="http://schemas.openxmlformats.org/officeDocument/2006/relationships/image" Target="../media/image15.png"/><Relationship Id="rId4" Type="http://schemas.openxmlformats.org/officeDocument/2006/relationships/image" Target="../media/image19.png"/><Relationship Id="rId10" Type="http://schemas.openxmlformats.org/officeDocument/2006/relationships/image" Target="../media/image16.png"/><Relationship Id="rId9" Type="http://schemas.openxmlformats.org/officeDocument/2006/relationships/image" Target="../media/image14.png"/><Relationship Id="rId5" Type="http://schemas.openxmlformats.org/officeDocument/2006/relationships/image" Target="../media/image23.png"/><Relationship Id="rId6" Type="http://schemas.openxmlformats.org/officeDocument/2006/relationships/image" Target="../media/image18.png"/><Relationship Id="rId7" Type="http://schemas.openxmlformats.org/officeDocument/2006/relationships/image" Target="../media/image13.png"/><Relationship Id="rId8" Type="http://schemas.openxmlformats.org/officeDocument/2006/relationships/image" Target="../media/image2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 Id="rId3" Type="http://schemas.openxmlformats.org/officeDocument/2006/relationships/image" Target="../media/image2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 Id="rId3" Type="http://schemas.openxmlformats.org/officeDocument/2006/relationships/image" Target="../media/image24.png"/><Relationship Id="rId4" Type="http://schemas.openxmlformats.org/officeDocument/2006/relationships/hyperlink" Target="http://drive.google.com/file/d/1Bapom9aqy2RW6v9Tq9ybfb66Vi7C42-t/view" TargetMode="External"/><Relationship Id="rId5" Type="http://schemas.openxmlformats.org/officeDocument/2006/relationships/image" Target="../media/image31.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0.xml"/><Relationship Id="rId3" Type="http://schemas.openxmlformats.org/officeDocument/2006/relationships/image" Target="../media/image2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 Id="rId3" Type="http://schemas.openxmlformats.org/officeDocument/2006/relationships/image" Target="../media/image3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0.xml"/><Relationship Id="rId3" Type="http://schemas.openxmlformats.org/officeDocument/2006/relationships/image" Target="../media/image2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3.xml"/><Relationship Id="rId3" Type="http://schemas.openxmlformats.org/officeDocument/2006/relationships/image" Target="../media/image26.png"/><Relationship Id="rId4" Type="http://schemas.openxmlformats.org/officeDocument/2006/relationships/image" Target="../media/image21.png"/><Relationship Id="rId5" Type="http://schemas.openxmlformats.org/officeDocument/2006/relationships/image" Target="../media/image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5.xml"/><Relationship Id="rId3" Type="http://schemas.openxmlformats.org/officeDocument/2006/relationships/image" Target="../media/image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6.xml"/><Relationship Id="rId3" Type="http://schemas.openxmlformats.org/officeDocument/2006/relationships/image" Target="../media/image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9.xml"/><Relationship Id="rId3" Type="http://schemas.openxmlformats.org/officeDocument/2006/relationships/image" Target="../media/image2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2.xml"/><Relationship Id="rId3" Type="http://schemas.openxmlformats.org/officeDocument/2006/relationships/image" Target="../media/image32.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6.xml"/><Relationship Id="rId3" Type="http://schemas.openxmlformats.org/officeDocument/2006/relationships/hyperlink" Target="https://www.inferentialthinking.com/" TargetMode="External"/><Relationship Id="rId4" Type="http://schemas.openxmlformats.org/officeDocument/2006/relationships/hyperlink" Target="https://www.textbook.ds100.org" TargetMode="Externa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7.xml"/><Relationship Id="rId3" Type="http://schemas.openxmlformats.org/officeDocument/2006/relationships/hyperlink" Target="mailto:flavio@dcc.ufmg.b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4"/>
          <p:cNvSpPr txBox="1"/>
          <p:nvPr/>
        </p:nvSpPr>
        <p:spPr>
          <a:xfrm>
            <a:off x="311700" y="1841975"/>
            <a:ext cx="8520600" cy="72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2800">
                <a:latin typeface="Montserrat SemiBold"/>
                <a:ea typeface="Montserrat SemiBold"/>
                <a:cs typeface="Montserrat SemiBold"/>
                <a:sym typeface="Montserrat SemiBold"/>
              </a:rPr>
              <a:t>Testes de Permutação</a:t>
            </a:r>
            <a:endParaRPr sz="2800">
              <a:solidFill>
                <a:srgbClr val="000000"/>
              </a:solidFill>
              <a:latin typeface="Montserrat SemiBold"/>
              <a:ea typeface="Montserrat SemiBold"/>
              <a:cs typeface="Montserrat SemiBold"/>
              <a:sym typeface="Montserrat SemiBold"/>
            </a:endParaRPr>
          </a:p>
        </p:txBody>
      </p:sp>
      <p:sp>
        <p:nvSpPr>
          <p:cNvPr id="108" name="Google Shape;108;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5"/>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Testes de Hipótese</a:t>
            </a:r>
            <a:endParaRPr/>
          </a:p>
        </p:txBody>
      </p:sp>
      <p:sp>
        <p:nvSpPr>
          <p:cNvPr id="114" name="Google Shape;114;p25"/>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Vamos explorar três exemplos</a:t>
            </a:r>
            <a:endParaRPr/>
          </a:p>
          <a:p>
            <a:pPr indent="-342900" lvl="0" marL="457200" rtl="0" algn="l">
              <a:spcBef>
                <a:spcPts val="0"/>
              </a:spcBef>
              <a:spcAft>
                <a:spcPts val="0"/>
              </a:spcAft>
              <a:buSzPts val="1800"/>
              <a:buChar char="●"/>
            </a:pPr>
            <a:r>
              <a:rPr lang="pt-BR"/>
              <a:t>A pergunta é: O valor observado é factível?</a:t>
            </a:r>
            <a:endParaRPr/>
          </a:p>
        </p:txBody>
      </p:sp>
      <p:sp>
        <p:nvSpPr>
          <p:cNvPr id="115" name="Google Shape;115;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6"/>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Testes de Hipótese</a:t>
            </a:r>
            <a:endParaRPr/>
          </a:p>
        </p:txBody>
      </p:sp>
      <p:sp>
        <p:nvSpPr>
          <p:cNvPr id="121" name="Google Shape;121;p26"/>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Vamos explorar três exemplos</a:t>
            </a:r>
            <a:endParaRPr/>
          </a:p>
          <a:p>
            <a:pPr indent="-342900" lvl="0" marL="457200" rtl="0" algn="l">
              <a:spcBef>
                <a:spcPts val="0"/>
              </a:spcBef>
              <a:spcAft>
                <a:spcPts val="0"/>
              </a:spcAft>
              <a:buSzPts val="1800"/>
              <a:buChar char="●"/>
            </a:pPr>
            <a:r>
              <a:rPr lang="pt-BR"/>
              <a:t>A pergunta é: O valor observado é factível?</a:t>
            </a:r>
            <a:endParaRPr/>
          </a:p>
          <a:p>
            <a:pPr indent="-317500" lvl="1" marL="914400" rtl="0" algn="l">
              <a:spcBef>
                <a:spcPts val="0"/>
              </a:spcBef>
              <a:spcAft>
                <a:spcPts val="0"/>
              </a:spcAft>
              <a:buSzPts val="1400"/>
              <a:buChar char="○"/>
            </a:pPr>
            <a:r>
              <a:rPr lang="pt-BR"/>
              <a:t>Lembre que foi isso que respondemos no caso de COVID</a:t>
            </a:r>
            <a:endParaRPr/>
          </a:p>
          <a:p>
            <a:pPr indent="-317500" lvl="1" marL="914400" rtl="0" algn="l">
              <a:spcBef>
                <a:spcPts val="0"/>
              </a:spcBef>
              <a:spcAft>
                <a:spcPts val="0"/>
              </a:spcAft>
              <a:buSzPts val="1400"/>
              <a:buChar char="○"/>
            </a:pPr>
            <a:r>
              <a:rPr lang="pt-BR"/>
              <a:t>No caso das moedas</a:t>
            </a:r>
            <a:endParaRPr/>
          </a:p>
          <a:p>
            <a:pPr indent="-317500" lvl="1" marL="914400" rtl="0" algn="l">
              <a:spcBef>
                <a:spcPts val="0"/>
              </a:spcBef>
              <a:spcAft>
                <a:spcPts val="0"/>
              </a:spcAft>
              <a:buSzPts val="1400"/>
              <a:buChar char="○"/>
            </a:pPr>
            <a:r>
              <a:rPr lang="pt-BR"/>
              <a:t>No caso dos </a:t>
            </a:r>
            <a:r>
              <a:rPr lang="pt-BR"/>
              <a:t>bebês</a:t>
            </a:r>
            <a:endParaRPr/>
          </a:p>
          <a:p>
            <a:pPr indent="-342900" lvl="0" marL="457200" rtl="0" algn="l">
              <a:spcBef>
                <a:spcPts val="0"/>
              </a:spcBef>
              <a:spcAft>
                <a:spcPts val="0"/>
              </a:spcAft>
              <a:buSzPts val="1800"/>
              <a:buChar char="●"/>
            </a:pPr>
            <a:r>
              <a:rPr lang="pt-BR"/>
              <a:t>Vamos explorar outra forma de responder tal pergunta</a:t>
            </a:r>
            <a:endParaRPr/>
          </a:p>
        </p:txBody>
      </p:sp>
      <p:sp>
        <p:nvSpPr>
          <p:cNvPr id="122" name="Google Shape;122;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7"/>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Swain vs Alabama</a:t>
            </a:r>
            <a:endParaRPr/>
          </a:p>
        </p:txBody>
      </p:sp>
      <p:sp>
        <p:nvSpPr>
          <p:cNvPr id="128" name="Google Shape;128;p27"/>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i="1" lang="pt-BR"/>
              <a:t>“In the early 1960’s, in Talladega County in Alabama, a black man called Robert Swain was convicted of raping a white woman and was sentenced to death. He appealed his sentence, citing among other factors the all-white jury. At the time, only men aged 21 or older were allowed to serve on juries in Talladega County. In the county, 26% of the eligible jurors were black, but there were only 8 black men among the 100 selected for the jury panel in Swain’s trial. No black man was selected for the trial jury.”</a:t>
            </a:r>
            <a:endParaRPr i="1"/>
          </a:p>
        </p:txBody>
      </p:sp>
      <p:sp>
        <p:nvSpPr>
          <p:cNvPr id="129" name="Google Shape;129;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8"/>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Swain vs Alabama</a:t>
            </a:r>
            <a:endParaRPr/>
          </a:p>
        </p:txBody>
      </p:sp>
      <p:sp>
        <p:nvSpPr>
          <p:cNvPr id="135" name="Google Shape;135;p28"/>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i="1" lang="pt-BR"/>
              <a:t>“In the early 1960’s, in Talladega County in Alabama, a black man called Robert Swain was convicted of raping a white woman and was sentenced to death. He appealed his sentence, citing among other factors the all-white jury. At the time, only men aged 21 or older were allowed to serve on juries in Talladega County. </a:t>
            </a:r>
            <a:r>
              <a:rPr b="1" i="1" lang="pt-BR">
                <a:solidFill>
                  <a:schemeClr val="dk1"/>
                </a:solidFill>
              </a:rPr>
              <a:t>In the county, 26% of the eligible jurors were black, but there were only 8 black men among the 100 selected for the jury panel in Swain’s trial.</a:t>
            </a:r>
            <a:r>
              <a:rPr i="1" lang="pt-BR"/>
              <a:t> No black man was selected for the trial jury.”</a:t>
            </a:r>
            <a:endParaRPr i="1"/>
          </a:p>
        </p:txBody>
      </p:sp>
      <p:sp>
        <p:nvSpPr>
          <p:cNvPr id="136" name="Google Shape;136;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9"/>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Perguntas</a:t>
            </a:r>
            <a:endParaRPr/>
          </a:p>
        </p:txBody>
      </p:sp>
      <p:sp>
        <p:nvSpPr>
          <p:cNvPr id="142" name="Google Shape;142;p29"/>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Quais perguntas você faria neste momento?</a:t>
            </a:r>
            <a:endParaRPr/>
          </a:p>
          <a:p>
            <a:pPr indent="-342900" lvl="0" marL="457200" rtl="0" algn="l">
              <a:spcBef>
                <a:spcPts val="0"/>
              </a:spcBef>
              <a:spcAft>
                <a:spcPts val="0"/>
              </a:spcAft>
              <a:buSzPts val="1800"/>
              <a:buChar char="●"/>
            </a:pPr>
            <a:r>
              <a:rPr lang="pt-BR"/>
              <a:t>Será que podemos dar alguma validade estatística para elas?</a:t>
            </a:r>
            <a:endParaRPr/>
          </a:p>
        </p:txBody>
      </p:sp>
      <p:sp>
        <p:nvSpPr>
          <p:cNvPr id="143" name="Google Shape;143;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0"/>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Nossa análise</a:t>
            </a:r>
            <a:endParaRPr/>
          </a:p>
        </p:txBody>
      </p:sp>
      <p:sp>
        <p:nvSpPr>
          <p:cNvPr id="149" name="Google Shape;149;p30"/>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Temos dois grupos</a:t>
            </a:r>
            <a:endParaRPr/>
          </a:p>
          <a:p>
            <a:pPr indent="-317500" lvl="1" marL="914400" rtl="0" algn="l">
              <a:spcBef>
                <a:spcPts val="0"/>
              </a:spcBef>
              <a:spcAft>
                <a:spcPts val="0"/>
              </a:spcAft>
              <a:buSzPts val="1400"/>
              <a:buChar char="○"/>
            </a:pPr>
            <a:r>
              <a:rPr lang="pt-BR"/>
              <a:t>Brancas</a:t>
            </a:r>
            <a:endParaRPr/>
          </a:p>
          <a:p>
            <a:pPr indent="-317500" lvl="1" marL="914400" rtl="0" algn="l">
              <a:spcBef>
                <a:spcPts val="0"/>
              </a:spcBef>
              <a:spcAft>
                <a:spcPts val="0"/>
              </a:spcAft>
              <a:buSzPts val="1400"/>
              <a:buChar char="○"/>
            </a:pPr>
            <a:r>
              <a:rPr lang="pt-BR"/>
              <a:t>Negras</a:t>
            </a:r>
            <a:endParaRPr/>
          </a:p>
          <a:p>
            <a:pPr indent="-342900" lvl="0" marL="457200" rtl="0" algn="l">
              <a:spcBef>
                <a:spcPts val="0"/>
              </a:spcBef>
              <a:spcAft>
                <a:spcPts val="0"/>
              </a:spcAft>
              <a:buSzPts val="1800"/>
              <a:buChar char="●"/>
            </a:pPr>
            <a:r>
              <a:rPr lang="pt-BR"/>
              <a:t>Sabemos que 26% da população é negra (acima de 21 anos)</a:t>
            </a:r>
            <a:endParaRPr/>
          </a:p>
          <a:p>
            <a:pPr indent="-342900" lvl="0" marL="457200" rtl="0" algn="l">
              <a:spcBef>
                <a:spcPts val="0"/>
              </a:spcBef>
              <a:spcAft>
                <a:spcPts val="0"/>
              </a:spcAft>
              <a:buSzPts val="1800"/>
              <a:buChar char="●"/>
            </a:pPr>
            <a:r>
              <a:rPr lang="pt-BR"/>
              <a:t>Foi realizada uma amostra de 100 pessoas</a:t>
            </a:r>
            <a:endParaRPr/>
          </a:p>
        </p:txBody>
      </p:sp>
      <p:sp>
        <p:nvSpPr>
          <p:cNvPr id="150" name="Google Shape;150;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1"/>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Então nós temos</a:t>
            </a:r>
            <a:endParaRPr/>
          </a:p>
        </p:txBody>
      </p:sp>
      <p:sp>
        <p:nvSpPr>
          <p:cNvPr id="156" name="Google Shape;156;p31"/>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n = 100</a:t>
            </a:r>
            <a:endParaRPr/>
          </a:p>
          <a:p>
            <a:pPr indent="-342900" lvl="0" marL="457200" rtl="0" algn="l">
              <a:spcBef>
                <a:spcPts val="0"/>
              </a:spcBef>
              <a:spcAft>
                <a:spcPts val="0"/>
              </a:spcAft>
              <a:buSzPts val="1800"/>
              <a:buChar char="●"/>
            </a:pPr>
            <a:r>
              <a:rPr lang="pt-BR"/>
              <a:t>p = 8 / 100</a:t>
            </a:r>
            <a:endParaRPr/>
          </a:p>
          <a:p>
            <a:pPr indent="-342900" lvl="0" marL="457200" rtl="0" algn="l">
              <a:spcBef>
                <a:spcPts val="0"/>
              </a:spcBef>
              <a:spcAft>
                <a:spcPts val="0"/>
              </a:spcAft>
              <a:buSzPts val="1800"/>
              <a:buChar char="●"/>
            </a:pPr>
            <a:r>
              <a:rPr lang="pt-BR"/>
              <a:t>Podemos usar intervalos de confiança para fazer algum teste?</a:t>
            </a:r>
            <a:br>
              <a:rPr lang="pt-BR"/>
            </a:br>
            <a:endParaRPr/>
          </a:p>
        </p:txBody>
      </p:sp>
      <p:sp>
        <p:nvSpPr>
          <p:cNvPr id="157" name="Google Shape;157;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2"/>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Então nós temos</a:t>
            </a:r>
            <a:endParaRPr/>
          </a:p>
        </p:txBody>
      </p:sp>
      <p:sp>
        <p:nvSpPr>
          <p:cNvPr id="163" name="Google Shape;163;p32"/>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n = 100</a:t>
            </a:r>
            <a:endParaRPr/>
          </a:p>
          <a:p>
            <a:pPr indent="-342900" lvl="0" marL="457200" rtl="0" algn="l">
              <a:spcBef>
                <a:spcPts val="0"/>
              </a:spcBef>
              <a:spcAft>
                <a:spcPts val="0"/>
              </a:spcAft>
              <a:buSzPts val="1800"/>
              <a:buChar char="●"/>
            </a:pPr>
            <a:r>
              <a:rPr lang="pt-BR"/>
              <a:t>p = 8 / 100</a:t>
            </a:r>
            <a:endParaRPr/>
          </a:p>
          <a:p>
            <a:pPr indent="-342900" lvl="0" marL="457200" rtl="0" algn="l">
              <a:spcBef>
                <a:spcPts val="0"/>
              </a:spcBef>
              <a:spcAft>
                <a:spcPts val="0"/>
              </a:spcAft>
              <a:buSzPts val="1800"/>
              <a:buChar char="●"/>
            </a:pPr>
            <a:r>
              <a:rPr lang="pt-BR"/>
              <a:t>Podemos usar intervalos de confiança para fazer algum teste?</a:t>
            </a:r>
            <a:endParaRPr/>
          </a:p>
          <a:p>
            <a:pPr indent="-342900" lvl="0" marL="457200" rtl="0" algn="l">
              <a:spcBef>
                <a:spcPts val="0"/>
              </a:spcBef>
              <a:spcAft>
                <a:spcPts val="0"/>
              </a:spcAft>
              <a:buSzPts val="1800"/>
              <a:buChar char="●"/>
            </a:pPr>
            <a:r>
              <a:rPr lang="pt-BR"/>
              <a:t>Sim! </a:t>
            </a:r>
            <a:r>
              <a:rPr b="1" lang="pt-BR"/>
              <a:t>(Fica para casa)</a:t>
            </a:r>
            <a:br>
              <a:rPr lang="pt-BR"/>
            </a:br>
            <a:endParaRPr/>
          </a:p>
        </p:txBody>
      </p:sp>
      <p:sp>
        <p:nvSpPr>
          <p:cNvPr id="164" name="Google Shape;164;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3"/>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Então nós temos</a:t>
            </a:r>
            <a:endParaRPr/>
          </a:p>
        </p:txBody>
      </p:sp>
      <p:sp>
        <p:nvSpPr>
          <p:cNvPr id="170" name="Google Shape;170;p33"/>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Dica, em uma VA Bernoulli →  X є {1, 0}.</a:t>
            </a:r>
            <a:endParaRPr/>
          </a:p>
          <a:p>
            <a:pPr indent="-342900" lvl="0" marL="457200" rtl="0" algn="l">
              <a:spcBef>
                <a:spcPts val="0"/>
              </a:spcBef>
              <a:spcAft>
                <a:spcPts val="0"/>
              </a:spcAft>
              <a:buSzPts val="1800"/>
              <a:buChar char="●"/>
            </a:pPr>
            <a:r>
              <a:rPr lang="pt-BR"/>
              <a:t>Média → p, 0.08 neste caso</a:t>
            </a:r>
            <a:endParaRPr/>
          </a:p>
          <a:p>
            <a:pPr indent="-342900" lvl="0" marL="457200" rtl="0" algn="l">
              <a:spcBef>
                <a:spcPts val="0"/>
              </a:spcBef>
              <a:spcAft>
                <a:spcPts val="0"/>
              </a:spcAft>
              <a:buSzPts val="1800"/>
              <a:buChar char="●"/>
            </a:pPr>
            <a:r>
              <a:rPr lang="pt-BR"/>
              <a:t>Variância →  p (1 - p).</a:t>
            </a:r>
            <a:endParaRPr/>
          </a:p>
          <a:p>
            <a:pPr indent="-342900" lvl="0" marL="457200" rtl="0" algn="l">
              <a:spcBef>
                <a:spcPts val="0"/>
              </a:spcBef>
              <a:spcAft>
                <a:spcPts val="0"/>
              </a:spcAft>
              <a:buSzPts val="1800"/>
              <a:buChar char="●"/>
            </a:pPr>
            <a:r>
              <a:rPr lang="pt-BR"/>
              <a:t>Só para fazer o IC clássico.</a:t>
            </a:r>
            <a:endParaRPr/>
          </a:p>
          <a:p>
            <a:pPr indent="-342900" lvl="0" marL="457200" rtl="0" algn="l">
              <a:spcBef>
                <a:spcPts val="0"/>
              </a:spcBef>
              <a:spcAft>
                <a:spcPts val="0"/>
              </a:spcAft>
              <a:buSzPts val="1800"/>
              <a:buChar char="●"/>
            </a:pPr>
            <a:r>
              <a:rPr lang="pt-BR"/>
              <a:t>Ou um Bootstrap</a:t>
            </a:r>
            <a:br>
              <a:rPr lang="pt-BR"/>
            </a:br>
            <a:endParaRPr/>
          </a:p>
        </p:txBody>
      </p:sp>
      <p:sp>
        <p:nvSpPr>
          <p:cNvPr id="171" name="Google Shape;171;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4"/>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Qual a nossa hipótese?</a:t>
            </a:r>
            <a:endParaRPr/>
          </a:p>
        </p:txBody>
      </p:sp>
      <p:sp>
        <p:nvSpPr>
          <p:cNvPr id="177" name="Google Shape;177;p34"/>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Temos dois grupos</a:t>
            </a:r>
            <a:endParaRPr/>
          </a:p>
          <a:p>
            <a:pPr indent="-317500" lvl="1" marL="914400" rtl="0" algn="l">
              <a:spcBef>
                <a:spcPts val="0"/>
              </a:spcBef>
              <a:spcAft>
                <a:spcPts val="0"/>
              </a:spcAft>
              <a:buSzPts val="1400"/>
              <a:buChar char="○"/>
            </a:pPr>
            <a:r>
              <a:rPr lang="pt-BR"/>
              <a:t>Brancos</a:t>
            </a:r>
            <a:endParaRPr/>
          </a:p>
          <a:p>
            <a:pPr indent="-317500" lvl="1" marL="914400" rtl="0" algn="l">
              <a:spcBef>
                <a:spcPts val="0"/>
              </a:spcBef>
              <a:spcAft>
                <a:spcPts val="0"/>
              </a:spcAft>
              <a:buSzPts val="1400"/>
              <a:buChar char="○"/>
            </a:pPr>
            <a:r>
              <a:rPr lang="pt-BR"/>
              <a:t>Negros</a:t>
            </a:r>
            <a:endParaRPr/>
          </a:p>
          <a:p>
            <a:pPr indent="-342900" lvl="0" marL="457200" rtl="0" algn="l">
              <a:spcBef>
                <a:spcPts val="0"/>
              </a:spcBef>
              <a:spcAft>
                <a:spcPts val="0"/>
              </a:spcAft>
              <a:buSzPts val="1800"/>
              <a:buChar char="●"/>
            </a:pPr>
            <a:r>
              <a:rPr lang="pt-BR"/>
              <a:t>Temos que 26% da população é negra (acima de 21 anos)</a:t>
            </a:r>
            <a:endParaRPr/>
          </a:p>
          <a:p>
            <a:pPr indent="-342900" lvl="0" marL="457200" rtl="0" algn="l">
              <a:spcBef>
                <a:spcPts val="0"/>
              </a:spcBef>
              <a:spcAft>
                <a:spcPts val="0"/>
              </a:spcAft>
              <a:buSzPts val="1800"/>
              <a:buChar char="●"/>
            </a:pPr>
            <a:r>
              <a:rPr lang="pt-BR"/>
              <a:t>Foi realizada uma amostra de 100 pessoas</a:t>
            </a:r>
            <a:br>
              <a:rPr lang="pt-BR"/>
            </a:br>
            <a:endParaRPr/>
          </a:p>
          <a:p>
            <a:pPr indent="-342900" lvl="0" marL="457200" rtl="0" algn="l">
              <a:spcBef>
                <a:spcPts val="0"/>
              </a:spcBef>
              <a:spcAft>
                <a:spcPts val="0"/>
              </a:spcAft>
              <a:buSzPts val="1800"/>
              <a:buChar char="●"/>
            </a:pPr>
            <a:r>
              <a:rPr lang="pt-BR"/>
              <a:t>“Tal amostra é estatisticamente significante”</a:t>
            </a:r>
            <a:br>
              <a:rPr lang="pt-BR"/>
            </a:br>
            <a:r>
              <a:rPr lang="pt-BR"/>
              <a:t>ou</a:t>
            </a:r>
            <a:br>
              <a:rPr lang="pt-BR"/>
            </a:br>
            <a:r>
              <a:rPr lang="pt-BR"/>
              <a:t>“Tal amostra é estatisticamente não significante”</a:t>
            </a:r>
            <a:endParaRPr/>
          </a:p>
        </p:txBody>
      </p:sp>
      <p:sp>
        <p:nvSpPr>
          <p:cNvPr id="178" name="Google Shape;178;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5"/>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Ideia</a:t>
            </a:r>
            <a:endParaRPr/>
          </a:p>
        </p:txBody>
      </p:sp>
      <p:sp>
        <p:nvSpPr>
          <p:cNvPr id="184" name="Google Shape;184;p35"/>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Quando falamos em hipóteses:</a:t>
            </a:r>
            <a:endParaRPr b="1">
              <a:solidFill>
                <a:schemeClr val="dk1"/>
              </a:solidFill>
            </a:endParaRPr>
          </a:p>
          <a:p>
            <a:pPr indent="-317500" lvl="1" marL="914400" rtl="0" algn="l">
              <a:spcBef>
                <a:spcPts val="0"/>
              </a:spcBef>
              <a:spcAft>
                <a:spcPts val="0"/>
              </a:spcAft>
              <a:buClr>
                <a:srgbClr val="990000"/>
              </a:buClr>
              <a:buSzPts val="1400"/>
              <a:buChar char="○"/>
            </a:pPr>
            <a:r>
              <a:rPr b="1" lang="pt-BR">
                <a:solidFill>
                  <a:srgbClr val="990000"/>
                </a:solidFill>
              </a:rPr>
              <a:t>Estamos querendo comparar nossos dados com um modelo aleatório!</a:t>
            </a:r>
            <a:endParaRPr b="1">
              <a:solidFill>
                <a:srgbClr val="990000"/>
              </a:solidFill>
            </a:endParaRPr>
          </a:p>
          <a:p>
            <a:pPr indent="-342900" lvl="0" marL="457200" rtl="0" algn="l">
              <a:spcBef>
                <a:spcPts val="0"/>
              </a:spcBef>
              <a:spcAft>
                <a:spcPts val="0"/>
              </a:spcAft>
              <a:buSzPts val="1800"/>
              <a:buChar char="●"/>
            </a:pPr>
            <a:r>
              <a:rPr lang="pt-BR"/>
              <a:t>Simulação é uma das formas simples de entender estes casos.</a:t>
            </a:r>
            <a:endParaRPr/>
          </a:p>
          <a:p>
            <a:pPr indent="-342900" lvl="0" marL="457200" rtl="0" algn="l">
              <a:spcBef>
                <a:spcPts val="0"/>
              </a:spcBef>
              <a:spcAft>
                <a:spcPts val="0"/>
              </a:spcAft>
              <a:buSzPts val="1800"/>
              <a:buChar char="●"/>
            </a:pPr>
            <a:r>
              <a:rPr lang="pt-BR"/>
              <a:t>Note que a simulação do Bootstrap é a mesma coisa</a:t>
            </a:r>
            <a:endParaRPr/>
          </a:p>
          <a:p>
            <a:pPr indent="-317500" lvl="1" marL="914400" rtl="0" algn="l">
              <a:spcBef>
                <a:spcPts val="0"/>
              </a:spcBef>
              <a:spcAft>
                <a:spcPts val="0"/>
              </a:spcAft>
              <a:buSzPts val="1400"/>
              <a:buChar char="○"/>
            </a:pPr>
            <a:r>
              <a:rPr lang="pt-BR"/>
              <a:t>Amostras aleatórias</a:t>
            </a:r>
            <a:endParaRPr/>
          </a:p>
          <a:p>
            <a:pPr indent="-317500" lvl="1" marL="914400" rtl="0" algn="l">
              <a:spcBef>
                <a:spcPts val="0"/>
              </a:spcBef>
              <a:spcAft>
                <a:spcPts val="0"/>
              </a:spcAft>
              <a:buClr>
                <a:srgbClr val="980000"/>
              </a:buClr>
              <a:buSzPts val="1400"/>
              <a:buChar char="○"/>
            </a:pPr>
            <a:r>
              <a:rPr b="1" lang="pt-BR">
                <a:solidFill>
                  <a:srgbClr val="980000"/>
                </a:solidFill>
              </a:rPr>
              <a:t>Só que aqui podemos simular a população!</a:t>
            </a:r>
            <a:endParaRPr b="1">
              <a:solidFill>
                <a:srgbClr val="980000"/>
              </a:solidFill>
            </a:endParaRPr>
          </a:p>
        </p:txBody>
      </p:sp>
      <p:sp>
        <p:nvSpPr>
          <p:cNvPr id="185" name="Google Shape;185;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6"/>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a:t>Ideia</a:t>
            </a:r>
            <a:endParaRPr/>
          </a:p>
        </p:txBody>
      </p:sp>
      <p:sp>
        <p:nvSpPr>
          <p:cNvPr id="191" name="Google Shape;191;p36"/>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Quando falamos em hipóteses:</a:t>
            </a:r>
            <a:endParaRPr b="1">
              <a:solidFill>
                <a:schemeClr val="dk1"/>
              </a:solidFill>
            </a:endParaRPr>
          </a:p>
          <a:p>
            <a:pPr indent="-317500" lvl="1" marL="914400" rtl="0" algn="l">
              <a:spcBef>
                <a:spcPts val="0"/>
              </a:spcBef>
              <a:spcAft>
                <a:spcPts val="0"/>
              </a:spcAft>
              <a:buClr>
                <a:srgbClr val="990000"/>
              </a:buClr>
              <a:buSzPts val="1400"/>
              <a:buChar char="○"/>
            </a:pPr>
            <a:r>
              <a:rPr b="1" lang="pt-BR">
                <a:solidFill>
                  <a:srgbClr val="990000"/>
                </a:solidFill>
              </a:rPr>
              <a:t>Estamos querendo comparar nossos dados com um modelo aleatório!</a:t>
            </a:r>
            <a:endParaRPr b="1">
              <a:solidFill>
                <a:srgbClr val="990000"/>
              </a:solidFill>
            </a:endParaRPr>
          </a:p>
          <a:p>
            <a:pPr indent="-342900" lvl="0" marL="457200" rtl="0" algn="l">
              <a:spcBef>
                <a:spcPts val="0"/>
              </a:spcBef>
              <a:spcAft>
                <a:spcPts val="0"/>
              </a:spcAft>
              <a:buSzPts val="1800"/>
              <a:buChar char="●"/>
            </a:pPr>
            <a:r>
              <a:rPr lang="pt-BR"/>
              <a:t>Simulação é uma das formas simples de entender estes casos.</a:t>
            </a:r>
            <a:endParaRPr/>
          </a:p>
          <a:p>
            <a:pPr indent="-342900" lvl="0" marL="457200" rtl="0" algn="l">
              <a:spcBef>
                <a:spcPts val="0"/>
              </a:spcBef>
              <a:spcAft>
                <a:spcPts val="0"/>
              </a:spcAft>
              <a:buSzPts val="1800"/>
              <a:buChar char="●"/>
            </a:pPr>
            <a:r>
              <a:rPr lang="pt-BR"/>
              <a:t>Note que a simulação do Bootstrap é a mesma coisa</a:t>
            </a:r>
            <a:endParaRPr/>
          </a:p>
          <a:p>
            <a:pPr indent="-317500" lvl="1" marL="914400" rtl="0" algn="l">
              <a:spcBef>
                <a:spcPts val="0"/>
              </a:spcBef>
              <a:spcAft>
                <a:spcPts val="0"/>
              </a:spcAft>
              <a:buSzPts val="1400"/>
              <a:buChar char="○"/>
            </a:pPr>
            <a:r>
              <a:rPr lang="pt-BR"/>
              <a:t>Amostras aleatórias</a:t>
            </a:r>
            <a:endParaRPr/>
          </a:p>
          <a:p>
            <a:pPr indent="-317500" lvl="1" marL="914400" rtl="0" algn="l">
              <a:spcBef>
                <a:spcPts val="0"/>
              </a:spcBef>
              <a:spcAft>
                <a:spcPts val="0"/>
              </a:spcAft>
              <a:buClr>
                <a:srgbClr val="980000"/>
              </a:buClr>
              <a:buSzPts val="1400"/>
              <a:buChar char="○"/>
            </a:pPr>
            <a:r>
              <a:rPr b="1" lang="pt-BR">
                <a:solidFill>
                  <a:srgbClr val="980000"/>
                </a:solidFill>
              </a:rPr>
              <a:t>Só que aqui podemos simular a população!</a:t>
            </a:r>
            <a:endParaRPr b="1">
              <a:solidFill>
                <a:srgbClr val="980000"/>
              </a:solidFill>
            </a:endParaRPr>
          </a:p>
        </p:txBody>
      </p:sp>
      <p:sp>
        <p:nvSpPr>
          <p:cNvPr id="192" name="Google Shape;192;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193" name="Google Shape;193;p36"/>
          <p:cNvSpPr txBox="1"/>
          <p:nvPr/>
        </p:nvSpPr>
        <p:spPr>
          <a:xfrm>
            <a:off x="133225" y="2827075"/>
            <a:ext cx="4262700" cy="49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População</a:t>
            </a:r>
            <a:endParaRPr/>
          </a:p>
        </p:txBody>
      </p:sp>
      <p:grpSp>
        <p:nvGrpSpPr>
          <p:cNvPr id="194" name="Google Shape;194;p36"/>
          <p:cNvGrpSpPr/>
          <p:nvPr/>
        </p:nvGrpSpPr>
        <p:grpSpPr>
          <a:xfrm>
            <a:off x="2" y="3248950"/>
            <a:ext cx="9143927" cy="572700"/>
            <a:chOff x="2" y="3248950"/>
            <a:chExt cx="9143927" cy="572700"/>
          </a:xfrm>
        </p:grpSpPr>
        <p:sp>
          <p:nvSpPr>
            <p:cNvPr id="195" name="Google Shape;195;p36"/>
            <p:cNvSpPr/>
            <p:nvPr/>
          </p:nvSpPr>
          <p:spPr>
            <a:xfrm>
              <a:off x="4373217" y="3248950"/>
              <a:ext cx="3975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FFF"/>
                  </a:solidFill>
                  <a:latin typeface="Roboto Light"/>
                  <a:ea typeface="Roboto Light"/>
                  <a:cs typeface="Roboto Light"/>
                  <a:sym typeface="Roboto Light"/>
                </a:rPr>
                <a:t>W</a:t>
              </a:r>
              <a:endParaRPr>
                <a:solidFill>
                  <a:srgbClr val="FFFFFF"/>
                </a:solidFill>
                <a:latin typeface="Roboto Light"/>
                <a:ea typeface="Roboto Light"/>
                <a:cs typeface="Roboto Light"/>
                <a:sym typeface="Roboto Light"/>
              </a:endParaRPr>
            </a:p>
          </p:txBody>
        </p:sp>
        <p:grpSp>
          <p:nvGrpSpPr>
            <p:cNvPr id="196" name="Google Shape;196;p36"/>
            <p:cNvGrpSpPr/>
            <p:nvPr/>
          </p:nvGrpSpPr>
          <p:grpSpPr>
            <a:xfrm>
              <a:off x="2" y="3248950"/>
              <a:ext cx="9143927" cy="572700"/>
              <a:chOff x="-223200" y="1065725"/>
              <a:chExt cx="9190800" cy="572700"/>
            </a:xfrm>
          </p:grpSpPr>
          <p:sp>
            <p:nvSpPr>
              <p:cNvPr id="197" name="Google Shape;197;p36"/>
              <p:cNvSpPr/>
              <p:nvPr/>
            </p:nvSpPr>
            <p:spPr>
              <a:xfrm>
                <a:off x="-223200" y="1065725"/>
                <a:ext cx="3996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rgbClr val="FFFFFF"/>
                    </a:solidFill>
                    <a:latin typeface="Roboto"/>
                    <a:ea typeface="Roboto"/>
                    <a:cs typeface="Roboto"/>
                    <a:sym typeface="Roboto"/>
                  </a:rPr>
                  <a:t>B</a:t>
                </a:r>
                <a:endParaRPr b="1">
                  <a:solidFill>
                    <a:srgbClr val="FFFFFF"/>
                  </a:solidFill>
                  <a:latin typeface="Roboto"/>
                  <a:ea typeface="Roboto"/>
                  <a:cs typeface="Roboto"/>
                  <a:sym typeface="Roboto"/>
                </a:endParaRPr>
              </a:p>
            </p:txBody>
          </p:sp>
          <p:sp>
            <p:nvSpPr>
              <p:cNvPr id="198" name="Google Shape;198;p36"/>
              <p:cNvSpPr/>
              <p:nvPr/>
            </p:nvSpPr>
            <p:spPr>
              <a:xfrm>
                <a:off x="176400" y="1065725"/>
                <a:ext cx="3996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rgbClr val="FFFFFF"/>
                    </a:solidFill>
                    <a:latin typeface="Roboto"/>
                    <a:ea typeface="Roboto"/>
                    <a:cs typeface="Roboto"/>
                    <a:sym typeface="Roboto"/>
                  </a:rPr>
                  <a:t>B</a:t>
                </a:r>
                <a:endParaRPr b="1">
                  <a:solidFill>
                    <a:srgbClr val="FFFFFF"/>
                  </a:solidFill>
                  <a:latin typeface="Roboto"/>
                  <a:ea typeface="Roboto"/>
                  <a:cs typeface="Roboto"/>
                  <a:sym typeface="Roboto"/>
                </a:endParaRPr>
              </a:p>
            </p:txBody>
          </p:sp>
          <p:sp>
            <p:nvSpPr>
              <p:cNvPr id="199" name="Google Shape;199;p36"/>
              <p:cNvSpPr/>
              <p:nvPr/>
            </p:nvSpPr>
            <p:spPr>
              <a:xfrm>
                <a:off x="576000" y="1065725"/>
                <a:ext cx="3996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rgbClr val="FFFFFF"/>
                    </a:solidFill>
                    <a:latin typeface="Roboto"/>
                    <a:ea typeface="Roboto"/>
                    <a:cs typeface="Roboto"/>
                    <a:sym typeface="Roboto"/>
                  </a:rPr>
                  <a:t>B</a:t>
                </a:r>
                <a:endParaRPr b="1">
                  <a:solidFill>
                    <a:srgbClr val="FFFFFF"/>
                  </a:solidFill>
                  <a:latin typeface="Roboto"/>
                  <a:ea typeface="Roboto"/>
                  <a:cs typeface="Roboto"/>
                  <a:sym typeface="Roboto"/>
                </a:endParaRPr>
              </a:p>
            </p:txBody>
          </p:sp>
          <p:sp>
            <p:nvSpPr>
              <p:cNvPr id="200" name="Google Shape;200;p36"/>
              <p:cNvSpPr/>
              <p:nvPr/>
            </p:nvSpPr>
            <p:spPr>
              <a:xfrm>
                <a:off x="975600" y="1065725"/>
                <a:ext cx="3996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rgbClr val="FFFFFF"/>
                    </a:solidFill>
                    <a:latin typeface="Roboto"/>
                    <a:ea typeface="Roboto"/>
                    <a:cs typeface="Roboto"/>
                    <a:sym typeface="Roboto"/>
                  </a:rPr>
                  <a:t>B</a:t>
                </a:r>
                <a:endParaRPr b="1">
                  <a:solidFill>
                    <a:srgbClr val="FFFFFF"/>
                  </a:solidFill>
                  <a:latin typeface="Roboto"/>
                  <a:ea typeface="Roboto"/>
                  <a:cs typeface="Roboto"/>
                  <a:sym typeface="Roboto"/>
                </a:endParaRPr>
              </a:p>
            </p:txBody>
          </p:sp>
          <p:sp>
            <p:nvSpPr>
              <p:cNvPr id="201" name="Google Shape;201;p36"/>
              <p:cNvSpPr/>
              <p:nvPr/>
            </p:nvSpPr>
            <p:spPr>
              <a:xfrm>
                <a:off x="1375200" y="1065725"/>
                <a:ext cx="3996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rgbClr val="FFFFFF"/>
                    </a:solidFill>
                    <a:latin typeface="Roboto"/>
                    <a:ea typeface="Roboto"/>
                    <a:cs typeface="Roboto"/>
                    <a:sym typeface="Roboto"/>
                  </a:rPr>
                  <a:t>B</a:t>
                </a:r>
                <a:endParaRPr b="1">
                  <a:solidFill>
                    <a:srgbClr val="FFFFFF"/>
                  </a:solidFill>
                  <a:latin typeface="Roboto"/>
                  <a:ea typeface="Roboto"/>
                  <a:cs typeface="Roboto"/>
                  <a:sym typeface="Roboto"/>
                </a:endParaRPr>
              </a:p>
            </p:txBody>
          </p:sp>
          <p:sp>
            <p:nvSpPr>
              <p:cNvPr id="202" name="Google Shape;202;p36"/>
              <p:cNvSpPr/>
              <p:nvPr/>
            </p:nvSpPr>
            <p:spPr>
              <a:xfrm>
                <a:off x="1774800" y="1065725"/>
                <a:ext cx="3996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rgbClr val="FFFFFF"/>
                    </a:solidFill>
                    <a:latin typeface="Roboto"/>
                    <a:ea typeface="Roboto"/>
                    <a:cs typeface="Roboto"/>
                    <a:sym typeface="Roboto"/>
                  </a:rPr>
                  <a:t>B</a:t>
                </a:r>
                <a:endParaRPr b="1">
                  <a:solidFill>
                    <a:srgbClr val="FFFFFF"/>
                  </a:solidFill>
                  <a:latin typeface="Roboto"/>
                  <a:ea typeface="Roboto"/>
                  <a:cs typeface="Roboto"/>
                  <a:sym typeface="Roboto"/>
                </a:endParaRPr>
              </a:p>
            </p:txBody>
          </p:sp>
          <p:sp>
            <p:nvSpPr>
              <p:cNvPr id="203" name="Google Shape;203;p36"/>
              <p:cNvSpPr/>
              <p:nvPr/>
            </p:nvSpPr>
            <p:spPr>
              <a:xfrm>
                <a:off x="2174400" y="1065725"/>
                <a:ext cx="3996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rgbClr val="FFFFFF"/>
                    </a:solidFill>
                    <a:latin typeface="Roboto"/>
                    <a:ea typeface="Roboto"/>
                    <a:cs typeface="Roboto"/>
                    <a:sym typeface="Roboto"/>
                  </a:rPr>
                  <a:t>B</a:t>
                </a:r>
                <a:endParaRPr b="1">
                  <a:solidFill>
                    <a:srgbClr val="FFFFFF"/>
                  </a:solidFill>
                  <a:latin typeface="Roboto"/>
                  <a:ea typeface="Roboto"/>
                  <a:cs typeface="Roboto"/>
                  <a:sym typeface="Roboto"/>
                </a:endParaRPr>
              </a:p>
            </p:txBody>
          </p:sp>
          <p:sp>
            <p:nvSpPr>
              <p:cNvPr id="204" name="Google Shape;204;p36"/>
              <p:cNvSpPr/>
              <p:nvPr/>
            </p:nvSpPr>
            <p:spPr>
              <a:xfrm>
                <a:off x="2574000" y="1065725"/>
                <a:ext cx="3996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FFF"/>
                    </a:solidFill>
                    <a:latin typeface="Roboto Light"/>
                    <a:ea typeface="Roboto Light"/>
                    <a:cs typeface="Roboto Light"/>
                    <a:sym typeface="Roboto Light"/>
                  </a:rPr>
                  <a:t>W</a:t>
                </a:r>
                <a:endParaRPr>
                  <a:solidFill>
                    <a:srgbClr val="FFFFFF"/>
                  </a:solidFill>
                  <a:latin typeface="Roboto Light"/>
                  <a:ea typeface="Roboto Light"/>
                  <a:cs typeface="Roboto Light"/>
                  <a:sym typeface="Roboto Light"/>
                </a:endParaRPr>
              </a:p>
            </p:txBody>
          </p:sp>
          <p:sp>
            <p:nvSpPr>
              <p:cNvPr id="205" name="Google Shape;205;p36"/>
              <p:cNvSpPr/>
              <p:nvPr/>
            </p:nvSpPr>
            <p:spPr>
              <a:xfrm>
                <a:off x="2973600" y="1065725"/>
                <a:ext cx="3996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FFF"/>
                    </a:solidFill>
                    <a:latin typeface="Roboto Light"/>
                    <a:ea typeface="Roboto Light"/>
                    <a:cs typeface="Roboto Light"/>
                    <a:sym typeface="Roboto Light"/>
                  </a:rPr>
                  <a:t>W</a:t>
                </a:r>
                <a:endParaRPr>
                  <a:solidFill>
                    <a:srgbClr val="FFFFFF"/>
                  </a:solidFill>
                  <a:latin typeface="Roboto Light"/>
                  <a:ea typeface="Roboto Light"/>
                  <a:cs typeface="Roboto Light"/>
                  <a:sym typeface="Roboto Light"/>
                </a:endParaRPr>
              </a:p>
            </p:txBody>
          </p:sp>
          <p:sp>
            <p:nvSpPr>
              <p:cNvPr id="206" name="Google Shape;206;p36"/>
              <p:cNvSpPr/>
              <p:nvPr/>
            </p:nvSpPr>
            <p:spPr>
              <a:xfrm>
                <a:off x="3373200" y="1065725"/>
                <a:ext cx="3996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FFF"/>
                    </a:solidFill>
                    <a:latin typeface="Roboto Light"/>
                    <a:ea typeface="Roboto Light"/>
                    <a:cs typeface="Roboto Light"/>
                    <a:sym typeface="Roboto Light"/>
                  </a:rPr>
                  <a:t>W</a:t>
                </a:r>
                <a:endParaRPr>
                  <a:solidFill>
                    <a:srgbClr val="FFFFFF"/>
                  </a:solidFill>
                  <a:latin typeface="Roboto Light"/>
                  <a:ea typeface="Roboto Light"/>
                  <a:cs typeface="Roboto Light"/>
                  <a:sym typeface="Roboto Light"/>
                </a:endParaRPr>
              </a:p>
            </p:txBody>
          </p:sp>
          <p:sp>
            <p:nvSpPr>
              <p:cNvPr id="207" name="Google Shape;207;p36"/>
              <p:cNvSpPr/>
              <p:nvPr/>
            </p:nvSpPr>
            <p:spPr>
              <a:xfrm>
                <a:off x="3772800" y="1065725"/>
                <a:ext cx="3996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FFF"/>
                    </a:solidFill>
                    <a:latin typeface="Roboto Light"/>
                    <a:ea typeface="Roboto Light"/>
                    <a:cs typeface="Roboto Light"/>
                    <a:sym typeface="Roboto Light"/>
                  </a:rPr>
                  <a:t>W</a:t>
                </a:r>
                <a:endParaRPr>
                  <a:solidFill>
                    <a:srgbClr val="FFFFFF"/>
                  </a:solidFill>
                  <a:latin typeface="Roboto Light"/>
                  <a:ea typeface="Roboto Light"/>
                  <a:cs typeface="Roboto Light"/>
                  <a:sym typeface="Roboto Light"/>
                </a:endParaRPr>
              </a:p>
            </p:txBody>
          </p:sp>
          <p:sp>
            <p:nvSpPr>
              <p:cNvPr id="208" name="Google Shape;208;p36"/>
              <p:cNvSpPr/>
              <p:nvPr/>
            </p:nvSpPr>
            <p:spPr>
              <a:xfrm>
                <a:off x="4572000" y="1065725"/>
                <a:ext cx="3996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FFF"/>
                    </a:solidFill>
                    <a:latin typeface="Roboto Light"/>
                    <a:ea typeface="Roboto Light"/>
                    <a:cs typeface="Roboto Light"/>
                    <a:sym typeface="Roboto Light"/>
                  </a:rPr>
                  <a:t>W</a:t>
                </a:r>
                <a:endParaRPr>
                  <a:solidFill>
                    <a:srgbClr val="FFFFFF"/>
                  </a:solidFill>
                  <a:latin typeface="Roboto Light"/>
                  <a:ea typeface="Roboto Light"/>
                  <a:cs typeface="Roboto Light"/>
                  <a:sym typeface="Roboto Light"/>
                </a:endParaRPr>
              </a:p>
            </p:txBody>
          </p:sp>
          <p:sp>
            <p:nvSpPr>
              <p:cNvPr id="209" name="Google Shape;209;p36"/>
              <p:cNvSpPr/>
              <p:nvPr/>
            </p:nvSpPr>
            <p:spPr>
              <a:xfrm>
                <a:off x="4971600" y="1065725"/>
                <a:ext cx="3996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FFF"/>
                    </a:solidFill>
                    <a:latin typeface="Roboto Light"/>
                    <a:ea typeface="Roboto Light"/>
                    <a:cs typeface="Roboto Light"/>
                    <a:sym typeface="Roboto Light"/>
                  </a:rPr>
                  <a:t>W</a:t>
                </a:r>
                <a:endParaRPr>
                  <a:solidFill>
                    <a:srgbClr val="FFFFFF"/>
                  </a:solidFill>
                  <a:latin typeface="Roboto Light"/>
                  <a:ea typeface="Roboto Light"/>
                  <a:cs typeface="Roboto Light"/>
                  <a:sym typeface="Roboto Light"/>
                </a:endParaRPr>
              </a:p>
            </p:txBody>
          </p:sp>
          <p:sp>
            <p:nvSpPr>
              <p:cNvPr id="210" name="Google Shape;210;p36"/>
              <p:cNvSpPr/>
              <p:nvPr/>
            </p:nvSpPr>
            <p:spPr>
              <a:xfrm>
                <a:off x="5770800" y="1065725"/>
                <a:ext cx="3996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FFF"/>
                    </a:solidFill>
                    <a:latin typeface="Roboto Light"/>
                    <a:ea typeface="Roboto Light"/>
                    <a:cs typeface="Roboto Light"/>
                    <a:sym typeface="Roboto Light"/>
                  </a:rPr>
                  <a:t>W</a:t>
                </a:r>
                <a:endParaRPr>
                  <a:solidFill>
                    <a:srgbClr val="FFFFFF"/>
                  </a:solidFill>
                  <a:latin typeface="Roboto Light"/>
                  <a:ea typeface="Roboto Light"/>
                  <a:cs typeface="Roboto Light"/>
                  <a:sym typeface="Roboto Light"/>
                </a:endParaRPr>
              </a:p>
            </p:txBody>
          </p:sp>
          <p:sp>
            <p:nvSpPr>
              <p:cNvPr id="211" name="Google Shape;211;p36"/>
              <p:cNvSpPr/>
              <p:nvPr/>
            </p:nvSpPr>
            <p:spPr>
              <a:xfrm>
                <a:off x="6170400" y="1065725"/>
                <a:ext cx="3996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FFF"/>
                    </a:solidFill>
                    <a:latin typeface="Roboto Light"/>
                    <a:ea typeface="Roboto Light"/>
                    <a:cs typeface="Roboto Light"/>
                    <a:sym typeface="Roboto Light"/>
                  </a:rPr>
                  <a:t>W</a:t>
                </a:r>
                <a:endParaRPr>
                  <a:solidFill>
                    <a:srgbClr val="FFFFFF"/>
                  </a:solidFill>
                  <a:latin typeface="Roboto Light"/>
                  <a:ea typeface="Roboto Light"/>
                  <a:cs typeface="Roboto Light"/>
                  <a:sym typeface="Roboto Light"/>
                </a:endParaRPr>
              </a:p>
            </p:txBody>
          </p:sp>
          <p:sp>
            <p:nvSpPr>
              <p:cNvPr id="212" name="Google Shape;212;p36"/>
              <p:cNvSpPr/>
              <p:nvPr/>
            </p:nvSpPr>
            <p:spPr>
              <a:xfrm>
                <a:off x="6969600" y="1065725"/>
                <a:ext cx="3996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FFF"/>
                    </a:solidFill>
                    <a:latin typeface="Roboto Light"/>
                    <a:ea typeface="Roboto Light"/>
                    <a:cs typeface="Roboto Light"/>
                    <a:sym typeface="Roboto Light"/>
                  </a:rPr>
                  <a:t>W</a:t>
                </a:r>
                <a:endParaRPr>
                  <a:solidFill>
                    <a:srgbClr val="FFFFFF"/>
                  </a:solidFill>
                  <a:latin typeface="Roboto Light"/>
                  <a:ea typeface="Roboto Light"/>
                  <a:cs typeface="Roboto Light"/>
                  <a:sym typeface="Roboto Light"/>
                </a:endParaRPr>
              </a:p>
            </p:txBody>
          </p:sp>
          <p:sp>
            <p:nvSpPr>
              <p:cNvPr id="213" name="Google Shape;213;p36"/>
              <p:cNvSpPr/>
              <p:nvPr/>
            </p:nvSpPr>
            <p:spPr>
              <a:xfrm>
                <a:off x="7768800" y="1065725"/>
                <a:ext cx="3996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FFF"/>
                    </a:solidFill>
                    <a:latin typeface="Roboto Light"/>
                    <a:ea typeface="Roboto Light"/>
                    <a:cs typeface="Roboto Light"/>
                    <a:sym typeface="Roboto Light"/>
                  </a:rPr>
                  <a:t>W</a:t>
                </a:r>
                <a:endParaRPr>
                  <a:solidFill>
                    <a:srgbClr val="FFFFFF"/>
                  </a:solidFill>
                  <a:latin typeface="Roboto Light"/>
                  <a:ea typeface="Roboto Light"/>
                  <a:cs typeface="Roboto Light"/>
                  <a:sym typeface="Roboto Light"/>
                </a:endParaRPr>
              </a:p>
            </p:txBody>
          </p:sp>
          <p:sp>
            <p:nvSpPr>
              <p:cNvPr id="214" name="Google Shape;214;p36"/>
              <p:cNvSpPr/>
              <p:nvPr/>
            </p:nvSpPr>
            <p:spPr>
              <a:xfrm>
                <a:off x="8168400" y="1065725"/>
                <a:ext cx="3996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FFF"/>
                    </a:solidFill>
                    <a:latin typeface="Roboto Light"/>
                    <a:ea typeface="Roboto Light"/>
                    <a:cs typeface="Roboto Light"/>
                    <a:sym typeface="Roboto Light"/>
                  </a:rPr>
                  <a:t>W</a:t>
                </a:r>
                <a:endParaRPr>
                  <a:solidFill>
                    <a:srgbClr val="FFFFFF"/>
                  </a:solidFill>
                  <a:latin typeface="Roboto Light"/>
                  <a:ea typeface="Roboto Light"/>
                  <a:cs typeface="Roboto Light"/>
                  <a:sym typeface="Roboto Light"/>
                </a:endParaRPr>
              </a:p>
            </p:txBody>
          </p:sp>
          <p:sp>
            <p:nvSpPr>
              <p:cNvPr id="215" name="Google Shape;215;p36"/>
              <p:cNvSpPr/>
              <p:nvPr/>
            </p:nvSpPr>
            <p:spPr>
              <a:xfrm>
                <a:off x="8568000" y="1065725"/>
                <a:ext cx="3996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FFF"/>
                    </a:solidFill>
                    <a:latin typeface="Roboto Light"/>
                    <a:ea typeface="Roboto Light"/>
                    <a:cs typeface="Roboto Light"/>
                    <a:sym typeface="Roboto Light"/>
                  </a:rPr>
                  <a:t>W</a:t>
                </a:r>
                <a:endParaRPr>
                  <a:solidFill>
                    <a:srgbClr val="FFFFFF"/>
                  </a:solidFill>
                  <a:latin typeface="Roboto Light"/>
                  <a:ea typeface="Roboto Light"/>
                  <a:cs typeface="Roboto Light"/>
                  <a:sym typeface="Roboto Light"/>
                </a:endParaRPr>
              </a:p>
            </p:txBody>
          </p:sp>
          <p:sp>
            <p:nvSpPr>
              <p:cNvPr id="216" name="Google Shape;216;p36"/>
              <p:cNvSpPr/>
              <p:nvPr/>
            </p:nvSpPr>
            <p:spPr>
              <a:xfrm>
                <a:off x="7369200" y="1065725"/>
                <a:ext cx="3996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FFF"/>
                    </a:solidFill>
                    <a:latin typeface="Roboto Light"/>
                    <a:ea typeface="Roboto Light"/>
                    <a:cs typeface="Roboto Light"/>
                    <a:sym typeface="Roboto Light"/>
                  </a:rPr>
                  <a:t>W</a:t>
                </a:r>
                <a:endParaRPr>
                  <a:solidFill>
                    <a:srgbClr val="FFFFFF"/>
                  </a:solidFill>
                  <a:latin typeface="Roboto Light"/>
                  <a:ea typeface="Roboto Light"/>
                  <a:cs typeface="Roboto Light"/>
                  <a:sym typeface="Roboto Light"/>
                </a:endParaRPr>
              </a:p>
            </p:txBody>
          </p:sp>
          <p:sp>
            <p:nvSpPr>
              <p:cNvPr id="217" name="Google Shape;217;p36"/>
              <p:cNvSpPr/>
              <p:nvPr/>
            </p:nvSpPr>
            <p:spPr>
              <a:xfrm>
                <a:off x="6570000" y="1065725"/>
                <a:ext cx="3996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FFF"/>
                    </a:solidFill>
                    <a:latin typeface="Roboto Light"/>
                    <a:ea typeface="Roboto Light"/>
                    <a:cs typeface="Roboto Light"/>
                    <a:sym typeface="Roboto Light"/>
                  </a:rPr>
                  <a:t>W</a:t>
                </a:r>
                <a:endParaRPr>
                  <a:solidFill>
                    <a:srgbClr val="FFFFFF"/>
                  </a:solidFill>
                  <a:latin typeface="Roboto Light"/>
                  <a:ea typeface="Roboto Light"/>
                  <a:cs typeface="Roboto Light"/>
                  <a:sym typeface="Roboto Light"/>
                </a:endParaRPr>
              </a:p>
            </p:txBody>
          </p:sp>
          <p:sp>
            <p:nvSpPr>
              <p:cNvPr id="218" name="Google Shape;218;p36"/>
              <p:cNvSpPr/>
              <p:nvPr/>
            </p:nvSpPr>
            <p:spPr>
              <a:xfrm>
                <a:off x="5371200" y="1065725"/>
                <a:ext cx="399600" cy="5727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FFF"/>
                    </a:solidFill>
                    <a:latin typeface="Roboto Light"/>
                    <a:ea typeface="Roboto Light"/>
                    <a:cs typeface="Roboto Light"/>
                    <a:sym typeface="Roboto Light"/>
                  </a:rPr>
                  <a:t>W</a:t>
                </a:r>
                <a:endParaRPr>
                  <a:solidFill>
                    <a:srgbClr val="FFFFFF"/>
                  </a:solidFill>
                  <a:latin typeface="Roboto Light"/>
                  <a:ea typeface="Roboto Light"/>
                  <a:cs typeface="Roboto Light"/>
                  <a:sym typeface="Roboto Light"/>
                </a:endParaRPr>
              </a:p>
            </p:txBody>
          </p:sp>
        </p:grpSp>
      </p:grpSp>
      <p:graphicFrame>
        <p:nvGraphicFramePr>
          <p:cNvPr id="219" name="Google Shape;219;p36"/>
          <p:cNvGraphicFramePr/>
          <p:nvPr/>
        </p:nvGraphicFramePr>
        <p:xfrm>
          <a:off x="933075" y="3895650"/>
          <a:ext cx="3000000" cy="3000000"/>
        </p:xfrm>
        <a:graphic>
          <a:graphicData uri="http://schemas.openxmlformats.org/drawingml/2006/table">
            <a:tbl>
              <a:tblPr>
                <a:noFill/>
                <a:tableStyleId>{E6F389CA-A1F8-429B-937D-27BCD03C1D14}</a:tableStyleId>
              </a:tblPr>
              <a:tblGrid>
                <a:gridCol w="3462850"/>
              </a:tblGrid>
              <a:tr h="12700">
                <a:tc>
                  <a:txBody>
                    <a:bodyPr/>
                    <a:lstStyle/>
                    <a:p>
                      <a:pPr indent="0" lvl="0" marL="0" rtl="0" algn="l">
                        <a:lnSpc>
                          <a:spcPct val="115000"/>
                        </a:lnSpc>
                        <a:spcBef>
                          <a:spcPts val="0"/>
                        </a:spcBef>
                        <a:spcAft>
                          <a:spcPts val="0"/>
                        </a:spcAft>
                        <a:buNone/>
                      </a:pPr>
                      <a:r>
                        <a:rPr lang="pt-BR" sz="1050">
                          <a:solidFill>
                            <a:srgbClr val="A626A4"/>
                          </a:solidFill>
                          <a:highlight>
                            <a:srgbClr val="FAFAFA"/>
                          </a:highlight>
                          <a:latin typeface="Consolas"/>
                          <a:ea typeface="Consolas"/>
                          <a:cs typeface="Consolas"/>
                          <a:sym typeface="Consolas"/>
                        </a:rPr>
                        <a:t>import</a:t>
                      </a:r>
                      <a:r>
                        <a:rPr lang="pt-BR" sz="1050">
                          <a:solidFill>
                            <a:srgbClr val="383A42"/>
                          </a:solidFill>
                          <a:highlight>
                            <a:srgbClr val="FAFAFA"/>
                          </a:highlight>
                          <a:latin typeface="Consolas"/>
                          <a:ea typeface="Consolas"/>
                          <a:cs typeface="Consolas"/>
                          <a:sym typeface="Consolas"/>
                        </a:rPr>
                        <a:t> numpy </a:t>
                      </a:r>
                      <a:r>
                        <a:rPr lang="pt-BR" sz="1050">
                          <a:solidFill>
                            <a:srgbClr val="A626A4"/>
                          </a:solidFill>
                          <a:highlight>
                            <a:srgbClr val="FAFAFA"/>
                          </a:highlight>
                          <a:latin typeface="Consolas"/>
                          <a:ea typeface="Consolas"/>
                          <a:cs typeface="Consolas"/>
                          <a:sym typeface="Consolas"/>
                        </a:rPr>
                        <a:t>as</a:t>
                      </a:r>
                      <a:r>
                        <a:rPr lang="pt-BR" sz="1050">
                          <a:solidFill>
                            <a:srgbClr val="383A42"/>
                          </a:solidFill>
                          <a:highlight>
                            <a:srgbClr val="FAFAFA"/>
                          </a:highlight>
                          <a:latin typeface="Consolas"/>
                          <a:ea typeface="Consolas"/>
                          <a:cs typeface="Consolas"/>
                          <a:sym typeface="Consolas"/>
                        </a:rPr>
                        <a:t> np</a:t>
                      </a:r>
                      <a:br>
                        <a:rPr lang="pt-BR" sz="1050">
                          <a:solidFill>
                            <a:srgbClr val="383A42"/>
                          </a:solidFill>
                          <a:highlight>
                            <a:srgbClr val="FAFAFA"/>
                          </a:highlight>
                          <a:latin typeface="Consolas"/>
                          <a:ea typeface="Consolas"/>
                          <a:cs typeface="Consolas"/>
                          <a:sym typeface="Consolas"/>
                        </a:rPr>
                      </a:br>
                      <a:r>
                        <a:rPr lang="pt-BR" sz="1050">
                          <a:solidFill>
                            <a:srgbClr val="383A42"/>
                          </a:solidFill>
                          <a:highlight>
                            <a:srgbClr val="FAFAFA"/>
                          </a:highlight>
                          <a:latin typeface="Consolas"/>
                          <a:ea typeface="Consolas"/>
                          <a:cs typeface="Consolas"/>
                          <a:sym typeface="Consolas"/>
                        </a:rPr>
                        <a:t>pop_city = </a:t>
                      </a:r>
                      <a:r>
                        <a:rPr lang="pt-BR" sz="1050">
                          <a:solidFill>
                            <a:srgbClr val="986801"/>
                          </a:solidFill>
                          <a:highlight>
                            <a:srgbClr val="FAFAFA"/>
                          </a:highlight>
                          <a:latin typeface="Consolas"/>
                          <a:ea typeface="Consolas"/>
                          <a:cs typeface="Consolas"/>
                          <a:sym typeface="Consolas"/>
                        </a:rPr>
                        <a:t>10000</a:t>
                      </a:r>
                      <a:br>
                        <a:rPr lang="pt-BR" sz="1050">
                          <a:solidFill>
                            <a:srgbClr val="383A42"/>
                          </a:solidFill>
                          <a:highlight>
                            <a:srgbClr val="FAFAFA"/>
                          </a:highlight>
                          <a:latin typeface="Consolas"/>
                          <a:ea typeface="Consolas"/>
                          <a:cs typeface="Consolas"/>
                          <a:sym typeface="Consolas"/>
                        </a:rPr>
                      </a:br>
                      <a:r>
                        <a:rPr lang="pt-BR" sz="1050">
                          <a:solidFill>
                            <a:srgbClr val="383A42"/>
                          </a:solidFill>
                          <a:highlight>
                            <a:srgbClr val="FAFAFA"/>
                          </a:highlight>
                          <a:latin typeface="Consolas"/>
                          <a:ea typeface="Consolas"/>
                          <a:cs typeface="Consolas"/>
                          <a:sym typeface="Consolas"/>
                        </a:rPr>
                        <a:t>pop_black = </a:t>
                      </a:r>
                      <a:r>
                        <a:rPr lang="pt-BR" sz="1050">
                          <a:solidFill>
                            <a:srgbClr val="986801"/>
                          </a:solidFill>
                          <a:highlight>
                            <a:srgbClr val="FAFAFA"/>
                          </a:highlight>
                          <a:latin typeface="Consolas"/>
                          <a:ea typeface="Consolas"/>
                          <a:cs typeface="Consolas"/>
                          <a:sym typeface="Consolas"/>
                        </a:rPr>
                        <a:t>0.26</a:t>
                      </a:r>
                      <a:br>
                        <a:rPr lang="pt-BR" sz="1050">
                          <a:solidFill>
                            <a:srgbClr val="383A42"/>
                          </a:solidFill>
                          <a:highlight>
                            <a:srgbClr val="FAFAFA"/>
                          </a:highlight>
                          <a:latin typeface="Consolas"/>
                          <a:ea typeface="Consolas"/>
                          <a:cs typeface="Consolas"/>
                          <a:sym typeface="Consolas"/>
                        </a:rPr>
                      </a:br>
                      <a:r>
                        <a:rPr lang="pt-BR" sz="1050">
                          <a:solidFill>
                            <a:srgbClr val="383A42"/>
                          </a:solidFill>
                          <a:highlight>
                            <a:srgbClr val="FAFAFA"/>
                          </a:highlight>
                          <a:latin typeface="Consolas"/>
                          <a:ea typeface="Consolas"/>
                          <a:cs typeface="Consolas"/>
                          <a:sym typeface="Consolas"/>
                        </a:rPr>
                        <a:t>data = np.zeros(shape=pop_city, dtype=</a:t>
                      </a:r>
                      <a:r>
                        <a:rPr lang="pt-BR" sz="1050">
                          <a:solidFill>
                            <a:srgbClr val="50A14F"/>
                          </a:solidFill>
                          <a:highlight>
                            <a:srgbClr val="FAFAFA"/>
                          </a:highlight>
                          <a:latin typeface="Consolas"/>
                          <a:ea typeface="Consolas"/>
                          <a:cs typeface="Consolas"/>
                          <a:sym typeface="Consolas"/>
                        </a:rPr>
                        <a:t>'c'</a:t>
                      </a:r>
                      <a:r>
                        <a:rPr lang="pt-BR" sz="1050">
                          <a:solidFill>
                            <a:srgbClr val="383A42"/>
                          </a:solidFill>
                          <a:highlight>
                            <a:srgbClr val="FAFAFA"/>
                          </a:highlight>
                          <a:latin typeface="Consolas"/>
                          <a:ea typeface="Consolas"/>
                          <a:cs typeface="Consolas"/>
                          <a:sym typeface="Consolas"/>
                        </a:rPr>
                        <a:t>)</a:t>
                      </a:r>
                      <a:br>
                        <a:rPr lang="pt-BR" sz="1050">
                          <a:solidFill>
                            <a:srgbClr val="383A42"/>
                          </a:solidFill>
                          <a:highlight>
                            <a:srgbClr val="FAFAFA"/>
                          </a:highlight>
                          <a:latin typeface="Consolas"/>
                          <a:ea typeface="Consolas"/>
                          <a:cs typeface="Consolas"/>
                          <a:sym typeface="Consolas"/>
                        </a:rPr>
                      </a:br>
                      <a:r>
                        <a:rPr lang="pt-BR" sz="1050">
                          <a:solidFill>
                            <a:srgbClr val="383A42"/>
                          </a:solidFill>
                          <a:highlight>
                            <a:srgbClr val="FAFAFA"/>
                          </a:highlight>
                          <a:latin typeface="Consolas"/>
                          <a:ea typeface="Consolas"/>
                          <a:cs typeface="Consolas"/>
                          <a:sym typeface="Consolas"/>
                        </a:rPr>
                        <a:t>data[:] = </a:t>
                      </a:r>
                      <a:r>
                        <a:rPr lang="pt-BR" sz="1050">
                          <a:solidFill>
                            <a:srgbClr val="50A14F"/>
                          </a:solidFill>
                          <a:highlight>
                            <a:srgbClr val="FAFAFA"/>
                          </a:highlight>
                          <a:latin typeface="Consolas"/>
                          <a:ea typeface="Consolas"/>
                          <a:cs typeface="Consolas"/>
                          <a:sym typeface="Consolas"/>
                        </a:rPr>
                        <a:t>'W'</a:t>
                      </a:r>
                      <a:br>
                        <a:rPr lang="pt-BR" sz="1050">
                          <a:solidFill>
                            <a:srgbClr val="383A42"/>
                          </a:solidFill>
                          <a:highlight>
                            <a:srgbClr val="FAFAFA"/>
                          </a:highlight>
                          <a:latin typeface="Consolas"/>
                          <a:ea typeface="Consolas"/>
                          <a:cs typeface="Consolas"/>
                          <a:sym typeface="Consolas"/>
                        </a:rPr>
                      </a:br>
                      <a:r>
                        <a:rPr lang="pt-BR" sz="1050">
                          <a:solidFill>
                            <a:srgbClr val="383A42"/>
                          </a:solidFill>
                          <a:highlight>
                            <a:srgbClr val="FAFAFA"/>
                          </a:highlight>
                          <a:latin typeface="Consolas"/>
                          <a:ea typeface="Consolas"/>
                          <a:cs typeface="Consolas"/>
                          <a:sym typeface="Consolas"/>
                        </a:rPr>
                        <a:t>data[:int(len(data) * pop_black)] = </a:t>
                      </a:r>
                      <a:r>
                        <a:rPr lang="pt-BR" sz="1050">
                          <a:solidFill>
                            <a:srgbClr val="50A14F"/>
                          </a:solidFill>
                          <a:highlight>
                            <a:srgbClr val="FAFAFA"/>
                          </a:highlight>
                          <a:latin typeface="Consolas"/>
                          <a:ea typeface="Consolas"/>
                          <a:cs typeface="Consolas"/>
                          <a:sym typeface="Consolas"/>
                        </a:rPr>
                        <a:t>'B'</a:t>
                      </a:r>
                      <a:endParaRPr sz="1050">
                        <a:solidFill>
                          <a:srgbClr val="A31515"/>
                        </a:solidFill>
                        <a:latin typeface="Courier New"/>
                        <a:ea typeface="Courier New"/>
                        <a:cs typeface="Courier New"/>
                        <a:sym typeface="Courier New"/>
                      </a:endParaRPr>
                    </a:p>
                  </a:txBody>
                  <a:tcPr marT="63500" marB="63500" marR="63500" marL="63500">
                    <a:solidFill>
                      <a:srgbClr val="FAFAFA"/>
                    </a:solidFill>
                  </a:tcPr>
                </a:tc>
              </a:tr>
            </a:tbl>
          </a:graphicData>
        </a:graphic>
      </p:graphicFrame>
      <p:sp>
        <p:nvSpPr>
          <p:cNvPr id="220" name="Google Shape;220;p36"/>
          <p:cNvSpPr txBox="1"/>
          <p:nvPr/>
        </p:nvSpPr>
        <p:spPr>
          <a:xfrm rot="-331">
            <a:off x="4674278" y="4351760"/>
            <a:ext cx="3114600" cy="49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200">
                <a:solidFill>
                  <a:srgbClr val="980000"/>
                </a:solidFill>
                <a:latin typeface="Permanent Marker"/>
                <a:ea typeface="Permanent Marker"/>
                <a:cs typeface="Permanent Marker"/>
                <a:sym typeface="Permanent Marker"/>
              </a:rPr>
              <a:t>cria um vetor sem nada</a:t>
            </a:r>
            <a:endParaRPr sz="1200">
              <a:solidFill>
                <a:srgbClr val="980000"/>
              </a:solidFill>
              <a:latin typeface="Permanent Marker"/>
              <a:ea typeface="Permanent Marker"/>
              <a:cs typeface="Permanent Marker"/>
              <a:sym typeface="Permanent Marker"/>
            </a:endParaRPr>
          </a:p>
        </p:txBody>
      </p:sp>
      <p:sp>
        <p:nvSpPr>
          <p:cNvPr id="221" name="Google Shape;221;p36"/>
          <p:cNvSpPr/>
          <p:nvPr/>
        </p:nvSpPr>
        <p:spPr>
          <a:xfrm>
            <a:off x="507675" y="4508350"/>
            <a:ext cx="425400" cy="184200"/>
          </a:xfrm>
          <a:prstGeom prst="rightArrow">
            <a:avLst>
              <a:gd fmla="val 50000" name="adj1"/>
              <a:gd fmla="val 50000" name="adj2"/>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7"/>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a:t>Ideia</a:t>
            </a:r>
            <a:endParaRPr/>
          </a:p>
        </p:txBody>
      </p:sp>
      <p:sp>
        <p:nvSpPr>
          <p:cNvPr id="227" name="Google Shape;227;p37"/>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Quando falamos em hipóteses:</a:t>
            </a:r>
            <a:endParaRPr b="1">
              <a:solidFill>
                <a:schemeClr val="dk1"/>
              </a:solidFill>
            </a:endParaRPr>
          </a:p>
          <a:p>
            <a:pPr indent="-317500" lvl="1" marL="914400" rtl="0" algn="l">
              <a:spcBef>
                <a:spcPts val="0"/>
              </a:spcBef>
              <a:spcAft>
                <a:spcPts val="0"/>
              </a:spcAft>
              <a:buClr>
                <a:srgbClr val="990000"/>
              </a:buClr>
              <a:buSzPts val="1400"/>
              <a:buChar char="○"/>
            </a:pPr>
            <a:r>
              <a:rPr b="1" lang="pt-BR">
                <a:solidFill>
                  <a:srgbClr val="990000"/>
                </a:solidFill>
              </a:rPr>
              <a:t>Estamos querendo comparar nossos dados com um modelo aleatório!</a:t>
            </a:r>
            <a:endParaRPr b="1">
              <a:solidFill>
                <a:srgbClr val="990000"/>
              </a:solidFill>
            </a:endParaRPr>
          </a:p>
          <a:p>
            <a:pPr indent="-342900" lvl="0" marL="457200" rtl="0" algn="l">
              <a:spcBef>
                <a:spcPts val="0"/>
              </a:spcBef>
              <a:spcAft>
                <a:spcPts val="0"/>
              </a:spcAft>
              <a:buSzPts val="1800"/>
              <a:buChar char="●"/>
            </a:pPr>
            <a:r>
              <a:rPr lang="pt-BR"/>
              <a:t>Simulação é uma das formas simples de entender estes casos.</a:t>
            </a:r>
            <a:endParaRPr/>
          </a:p>
          <a:p>
            <a:pPr indent="-342900" lvl="0" marL="457200" rtl="0" algn="l">
              <a:spcBef>
                <a:spcPts val="0"/>
              </a:spcBef>
              <a:spcAft>
                <a:spcPts val="0"/>
              </a:spcAft>
              <a:buSzPts val="1800"/>
              <a:buChar char="●"/>
            </a:pPr>
            <a:r>
              <a:rPr lang="pt-BR"/>
              <a:t>Note que a simulação do Bootstrap é a mesma coisa</a:t>
            </a:r>
            <a:endParaRPr/>
          </a:p>
          <a:p>
            <a:pPr indent="-317500" lvl="1" marL="914400" rtl="0" algn="l">
              <a:spcBef>
                <a:spcPts val="0"/>
              </a:spcBef>
              <a:spcAft>
                <a:spcPts val="0"/>
              </a:spcAft>
              <a:buSzPts val="1400"/>
              <a:buChar char="○"/>
            </a:pPr>
            <a:r>
              <a:rPr lang="pt-BR"/>
              <a:t>Amostras aleatórias</a:t>
            </a:r>
            <a:endParaRPr/>
          </a:p>
          <a:p>
            <a:pPr indent="-317500" lvl="1" marL="914400" rtl="0" algn="l">
              <a:spcBef>
                <a:spcPts val="0"/>
              </a:spcBef>
              <a:spcAft>
                <a:spcPts val="0"/>
              </a:spcAft>
              <a:buClr>
                <a:srgbClr val="980000"/>
              </a:buClr>
              <a:buSzPts val="1400"/>
              <a:buChar char="○"/>
            </a:pPr>
            <a:r>
              <a:rPr b="1" lang="pt-BR">
                <a:solidFill>
                  <a:srgbClr val="980000"/>
                </a:solidFill>
              </a:rPr>
              <a:t>Só que aqui podemos simular a população!</a:t>
            </a:r>
            <a:endParaRPr b="1">
              <a:solidFill>
                <a:srgbClr val="980000"/>
              </a:solidFill>
            </a:endParaRPr>
          </a:p>
        </p:txBody>
      </p:sp>
      <p:sp>
        <p:nvSpPr>
          <p:cNvPr id="228" name="Google Shape;228;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229" name="Google Shape;229;p37"/>
          <p:cNvSpPr txBox="1"/>
          <p:nvPr/>
        </p:nvSpPr>
        <p:spPr>
          <a:xfrm>
            <a:off x="133225" y="2827075"/>
            <a:ext cx="4262700" cy="49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População</a:t>
            </a:r>
            <a:endParaRPr/>
          </a:p>
        </p:txBody>
      </p:sp>
      <p:grpSp>
        <p:nvGrpSpPr>
          <p:cNvPr id="230" name="Google Shape;230;p37"/>
          <p:cNvGrpSpPr/>
          <p:nvPr/>
        </p:nvGrpSpPr>
        <p:grpSpPr>
          <a:xfrm>
            <a:off x="2" y="3248950"/>
            <a:ext cx="9143927" cy="572700"/>
            <a:chOff x="2" y="3248950"/>
            <a:chExt cx="9143927" cy="572700"/>
          </a:xfrm>
        </p:grpSpPr>
        <p:sp>
          <p:nvSpPr>
            <p:cNvPr id="231" name="Google Shape;231;p37"/>
            <p:cNvSpPr/>
            <p:nvPr/>
          </p:nvSpPr>
          <p:spPr>
            <a:xfrm>
              <a:off x="4373217" y="3248950"/>
              <a:ext cx="3975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2CC"/>
                  </a:solidFill>
                  <a:latin typeface="Roboto Light"/>
                  <a:ea typeface="Roboto Light"/>
                  <a:cs typeface="Roboto Light"/>
                  <a:sym typeface="Roboto Light"/>
                </a:rPr>
                <a:t>W</a:t>
              </a:r>
              <a:endParaRPr>
                <a:solidFill>
                  <a:srgbClr val="FFF2CC"/>
                </a:solidFill>
                <a:latin typeface="Roboto Light"/>
                <a:ea typeface="Roboto Light"/>
                <a:cs typeface="Roboto Light"/>
                <a:sym typeface="Roboto Light"/>
              </a:endParaRPr>
            </a:p>
          </p:txBody>
        </p:sp>
        <p:grpSp>
          <p:nvGrpSpPr>
            <p:cNvPr id="232" name="Google Shape;232;p37"/>
            <p:cNvGrpSpPr/>
            <p:nvPr/>
          </p:nvGrpSpPr>
          <p:grpSpPr>
            <a:xfrm>
              <a:off x="2" y="3248950"/>
              <a:ext cx="9143927" cy="572700"/>
              <a:chOff x="-223200" y="1065725"/>
              <a:chExt cx="9190800" cy="572700"/>
            </a:xfrm>
          </p:grpSpPr>
          <p:sp>
            <p:nvSpPr>
              <p:cNvPr id="233" name="Google Shape;233;p37"/>
              <p:cNvSpPr/>
              <p:nvPr/>
            </p:nvSpPr>
            <p:spPr>
              <a:xfrm>
                <a:off x="-2232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rgbClr val="FFF2CC"/>
                    </a:solidFill>
                    <a:latin typeface="Roboto"/>
                    <a:ea typeface="Roboto"/>
                    <a:cs typeface="Roboto"/>
                    <a:sym typeface="Roboto"/>
                  </a:rPr>
                  <a:t>B</a:t>
                </a:r>
                <a:endParaRPr b="1">
                  <a:solidFill>
                    <a:srgbClr val="FFF2CC"/>
                  </a:solidFill>
                  <a:latin typeface="Roboto"/>
                  <a:ea typeface="Roboto"/>
                  <a:cs typeface="Roboto"/>
                  <a:sym typeface="Roboto"/>
                </a:endParaRPr>
              </a:p>
            </p:txBody>
          </p:sp>
          <p:sp>
            <p:nvSpPr>
              <p:cNvPr id="234" name="Google Shape;234;p37"/>
              <p:cNvSpPr/>
              <p:nvPr/>
            </p:nvSpPr>
            <p:spPr>
              <a:xfrm>
                <a:off x="1764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rgbClr val="FFF2CC"/>
                    </a:solidFill>
                    <a:latin typeface="Roboto"/>
                    <a:ea typeface="Roboto"/>
                    <a:cs typeface="Roboto"/>
                    <a:sym typeface="Roboto"/>
                  </a:rPr>
                  <a:t>B</a:t>
                </a:r>
                <a:endParaRPr b="1">
                  <a:solidFill>
                    <a:srgbClr val="FFF2CC"/>
                  </a:solidFill>
                  <a:latin typeface="Roboto"/>
                  <a:ea typeface="Roboto"/>
                  <a:cs typeface="Roboto"/>
                  <a:sym typeface="Roboto"/>
                </a:endParaRPr>
              </a:p>
            </p:txBody>
          </p:sp>
          <p:sp>
            <p:nvSpPr>
              <p:cNvPr id="235" name="Google Shape;235;p37"/>
              <p:cNvSpPr/>
              <p:nvPr/>
            </p:nvSpPr>
            <p:spPr>
              <a:xfrm>
                <a:off x="5760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rgbClr val="FFF2CC"/>
                    </a:solidFill>
                    <a:latin typeface="Roboto"/>
                    <a:ea typeface="Roboto"/>
                    <a:cs typeface="Roboto"/>
                    <a:sym typeface="Roboto"/>
                  </a:rPr>
                  <a:t>B</a:t>
                </a:r>
                <a:endParaRPr b="1">
                  <a:solidFill>
                    <a:srgbClr val="FFF2CC"/>
                  </a:solidFill>
                  <a:latin typeface="Roboto"/>
                  <a:ea typeface="Roboto"/>
                  <a:cs typeface="Roboto"/>
                  <a:sym typeface="Roboto"/>
                </a:endParaRPr>
              </a:p>
            </p:txBody>
          </p:sp>
          <p:sp>
            <p:nvSpPr>
              <p:cNvPr id="236" name="Google Shape;236;p37"/>
              <p:cNvSpPr/>
              <p:nvPr/>
            </p:nvSpPr>
            <p:spPr>
              <a:xfrm>
                <a:off x="9756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rgbClr val="FFF2CC"/>
                    </a:solidFill>
                    <a:latin typeface="Roboto"/>
                    <a:ea typeface="Roboto"/>
                    <a:cs typeface="Roboto"/>
                    <a:sym typeface="Roboto"/>
                  </a:rPr>
                  <a:t>B</a:t>
                </a:r>
                <a:endParaRPr b="1">
                  <a:solidFill>
                    <a:srgbClr val="FFF2CC"/>
                  </a:solidFill>
                  <a:latin typeface="Roboto"/>
                  <a:ea typeface="Roboto"/>
                  <a:cs typeface="Roboto"/>
                  <a:sym typeface="Roboto"/>
                </a:endParaRPr>
              </a:p>
            </p:txBody>
          </p:sp>
          <p:sp>
            <p:nvSpPr>
              <p:cNvPr id="237" name="Google Shape;237;p37"/>
              <p:cNvSpPr/>
              <p:nvPr/>
            </p:nvSpPr>
            <p:spPr>
              <a:xfrm>
                <a:off x="13752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rgbClr val="FFF2CC"/>
                    </a:solidFill>
                    <a:latin typeface="Roboto"/>
                    <a:ea typeface="Roboto"/>
                    <a:cs typeface="Roboto"/>
                    <a:sym typeface="Roboto"/>
                  </a:rPr>
                  <a:t>B</a:t>
                </a:r>
                <a:endParaRPr b="1">
                  <a:solidFill>
                    <a:srgbClr val="FFF2CC"/>
                  </a:solidFill>
                  <a:latin typeface="Roboto"/>
                  <a:ea typeface="Roboto"/>
                  <a:cs typeface="Roboto"/>
                  <a:sym typeface="Roboto"/>
                </a:endParaRPr>
              </a:p>
            </p:txBody>
          </p:sp>
          <p:sp>
            <p:nvSpPr>
              <p:cNvPr id="238" name="Google Shape;238;p37"/>
              <p:cNvSpPr/>
              <p:nvPr/>
            </p:nvSpPr>
            <p:spPr>
              <a:xfrm>
                <a:off x="17748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rgbClr val="FFF2CC"/>
                    </a:solidFill>
                    <a:latin typeface="Roboto"/>
                    <a:ea typeface="Roboto"/>
                    <a:cs typeface="Roboto"/>
                    <a:sym typeface="Roboto"/>
                  </a:rPr>
                  <a:t>B</a:t>
                </a:r>
                <a:endParaRPr b="1">
                  <a:solidFill>
                    <a:srgbClr val="FFF2CC"/>
                  </a:solidFill>
                  <a:latin typeface="Roboto"/>
                  <a:ea typeface="Roboto"/>
                  <a:cs typeface="Roboto"/>
                  <a:sym typeface="Roboto"/>
                </a:endParaRPr>
              </a:p>
            </p:txBody>
          </p:sp>
          <p:sp>
            <p:nvSpPr>
              <p:cNvPr id="239" name="Google Shape;239;p37"/>
              <p:cNvSpPr/>
              <p:nvPr/>
            </p:nvSpPr>
            <p:spPr>
              <a:xfrm>
                <a:off x="21744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rgbClr val="FFF2CC"/>
                    </a:solidFill>
                    <a:latin typeface="Roboto"/>
                    <a:ea typeface="Roboto"/>
                    <a:cs typeface="Roboto"/>
                    <a:sym typeface="Roboto"/>
                  </a:rPr>
                  <a:t>B</a:t>
                </a:r>
                <a:endParaRPr b="1">
                  <a:solidFill>
                    <a:srgbClr val="FFF2CC"/>
                  </a:solidFill>
                  <a:latin typeface="Roboto"/>
                  <a:ea typeface="Roboto"/>
                  <a:cs typeface="Roboto"/>
                  <a:sym typeface="Roboto"/>
                </a:endParaRPr>
              </a:p>
            </p:txBody>
          </p:sp>
          <p:sp>
            <p:nvSpPr>
              <p:cNvPr id="240" name="Google Shape;240;p37"/>
              <p:cNvSpPr/>
              <p:nvPr/>
            </p:nvSpPr>
            <p:spPr>
              <a:xfrm>
                <a:off x="25740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2CC"/>
                    </a:solidFill>
                    <a:latin typeface="Roboto Light"/>
                    <a:ea typeface="Roboto Light"/>
                    <a:cs typeface="Roboto Light"/>
                    <a:sym typeface="Roboto Light"/>
                  </a:rPr>
                  <a:t>W</a:t>
                </a:r>
                <a:endParaRPr>
                  <a:solidFill>
                    <a:srgbClr val="FFF2CC"/>
                  </a:solidFill>
                  <a:latin typeface="Roboto Light"/>
                  <a:ea typeface="Roboto Light"/>
                  <a:cs typeface="Roboto Light"/>
                  <a:sym typeface="Roboto Light"/>
                </a:endParaRPr>
              </a:p>
            </p:txBody>
          </p:sp>
          <p:sp>
            <p:nvSpPr>
              <p:cNvPr id="241" name="Google Shape;241;p37"/>
              <p:cNvSpPr/>
              <p:nvPr/>
            </p:nvSpPr>
            <p:spPr>
              <a:xfrm>
                <a:off x="29736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2CC"/>
                    </a:solidFill>
                    <a:latin typeface="Roboto Light"/>
                    <a:ea typeface="Roboto Light"/>
                    <a:cs typeface="Roboto Light"/>
                    <a:sym typeface="Roboto Light"/>
                  </a:rPr>
                  <a:t>W</a:t>
                </a:r>
                <a:endParaRPr>
                  <a:solidFill>
                    <a:srgbClr val="FFF2CC"/>
                  </a:solidFill>
                  <a:latin typeface="Roboto Light"/>
                  <a:ea typeface="Roboto Light"/>
                  <a:cs typeface="Roboto Light"/>
                  <a:sym typeface="Roboto Light"/>
                </a:endParaRPr>
              </a:p>
            </p:txBody>
          </p:sp>
          <p:sp>
            <p:nvSpPr>
              <p:cNvPr id="242" name="Google Shape;242;p37"/>
              <p:cNvSpPr/>
              <p:nvPr/>
            </p:nvSpPr>
            <p:spPr>
              <a:xfrm>
                <a:off x="33732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2CC"/>
                    </a:solidFill>
                    <a:latin typeface="Roboto Light"/>
                    <a:ea typeface="Roboto Light"/>
                    <a:cs typeface="Roboto Light"/>
                    <a:sym typeface="Roboto Light"/>
                  </a:rPr>
                  <a:t>W</a:t>
                </a:r>
                <a:endParaRPr>
                  <a:solidFill>
                    <a:srgbClr val="FFF2CC"/>
                  </a:solidFill>
                  <a:latin typeface="Roboto Light"/>
                  <a:ea typeface="Roboto Light"/>
                  <a:cs typeface="Roboto Light"/>
                  <a:sym typeface="Roboto Light"/>
                </a:endParaRPr>
              </a:p>
            </p:txBody>
          </p:sp>
          <p:sp>
            <p:nvSpPr>
              <p:cNvPr id="243" name="Google Shape;243;p37"/>
              <p:cNvSpPr/>
              <p:nvPr/>
            </p:nvSpPr>
            <p:spPr>
              <a:xfrm>
                <a:off x="37728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2CC"/>
                    </a:solidFill>
                    <a:latin typeface="Roboto Light"/>
                    <a:ea typeface="Roboto Light"/>
                    <a:cs typeface="Roboto Light"/>
                    <a:sym typeface="Roboto Light"/>
                  </a:rPr>
                  <a:t>W</a:t>
                </a:r>
                <a:endParaRPr>
                  <a:solidFill>
                    <a:srgbClr val="FFF2CC"/>
                  </a:solidFill>
                  <a:latin typeface="Roboto Light"/>
                  <a:ea typeface="Roboto Light"/>
                  <a:cs typeface="Roboto Light"/>
                  <a:sym typeface="Roboto Light"/>
                </a:endParaRPr>
              </a:p>
            </p:txBody>
          </p:sp>
          <p:sp>
            <p:nvSpPr>
              <p:cNvPr id="244" name="Google Shape;244;p37"/>
              <p:cNvSpPr/>
              <p:nvPr/>
            </p:nvSpPr>
            <p:spPr>
              <a:xfrm>
                <a:off x="45720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2CC"/>
                    </a:solidFill>
                    <a:latin typeface="Roboto Light"/>
                    <a:ea typeface="Roboto Light"/>
                    <a:cs typeface="Roboto Light"/>
                    <a:sym typeface="Roboto Light"/>
                  </a:rPr>
                  <a:t>W</a:t>
                </a:r>
                <a:endParaRPr>
                  <a:solidFill>
                    <a:srgbClr val="FFF2CC"/>
                  </a:solidFill>
                  <a:latin typeface="Roboto Light"/>
                  <a:ea typeface="Roboto Light"/>
                  <a:cs typeface="Roboto Light"/>
                  <a:sym typeface="Roboto Light"/>
                </a:endParaRPr>
              </a:p>
            </p:txBody>
          </p:sp>
          <p:sp>
            <p:nvSpPr>
              <p:cNvPr id="245" name="Google Shape;245;p37"/>
              <p:cNvSpPr/>
              <p:nvPr/>
            </p:nvSpPr>
            <p:spPr>
              <a:xfrm>
                <a:off x="49716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2CC"/>
                    </a:solidFill>
                    <a:latin typeface="Roboto Light"/>
                    <a:ea typeface="Roboto Light"/>
                    <a:cs typeface="Roboto Light"/>
                    <a:sym typeface="Roboto Light"/>
                  </a:rPr>
                  <a:t>W</a:t>
                </a:r>
                <a:endParaRPr>
                  <a:solidFill>
                    <a:srgbClr val="FFF2CC"/>
                  </a:solidFill>
                  <a:latin typeface="Roboto Light"/>
                  <a:ea typeface="Roboto Light"/>
                  <a:cs typeface="Roboto Light"/>
                  <a:sym typeface="Roboto Light"/>
                </a:endParaRPr>
              </a:p>
            </p:txBody>
          </p:sp>
          <p:sp>
            <p:nvSpPr>
              <p:cNvPr id="246" name="Google Shape;246;p37"/>
              <p:cNvSpPr/>
              <p:nvPr/>
            </p:nvSpPr>
            <p:spPr>
              <a:xfrm>
                <a:off x="57708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2CC"/>
                    </a:solidFill>
                    <a:latin typeface="Roboto Light"/>
                    <a:ea typeface="Roboto Light"/>
                    <a:cs typeface="Roboto Light"/>
                    <a:sym typeface="Roboto Light"/>
                  </a:rPr>
                  <a:t>W</a:t>
                </a:r>
                <a:endParaRPr>
                  <a:solidFill>
                    <a:srgbClr val="FFF2CC"/>
                  </a:solidFill>
                  <a:latin typeface="Roboto Light"/>
                  <a:ea typeface="Roboto Light"/>
                  <a:cs typeface="Roboto Light"/>
                  <a:sym typeface="Roboto Light"/>
                </a:endParaRPr>
              </a:p>
            </p:txBody>
          </p:sp>
          <p:sp>
            <p:nvSpPr>
              <p:cNvPr id="247" name="Google Shape;247;p37"/>
              <p:cNvSpPr/>
              <p:nvPr/>
            </p:nvSpPr>
            <p:spPr>
              <a:xfrm>
                <a:off x="61704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2CC"/>
                    </a:solidFill>
                    <a:latin typeface="Roboto Light"/>
                    <a:ea typeface="Roboto Light"/>
                    <a:cs typeface="Roboto Light"/>
                    <a:sym typeface="Roboto Light"/>
                  </a:rPr>
                  <a:t>W</a:t>
                </a:r>
                <a:endParaRPr>
                  <a:solidFill>
                    <a:srgbClr val="FFF2CC"/>
                  </a:solidFill>
                  <a:latin typeface="Roboto Light"/>
                  <a:ea typeface="Roboto Light"/>
                  <a:cs typeface="Roboto Light"/>
                  <a:sym typeface="Roboto Light"/>
                </a:endParaRPr>
              </a:p>
            </p:txBody>
          </p:sp>
          <p:sp>
            <p:nvSpPr>
              <p:cNvPr id="248" name="Google Shape;248;p37"/>
              <p:cNvSpPr/>
              <p:nvPr/>
            </p:nvSpPr>
            <p:spPr>
              <a:xfrm>
                <a:off x="69696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2CC"/>
                    </a:solidFill>
                    <a:latin typeface="Roboto Light"/>
                    <a:ea typeface="Roboto Light"/>
                    <a:cs typeface="Roboto Light"/>
                    <a:sym typeface="Roboto Light"/>
                  </a:rPr>
                  <a:t>W</a:t>
                </a:r>
                <a:endParaRPr>
                  <a:solidFill>
                    <a:srgbClr val="FFF2CC"/>
                  </a:solidFill>
                  <a:latin typeface="Roboto Light"/>
                  <a:ea typeface="Roboto Light"/>
                  <a:cs typeface="Roboto Light"/>
                  <a:sym typeface="Roboto Light"/>
                </a:endParaRPr>
              </a:p>
            </p:txBody>
          </p:sp>
          <p:sp>
            <p:nvSpPr>
              <p:cNvPr id="249" name="Google Shape;249;p37"/>
              <p:cNvSpPr/>
              <p:nvPr/>
            </p:nvSpPr>
            <p:spPr>
              <a:xfrm>
                <a:off x="77688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2CC"/>
                    </a:solidFill>
                    <a:latin typeface="Roboto Light"/>
                    <a:ea typeface="Roboto Light"/>
                    <a:cs typeface="Roboto Light"/>
                    <a:sym typeface="Roboto Light"/>
                  </a:rPr>
                  <a:t>W</a:t>
                </a:r>
                <a:endParaRPr>
                  <a:solidFill>
                    <a:srgbClr val="FFF2CC"/>
                  </a:solidFill>
                  <a:latin typeface="Roboto Light"/>
                  <a:ea typeface="Roboto Light"/>
                  <a:cs typeface="Roboto Light"/>
                  <a:sym typeface="Roboto Light"/>
                </a:endParaRPr>
              </a:p>
            </p:txBody>
          </p:sp>
          <p:sp>
            <p:nvSpPr>
              <p:cNvPr id="250" name="Google Shape;250;p37"/>
              <p:cNvSpPr/>
              <p:nvPr/>
            </p:nvSpPr>
            <p:spPr>
              <a:xfrm>
                <a:off x="81684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2CC"/>
                    </a:solidFill>
                    <a:latin typeface="Roboto Light"/>
                    <a:ea typeface="Roboto Light"/>
                    <a:cs typeface="Roboto Light"/>
                    <a:sym typeface="Roboto Light"/>
                  </a:rPr>
                  <a:t>W</a:t>
                </a:r>
                <a:endParaRPr>
                  <a:solidFill>
                    <a:srgbClr val="FFF2CC"/>
                  </a:solidFill>
                  <a:latin typeface="Roboto Light"/>
                  <a:ea typeface="Roboto Light"/>
                  <a:cs typeface="Roboto Light"/>
                  <a:sym typeface="Roboto Light"/>
                </a:endParaRPr>
              </a:p>
            </p:txBody>
          </p:sp>
          <p:sp>
            <p:nvSpPr>
              <p:cNvPr id="251" name="Google Shape;251;p37"/>
              <p:cNvSpPr/>
              <p:nvPr/>
            </p:nvSpPr>
            <p:spPr>
              <a:xfrm>
                <a:off x="85680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2CC"/>
                    </a:solidFill>
                    <a:latin typeface="Roboto Light"/>
                    <a:ea typeface="Roboto Light"/>
                    <a:cs typeface="Roboto Light"/>
                    <a:sym typeface="Roboto Light"/>
                  </a:rPr>
                  <a:t>W</a:t>
                </a:r>
                <a:endParaRPr>
                  <a:solidFill>
                    <a:srgbClr val="FFF2CC"/>
                  </a:solidFill>
                  <a:latin typeface="Roboto Light"/>
                  <a:ea typeface="Roboto Light"/>
                  <a:cs typeface="Roboto Light"/>
                  <a:sym typeface="Roboto Light"/>
                </a:endParaRPr>
              </a:p>
            </p:txBody>
          </p:sp>
          <p:sp>
            <p:nvSpPr>
              <p:cNvPr id="252" name="Google Shape;252;p37"/>
              <p:cNvSpPr/>
              <p:nvPr/>
            </p:nvSpPr>
            <p:spPr>
              <a:xfrm>
                <a:off x="73692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2CC"/>
                    </a:solidFill>
                    <a:latin typeface="Roboto Light"/>
                    <a:ea typeface="Roboto Light"/>
                    <a:cs typeface="Roboto Light"/>
                    <a:sym typeface="Roboto Light"/>
                  </a:rPr>
                  <a:t>W</a:t>
                </a:r>
                <a:endParaRPr>
                  <a:solidFill>
                    <a:srgbClr val="FFF2CC"/>
                  </a:solidFill>
                  <a:latin typeface="Roboto Light"/>
                  <a:ea typeface="Roboto Light"/>
                  <a:cs typeface="Roboto Light"/>
                  <a:sym typeface="Roboto Light"/>
                </a:endParaRPr>
              </a:p>
            </p:txBody>
          </p:sp>
          <p:sp>
            <p:nvSpPr>
              <p:cNvPr id="253" name="Google Shape;253;p37"/>
              <p:cNvSpPr/>
              <p:nvPr/>
            </p:nvSpPr>
            <p:spPr>
              <a:xfrm>
                <a:off x="65700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2CC"/>
                    </a:solidFill>
                    <a:latin typeface="Roboto Light"/>
                    <a:ea typeface="Roboto Light"/>
                    <a:cs typeface="Roboto Light"/>
                    <a:sym typeface="Roboto Light"/>
                  </a:rPr>
                  <a:t>W</a:t>
                </a:r>
                <a:endParaRPr>
                  <a:solidFill>
                    <a:srgbClr val="FFF2CC"/>
                  </a:solidFill>
                  <a:latin typeface="Roboto Light"/>
                  <a:ea typeface="Roboto Light"/>
                  <a:cs typeface="Roboto Light"/>
                  <a:sym typeface="Roboto Light"/>
                </a:endParaRPr>
              </a:p>
            </p:txBody>
          </p:sp>
          <p:sp>
            <p:nvSpPr>
              <p:cNvPr id="254" name="Google Shape;254;p37"/>
              <p:cNvSpPr/>
              <p:nvPr/>
            </p:nvSpPr>
            <p:spPr>
              <a:xfrm>
                <a:off x="53712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rgbClr val="FFF2CC"/>
                    </a:solidFill>
                    <a:latin typeface="Roboto Light"/>
                    <a:ea typeface="Roboto Light"/>
                    <a:cs typeface="Roboto Light"/>
                    <a:sym typeface="Roboto Light"/>
                  </a:rPr>
                  <a:t>W</a:t>
                </a:r>
                <a:endParaRPr>
                  <a:solidFill>
                    <a:srgbClr val="FFF2CC"/>
                  </a:solidFill>
                  <a:latin typeface="Roboto Light"/>
                  <a:ea typeface="Roboto Light"/>
                  <a:cs typeface="Roboto Light"/>
                  <a:sym typeface="Roboto Light"/>
                </a:endParaRPr>
              </a:p>
            </p:txBody>
          </p:sp>
        </p:grpSp>
      </p:grpSp>
      <p:graphicFrame>
        <p:nvGraphicFramePr>
          <p:cNvPr id="255" name="Google Shape;255;p37"/>
          <p:cNvGraphicFramePr/>
          <p:nvPr/>
        </p:nvGraphicFramePr>
        <p:xfrm>
          <a:off x="933075" y="3895650"/>
          <a:ext cx="3000000" cy="3000000"/>
        </p:xfrm>
        <a:graphic>
          <a:graphicData uri="http://schemas.openxmlformats.org/drawingml/2006/table">
            <a:tbl>
              <a:tblPr>
                <a:noFill/>
                <a:tableStyleId>{E6F389CA-A1F8-429B-937D-27BCD03C1D14}</a:tableStyleId>
              </a:tblPr>
              <a:tblGrid>
                <a:gridCol w="3462850"/>
              </a:tblGrid>
              <a:tr h="12700">
                <a:tc>
                  <a:txBody>
                    <a:bodyPr/>
                    <a:lstStyle/>
                    <a:p>
                      <a:pPr indent="0" lvl="0" marL="0" rtl="0" algn="l">
                        <a:lnSpc>
                          <a:spcPct val="115000"/>
                        </a:lnSpc>
                        <a:spcBef>
                          <a:spcPts val="0"/>
                        </a:spcBef>
                        <a:spcAft>
                          <a:spcPts val="0"/>
                        </a:spcAft>
                        <a:buNone/>
                      </a:pPr>
                      <a:r>
                        <a:rPr lang="pt-BR" sz="1050">
                          <a:solidFill>
                            <a:srgbClr val="A626A4"/>
                          </a:solidFill>
                          <a:highlight>
                            <a:srgbClr val="FAFAFA"/>
                          </a:highlight>
                          <a:latin typeface="Consolas"/>
                          <a:ea typeface="Consolas"/>
                          <a:cs typeface="Consolas"/>
                          <a:sym typeface="Consolas"/>
                        </a:rPr>
                        <a:t>import</a:t>
                      </a:r>
                      <a:r>
                        <a:rPr lang="pt-BR" sz="1050">
                          <a:solidFill>
                            <a:srgbClr val="383A42"/>
                          </a:solidFill>
                          <a:highlight>
                            <a:srgbClr val="FAFAFA"/>
                          </a:highlight>
                          <a:latin typeface="Consolas"/>
                          <a:ea typeface="Consolas"/>
                          <a:cs typeface="Consolas"/>
                          <a:sym typeface="Consolas"/>
                        </a:rPr>
                        <a:t> numpy </a:t>
                      </a:r>
                      <a:r>
                        <a:rPr lang="pt-BR" sz="1050">
                          <a:solidFill>
                            <a:srgbClr val="A626A4"/>
                          </a:solidFill>
                          <a:highlight>
                            <a:srgbClr val="FAFAFA"/>
                          </a:highlight>
                          <a:latin typeface="Consolas"/>
                          <a:ea typeface="Consolas"/>
                          <a:cs typeface="Consolas"/>
                          <a:sym typeface="Consolas"/>
                        </a:rPr>
                        <a:t>as</a:t>
                      </a:r>
                      <a:r>
                        <a:rPr lang="pt-BR" sz="1050">
                          <a:solidFill>
                            <a:srgbClr val="383A42"/>
                          </a:solidFill>
                          <a:highlight>
                            <a:srgbClr val="FAFAFA"/>
                          </a:highlight>
                          <a:latin typeface="Consolas"/>
                          <a:ea typeface="Consolas"/>
                          <a:cs typeface="Consolas"/>
                          <a:sym typeface="Consolas"/>
                        </a:rPr>
                        <a:t> np</a:t>
                      </a:r>
                      <a:br>
                        <a:rPr lang="pt-BR" sz="1050">
                          <a:solidFill>
                            <a:srgbClr val="383A42"/>
                          </a:solidFill>
                          <a:highlight>
                            <a:srgbClr val="FAFAFA"/>
                          </a:highlight>
                          <a:latin typeface="Consolas"/>
                          <a:ea typeface="Consolas"/>
                          <a:cs typeface="Consolas"/>
                          <a:sym typeface="Consolas"/>
                        </a:rPr>
                      </a:br>
                      <a:r>
                        <a:rPr lang="pt-BR" sz="1050">
                          <a:solidFill>
                            <a:srgbClr val="383A42"/>
                          </a:solidFill>
                          <a:highlight>
                            <a:srgbClr val="FAFAFA"/>
                          </a:highlight>
                          <a:latin typeface="Consolas"/>
                          <a:ea typeface="Consolas"/>
                          <a:cs typeface="Consolas"/>
                          <a:sym typeface="Consolas"/>
                        </a:rPr>
                        <a:t>pop_city = </a:t>
                      </a:r>
                      <a:r>
                        <a:rPr lang="pt-BR" sz="1050">
                          <a:solidFill>
                            <a:srgbClr val="986801"/>
                          </a:solidFill>
                          <a:highlight>
                            <a:srgbClr val="FAFAFA"/>
                          </a:highlight>
                          <a:latin typeface="Consolas"/>
                          <a:ea typeface="Consolas"/>
                          <a:cs typeface="Consolas"/>
                          <a:sym typeface="Consolas"/>
                        </a:rPr>
                        <a:t>10000</a:t>
                      </a:r>
                      <a:br>
                        <a:rPr lang="pt-BR" sz="1050">
                          <a:solidFill>
                            <a:srgbClr val="383A42"/>
                          </a:solidFill>
                          <a:highlight>
                            <a:srgbClr val="FAFAFA"/>
                          </a:highlight>
                          <a:latin typeface="Consolas"/>
                          <a:ea typeface="Consolas"/>
                          <a:cs typeface="Consolas"/>
                          <a:sym typeface="Consolas"/>
                        </a:rPr>
                      </a:br>
                      <a:r>
                        <a:rPr lang="pt-BR" sz="1050">
                          <a:solidFill>
                            <a:srgbClr val="383A42"/>
                          </a:solidFill>
                          <a:highlight>
                            <a:srgbClr val="FAFAFA"/>
                          </a:highlight>
                          <a:latin typeface="Consolas"/>
                          <a:ea typeface="Consolas"/>
                          <a:cs typeface="Consolas"/>
                          <a:sym typeface="Consolas"/>
                        </a:rPr>
                        <a:t>pop_black = </a:t>
                      </a:r>
                      <a:r>
                        <a:rPr lang="pt-BR" sz="1050">
                          <a:solidFill>
                            <a:srgbClr val="986801"/>
                          </a:solidFill>
                          <a:highlight>
                            <a:srgbClr val="FAFAFA"/>
                          </a:highlight>
                          <a:latin typeface="Consolas"/>
                          <a:ea typeface="Consolas"/>
                          <a:cs typeface="Consolas"/>
                          <a:sym typeface="Consolas"/>
                        </a:rPr>
                        <a:t>0.26</a:t>
                      </a:r>
                      <a:br>
                        <a:rPr lang="pt-BR" sz="1050">
                          <a:solidFill>
                            <a:srgbClr val="383A42"/>
                          </a:solidFill>
                          <a:highlight>
                            <a:srgbClr val="FAFAFA"/>
                          </a:highlight>
                          <a:latin typeface="Consolas"/>
                          <a:ea typeface="Consolas"/>
                          <a:cs typeface="Consolas"/>
                          <a:sym typeface="Consolas"/>
                        </a:rPr>
                      </a:br>
                      <a:r>
                        <a:rPr lang="pt-BR" sz="1050">
                          <a:solidFill>
                            <a:srgbClr val="383A42"/>
                          </a:solidFill>
                          <a:highlight>
                            <a:srgbClr val="FAFAFA"/>
                          </a:highlight>
                          <a:latin typeface="Consolas"/>
                          <a:ea typeface="Consolas"/>
                          <a:cs typeface="Consolas"/>
                          <a:sym typeface="Consolas"/>
                        </a:rPr>
                        <a:t>data = np.zeros(shape=pop_city, dtype=</a:t>
                      </a:r>
                      <a:r>
                        <a:rPr lang="pt-BR" sz="1050">
                          <a:solidFill>
                            <a:srgbClr val="50A14F"/>
                          </a:solidFill>
                          <a:highlight>
                            <a:srgbClr val="FAFAFA"/>
                          </a:highlight>
                          <a:latin typeface="Consolas"/>
                          <a:ea typeface="Consolas"/>
                          <a:cs typeface="Consolas"/>
                          <a:sym typeface="Consolas"/>
                        </a:rPr>
                        <a:t>'c'</a:t>
                      </a:r>
                      <a:r>
                        <a:rPr lang="pt-BR" sz="1050">
                          <a:solidFill>
                            <a:srgbClr val="383A42"/>
                          </a:solidFill>
                          <a:highlight>
                            <a:srgbClr val="FAFAFA"/>
                          </a:highlight>
                          <a:latin typeface="Consolas"/>
                          <a:ea typeface="Consolas"/>
                          <a:cs typeface="Consolas"/>
                          <a:sym typeface="Consolas"/>
                        </a:rPr>
                        <a:t>)</a:t>
                      </a:r>
                      <a:br>
                        <a:rPr lang="pt-BR" sz="1050">
                          <a:solidFill>
                            <a:srgbClr val="383A42"/>
                          </a:solidFill>
                          <a:highlight>
                            <a:srgbClr val="FAFAFA"/>
                          </a:highlight>
                          <a:latin typeface="Consolas"/>
                          <a:ea typeface="Consolas"/>
                          <a:cs typeface="Consolas"/>
                          <a:sym typeface="Consolas"/>
                        </a:rPr>
                      </a:br>
                      <a:r>
                        <a:rPr lang="pt-BR" sz="1050">
                          <a:solidFill>
                            <a:srgbClr val="383A42"/>
                          </a:solidFill>
                          <a:highlight>
                            <a:srgbClr val="FAFAFA"/>
                          </a:highlight>
                          <a:latin typeface="Consolas"/>
                          <a:ea typeface="Consolas"/>
                          <a:cs typeface="Consolas"/>
                          <a:sym typeface="Consolas"/>
                        </a:rPr>
                        <a:t>data[:] = </a:t>
                      </a:r>
                      <a:r>
                        <a:rPr lang="pt-BR" sz="1050">
                          <a:solidFill>
                            <a:srgbClr val="50A14F"/>
                          </a:solidFill>
                          <a:highlight>
                            <a:srgbClr val="FAFAFA"/>
                          </a:highlight>
                          <a:latin typeface="Consolas"/>
                          <a:ea typeface="Consolas"/>
                          <a:cs typeface="Consolas"/>
                          <a:sym typeface="Consolas"/>
                        </a:rPr>
                        <a:t>'W'</a:t>
                      </a:r>
                      <a:br>
                        <a:rPr lang="pt-BR" sz="1050">
                          <a:solidFill>
                            <a:srgbClr val="383A42"/>
                          </a:solidFill>
                          <a:highlight>
                            <a:srgbClr val="FAFAFA"/>
                          </a:highlight>
                          <a:latin typeface="Consolas"/>
                          <a:ea typeface="Consolas"/>
                          <a:cs typeface="Consolas"/>
                          <a:sym typeface="Consolas"/>
                        </a:rPr>
                      </a:br>
                      <a:r>
                        <a:rPr lang="pt-BR" sz="1050">
                          <a:solidFill>
                            <a:srgbClr val="383A42"/>
                          </a:solidFill>
                          <a:highlight>
                            <a:srgbClr val="FAFAFA"/>
                          </a:highlight>
                          <a:latin typeface="Consolas"/>
                          <a:ea typeface="Consolas"/>
                          <a:cs typeface="Consolas"/>
                          <a:sym typeface="Consolas"/>
                        </a:rPr>
                        <a:t>data[:int(len(data) * pop_black)] = </a:t>
                      </a:r>
                      <a:r>
                        <a:rPr lang="pt-BR" sz="1050">
                          <a:solidFill>
                            <a:srgbClr val="50A14F"/>
                          </a:solidFill>
                          <a:highlight>
                            <a:srgbClr val="FAFAFA"/>
                          </a:highlight>
                          <a:latin typeface="Consolas"/>
                          <a:ea typeface="Consolas"/>
                          <a:cs typeface="Consolas"/>
                          <a:sym typeface="Consolas"/>
                        </a:rPr>
                        <a:t>'B'</a:t>
                      </a:r>
                      <a:endParaRPr sz="1050">
                        <a:solidFill>
                          <a:srgbClr val="A31515"/>
                        </a:solidFill>
                        <a:latin typeface="Courier New"/>
                        <a:ea typeface="Courier New"/>
                        <a:cs typeface="Courier New"/>
                        <a:sym typeface="Courier New"/>
                      </a:endParaRPr>
                    </a:p>
                  </a:txBody>
                  <a:tcPr marT="63500" marB="63500" marR="63500" marL="63500">
                    <a:solidFill>
                      <a:srgbClr val="FAFAFA"/>
                    </a:solidFill>
                  </a:tcPr>
                </a:tc>
              </a:tr>
            </a:tbl>
          </a:graphicData>
        </a:graphic>
      </p:graphicFrame>
      <p:sp>
        <p:nvSpPr>
          <p:cNvPr id="256" name="Google Shape;256;p37"/>
          <p:cNvSpPr txBox="1"/>
          <p:nvPr/>
        </p:nvSpPr>
        <p:spPr>
          <a:xfrm rot="-331">
            <a:off x="4674278" y="4351760"/>
            <a:ext cx="3114600" cy="49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200">
                <a:solidFill>
                  <a:srgbClr val="980000"/>
                </a:solidFill>
                <a:latin typeface="Permanent Marker"/>
                <a:ea typeface="Permanent Marker"/>
                <a:cs typeface="Permanent Marker"/>
                <a:sym typeface="Permanent Marker"/>
              </a:rPr>
              <a:t>SETA TODO PARA ‘W’</a:t>
            </a:r>
            <a:endParaRPr sz="1200">
              <a:solidFill>
                <a:srgbClr val="980000"/>
              </a:solidFill>
              <a:latin typeface="Permanent Marker"/>
              <a:ea typeface="Permanent Marker"/>
              <a:cs typeface="Permanent Marker"/>
              <a:sym typeface="Permanent Marker"/>
            </a:endParaRPr>
          </a:p>
        </p:txBody>
      </p:sp>
      <p:sp>
        <p:nvSpPr>
          <p:cNvPr id="257" name="Google Shape;257;p37"/>
          <p:cNvSpPr/>
          <p:nvPr/>
        </p:nvSpPr>
        <p:spPr>
          <a:xfrm>
            <a:off x="507675" y="4663225"/>
            <a:ext cx="425400" cy="184200"/>
          </a:xfrm>
          <a:prstGeom prst="rightArrow">
            <a:avLst>
              <a:gd fmla="val 50000" name="adj1"/>
              <a:gd fmla="val 50000" name="adj2"/>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8"/>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a:t>Ideia</a:t>
            </a:r>
            <a:endParaRPr/>
          </a:p>
        </p:txBody>
      </p:sp>
      <p:sp>
        <p:nvSpPr>
          <p:cNvPr id="263" name="Google Shape;263;p38"/>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Quando falamos em hipóteses:</a:t>
            </a:r>
            <a:endParaRPr b="1">
              <a:solidFill>
                <a:schemeClr val="dk1"/>
              </a:solidFill>
            </a:endParaRPr>
          </a:p>
          <a:p>
            <a:pPr indent="-317500" lvl="1" marL="914400" rtl="0" algn="l">
              <a:spcBef>
                <a:spcPts val="0"/>
              </a:spcBef>
              <a:spcAft>
                <a:spcPts val="0"/>
              </a:spcAft>
              <a:buClr>
                <a:srgbClr val="990000"/>
              </a:buClr>
              <a:buSzPts val="1400"/>
              <a:buChar char="○"/>
            </a:pPr>
            <a:r>
              <a:rPr b="1" lang="pt-BR">
                <a:solidFill>
                  <a:srgbClr val="990000"/>
                </a:solidFill>
              </a:rPr>
              <a:t>Estamos querendo comparar nossos dados com um modelo aleatório!</a:t>
            </a:r>
            <a:endParaRPr b="1">
              <a:solidFill>
                <a:srgbClr val="990000"/>
              </a:solidFill>
            </a:endParaRPr>
          </a:p>
          <a:p>
            <a:pPr indent="-342900" lvl="0" marL="457200" rtl="0" algn="l">
              <a:spcBef>
                <a:spcPts val="0"/>
              </a:spcBef>
              <a:spcAft>
                <a:spcPts val="0"/>
              </a:spcAft>
              <a:buSzPts val="1800"/>
              <a:buChar char="●"/>
            </a:pPr>
            <a:r>
              <a:rPr lang="pt-BR"/>
              <a:t>Simulação é uma das formas simples de entender estes casos.</a:t>
            </a:r>
            <a:endParaRPr/>
          </a:p>
          <a:p>
            <a:pPr indent="-342900" lvl="0" marL="457200" rtl="0" algn="l">
              <a:spcBef>
                <a:spcPts val="0"/>
              </a:spcBef>
              <a:spcAft>
                <a:spcPts val="0"/>
              </a:spcAft>
              <a:buSzPts val="1800"/>
              <a:buChar char="●"/>
            </a:pPr>
            <a:r>
              <a:rPr lang="pt-BR"/>
              <a:t>Note que a simulação do Bootstrap é a mesma coisa</a:t>
            </a:r>
            <a:endParaRPr/>
          </a:p>
          <a:p>
            <a:pPr indent="-317500" lvl="1" marL="914400" rtl="0" algn="l">
              <a:spcBef>
                <a:spcPts val="0"/>
              </a:spcBef>
              <a:spcAft>
                <a:spcPts val="0"/>
              </a:spcAft>
              <a:buSzPts val="1400"/>
              <a:buChar char="○"/>
            </a:pPr>
            <a:r>
              <a:rPr lang="pt-BR"/>
              <a:t>Amostras aleatórias</a:t>
            </a:r>
            <a:endParaRPr/>
          </a:p>
          <a:p>
            <a:pPr indent="-317500" lvl="1" marL="914400" rtl="0" algn="l">
              <a:spcBef>
                <a:spcPts val="0"/>
              </a:spcBef>
              <a:spcAft>
                <a:spcPts val="0"/>
              </a:spcAft>
              <a:buClr>
                <a:srgbClr val="980000"/>
              </a:buClr>
              <a:buSzPts val="1400"/>
              <a:buChar char="○"/>
            </a:pPr>
            <a:r>
              <a:rPr b="1" lang="pt-BR">
                <a:solidFill>
                  <a:srgbClr val="980000"/>
                </a:solidFill>
              </a:rPr>
              <a:t>Só que aqui podemos simular a população!</a:t>
            </a:r>
            <a:endParaRPr b="1">
              <a:solidFill>
                <a:srgbClr val="980000"/>
              </a:solidFill>
            </a:endParaRPr>
          </a:p>
        </p:txBody>
      </p:sp>
      <p:sp>
        <p:nvSpPr>
          <p:cNvPr id="264" name="Google Shape;264;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265" name="Google Shape;265;p38"/>
          <p:cNvSpPr txBox="1"/>
          <p:nvPr/>
        </p:nvSpPr>
        <p:spPr>
          <a:xfrm>
            <a:off x="133225" y="2827075"/>
            <a:ext cx="4262700" cy="49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População</a:t>
            </a:r>
            <a:endParaRPr/>
          </a:p>
        </p:txBody>
      </p:sp>
      <p:grpSp>
        <p:nvGrpSpPr>
          <p:cNvPr id="266" name="Google Shape;266;p38"/>
          <p:cNvGrpSpPr/>
          <p:nvPr/>
        </p:nvGrpSpPr>
        <p:grpSpPr>
          <a:xfrm>
            <a:off x="2" y="3248950"/>
            <a:ext cx="9143927" cy="572700"/>
            <a:chOff x="2" y="3248950"/>
            <a:chExt cx="9143927" cy="572700"/>
          </a:xfrm>
        </p:grpSpPr>
        <p:sp>
          <p:nvSpPr>
            <p:cNvPr id="267" name="Google Shape;267;p38"/>
            <p:cNvSpPr/>
            <p:nvPr/>
          </p:nvSpPr>
          <p:spPr>
            <a:xfrm>
              <a:off x="4373217" y="3248950"/>
              <a:ext cx="3975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dk1"/>
                  </a:solidFill>
                  <a:latin typeface="Roboto Light"/>
                  <a:ea typeface="Roboto Light"/>
                  <a:cs typeface="Roboto Light"/>
                  <a:sym typeface="Roboto Light"/>
                </a:rPr>
                <a:t>W</a:t>
              </a:r>
              <a:endParaRPr>
                <a:latin typeface="Roboto Light"/>
                <a:ea typeface="Roboto Light"/>
                <a:cs typeface="Roboto Light"/>
                <a:sym typeface="Roboto Light"/>
              </a:endParaRPr>
            </a:p>
          </p:txBody>
        </p:sp>
        <p:grpSp>
          <p:nvGrpSpPr>
            <p:cNvPr id="268" name="Google Shape;268;p38"/>
            <p:cNvGrpSpPr/>
            <p:nvPr/>
          </p:nvGrpSpPr>
          <p:grpSpPr>
            <a:xfrm>
              <a:off x="2" y="3248950"/>
              <a:ext cx="9143927" cy="572700"/>
              <a:chOff x="-223200" y="1065725"/>
              <a:chExt cx="9190800" cy="572700"/>
            </a:xfrm>
          </p:grpSpPr>
          <p:sp>
            <p:nvSpPr>
              <p:cNvPr id="269" name="Google Shape;269;p38"/>
              <p:cNvSpPr/>
              <p:nvPr/>
            </p:nvSpPr>
            <p:spPr>
              <a:xfrm>
                <a:off x="-223200" y="1065725"/>
                <a:ext cx="399600" cy="572700"/>
              </a:xfrm>
              <a:prstGeom prst="rect">
                <a:avLst/>
              </a:prstGeom>
              <a:solidFill>
                <a:schemeClr val="dk1"/>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rgbClr val="FFFFFF"/>
                    </a:solidFill>
                    <a:latin typeface="Roboto"/>
                    <a:ea typeface="Roboto"/>
                    <a:cs typeface="Roboto"/>
                    <a:sym typeface="Roboto"/>
                  </a:rPr>
                  <a:t>B</a:t>
                </a:r>
                <a:endParaRPr b="1">
                  <a:solidFill>
                    <a:srgbClr val="FFFFFF"/>
                  </a:solidFill>
                  <a:latin typeface="Roboto"/>
                  <a:ea typeface="Roboto"/>
                  <a:cs typeface="Roboto"/>
                  <a:sym typeface="Roboto"/>
                </a:endParaRPr>
              </a:p>
            </p:txBody>
          </p:sp>
          <p:sp>
            <p:nvSpPr>
              <p:cNvPr id="270" name="Google Shape;270;p38"/>
              <p:cNvSpPr/>
              <p:nvPr/>
            </p:nvSpPr>
            <p:spPr>
              <a:xfrm>
                <a:off x="176400" y="1065725"/>
                <a:ext cx="399600" cy="572700"/>
              </a:xfrm>
              <a:prstGeom prst="rect">
                <a:avLst/>
              </a:prstGeom>
              <a:solidFill>
                <a:schemeClr val="dk1"/>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rgbClr val="FFFFFF"/>
                    </a:solidFill>
                    <a:latin typeface="Roboto"/>
                    <a:ea typeface="Roboto"/>
                    <a:cs typeface="Roboto"/>
                    <a:sym typeface="Roboto"/>
                  </a:rPr>
                  <a:t>B</a:t>
                </a:r>
                <a:endParaRPr b="1">
                  <a:solidFill>
                    <a:srgbClr val="FFFFFF"/>
                  </a:solidFill>
                  <a:latin typeface="Roboto"/>
                  <a:ea typeface="Roboto"/>
                  <a:cs typeface="Roboto"/>
                  <a:sym typeface="Roboto"/>
                </a:endParaRPr>
              </a:p>
            </p:txBody>
          </p:sp>
          <p:sp>
            <p:nvSpPr>
              <p:cNvPr id="271" name="Google Shape;271;p38"/>
              <p:cNvSpPr/>
              <p:nvPr/>
            </p:nvSpPr>
            <p:spPr>
              <a:xfrm>
                <a:off x="576000" y="1065725"/>
                <a:ext cx="399600" cy="572700"/>
              </a:xfrm>
              <a:prstGeom prst="rect">
                <a:avLst/>
              </a:prstGeom>
              <a:solidFill>
                <a:srgbClr val="00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rgbClr val="FFFFFF"/>
                    </a:solidFill>
                    <a:latin typeface="Roboto"/>
                    <a:ea typeface="Roboto"/>
                    <a:cs typeface="Roboto"/>
                    <a:sym typeface="Roboto"/>
                  </a:rPr>
                  <a:t>B</a:t>
                </a:r>
                <a:endParaRPr b="1">
                  <a:solidFill>
                    <a:srgbClr val="FFFFFF"/>
                  </a:solidFill>
                  <a:latin typeface="Roboto"/>
                  <a:ea typeface="Roboto"/>
                  <a:cs typeface="Roboto"/>
                  <a:sym typeface="Roboto"/>
                </a:endParaRPr>
              </a:p>
            </p:txBody>
          </p:sp>
          <p:sp>
            <p:nvSpPr>
              <p:cNvPr id="272" name="Google Shape;272;p38"/>
              <p:cNvSpPr/>
              <p:nvPr/>
            </p:nvSpPr>
            <p:spPr>
              <a:xfrm>
                <a:off x="975600" y="1065725"/>
                <a:ext cx="399600" cy="572700"/>
              </a:xfrm>
              <a:prstGeom prst="rect">
                <a:avLst/>
              </a:prstGeom>
              <a:solidFill>
                <a:srgbClr val="00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rgbClr val="FFFFFF"/>
                    </a:solidFill>
                    <a:latin typeface="Roboto"/>
                    <a:ea typeface="Roboto"/>
                    <a:cs typeface="Roboto"/>
                    <a:sym typeface="Roboto"/>
                  </a:rPr>
                  <a:t>B</a:t>
                </a:r>
                <a:endParaRPr b="1">
                  <a:solidFill>
                    <a:srgbClr val="FFFFFF"/>
                  </a:solidFill>
                  <a:latin typeface="Roboto"/>
                  <a:ea typeface="Roboto"/>
                  <a:cs typeface="Roboto"/>
                  <a:sym typeface="Roboto"/>
                </a:endParaRPr>
              </a:p>
            </p:txBody>
          </p:sp>
          <p:sp>
            <p:nvSpPr>
              <p:cNvPr id="273" name="Google Shape;273;p38"/>
              <p:cNvSpPr/>
              <p:nvPr/>
            </p:nvSpPr>
            <p:spPr>
              <a:xfrm>
                <a:off x="1375200" y="1065725"/>
                <a:ext cx="399600" cy="572700"/>
              </a:xfrm>
              <a:prstGeom prst="rect">
                <a:avLst/>
              </a:prstGeom>
              <a:solidFill>
                <a:schemeClr val="dk1"/>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rgbClr val="FFFFFF"/>
                    </a:solidFill>
                    <a:latin typeface="Roboto"/>
                    <a:ea typeface="Roboto"/>
                    <a:cs typeface="Roboto"/>
                    <a:sym typeface="Roboto"/>
                  </a:rPr>
                  <a:t>B</a:t>
                </a:r>
                <a:endParaRPr b="1">
                  <a:solidFill>
                    <a:srgbClr val="FFFFFF"/>
                  </a:solidFill>
                  <a:latin typeface="Roboto"/>
                  <a:ea typeface="Roboto"/>
                  <a:cs typeface="Roboto"/>
                  <a:sym typeface="Roboto"/>
                </a:endParaRPr>
              </a:p>
            </p:txBody>
          </p:sp>
          <p:sp>
            <p:nvSpPr>
              <p:cNvPr id="274" name="Google Shape;274;p38"/>
              <p:cNvSpPr/>
              <p:nvPr/>
            </p:nvSpPr>
            <p:spPr>
              <a:xfrm>
                <a:off x="1774800" y="1065725"/>
                <a:ext cx="399600" cy="572700"/>
              </a:xfrm>
              <a:prstGeom prst="rect">
                <a:avLst/>
              </a:prstGeom>
              <a:solidFill>
                <a:srgbClr val="00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rgbClr val="FFFFFF"/>
                    </a:solidFill>
                    <a:latin typeface="Roboto"/>
                    <a:ea typeface="Roboto"/>
                    <a:cs typeface="Roboto"/>
                    <a:sym typeface="Roboto"/>
                  </a:rPr>
                  <a:t>B</a:t>
                </a:r>
                <a:endParaRPr b="1">
                  <a:solidFill>
                    <a:srgbClr val="FFFFFF"/>
                  </a:solidFill>
                  <a:latin typeface="Roboto"/>
                  <a:ea typeface="Roboto"/>
                  <a:cs typeface="Roboto"/>
                  <a:sym typeface="Roboto"/>
                </a:endParaRPr>
              </a:p>
            </p:txBody>
          </p:sp>
          <p:sp>
            <p:nvSpPr>
              <p:cNvPr id="275" name="Google Shape;275;p38"/>
              <p:cNvSpPr/>
              <p:nvPr/>
            </p:nvSpPr>
            <p:spPr>
              <a:xfrm>
                <a:off x="2174400" y="1065725"/>
                <a:ext cx="399600" cy="572700"/>
              </a:xfrm>
              <a:prstGeom prst="rect">
                <a:avLst/>
              </a:prstGeom>
              <a:solidFill>
                <a:srgbClr val="00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t-BR">
                    <a:solidFill>
                      <a:srgbClr val="FFFFFF"/>
                    </a:solidFill>
                    <a:latin typeface="Roboto"/>
                    <a:ea typeface="Roboto"/>
                    <a:cs typeface="Roboto"/>
                    <a:sym typeface="Roboto"/>
                  </a:rPr>
                  <a:t>B</a:t>
                </a:r>
                <a:endParaRPr b="1">
                  <a:solidFill>
                    <a:srgbClr val="FFFFFF"/>
                  </a:solidFill>
                  <a:latin typeface="Roboto"/>
                  <a:ea typeface="Roboto"/>
                  <a:cs typeface="Roboto"/>
                  <a:sym typeface="Roboto"/>
                </a:endParaRPr>
              </a:p>
            </p:txBody>
          </p:sp>
          <p:sp>
            <p:nvSpPr>
              <p:cNvPr id="276" name="Google Shape;276;p38"/>
              <p:cNvSpPr/>
              <p:nvPr/>
            </p:nvSpPr>
            <p:spPr>
              <a:xfrm>
                <a:off x="25740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dk1"/>
                    </a:solidFill>
                    <a:latin typeface="Roboto Light"/>
                    <a:ea typeface="Roboto Light"/>
                    <a:cs typeface="Roboto Light"/>
                    <a:sym typeface="Roboto Light"/>
                  </a:rPr>
                  <a:t>W</a:t>
                </a:r>
                <a:endParaRPr>
                  <a:latin typeface="Roboto Light"/>
                  <a:ea typeface="Roboto Light"/>
                  <a:cs typeface="Roboto Light"/>
                  <a:sym typeface="Roboto Light"/>
                </a:endParaRPr>
              </a:p>
            </p:txBody>
          </p:sp>
          <p:sp>
            <p:nvSpPr>
              <p:cNvPr id="277" name="Google Shape;277;p38"/>
              <p:cNvSpPr/>
              <p:nvPr/>
            </p:nvSpPr>
            <p:spPr>
              <a:xfrm>
                <a:off x="29736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dk1"/>
                    </a:solidFill>
                    <a:latin typeface="Roboto Light"/>
                    <a:ea typeface="Roboto Light"/>
                    <a:cs typeface="Roboto Light"/>
                    <a:sym typeface="Roboto Light"/>
                  </a:rPr>
                  <a:t>W</a:t>
                </a:r>
                <a:endParaRPr>
                  <a:latin typeface="Roboto Light"/>
                  <a:ea typeface="Roboto Light"/>
                  <a:cs typeface="Roboto Light"/>
                  <a:sym typeface="Roboto Light"/>
                </a:endParaRPr>
              </a:p>
            </p:txBody>
          </p:sp>
          <p:sp>
            <p:nvSpPr>
              <p:cNvPr id="278" name="Google Shape;278;p38"/>
              <p:cNvSpPr/>
              <p:nvPr/>
            </p:nvSpPr>
            <p:spPr>
              <a:xfrm>
                <a:off x="33732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dk1"/>
                    </a:solidFill>
                    <a:latin typeface="Roboto Light"/>
                    <a:ea typeface="Roboto Light"/>
                    <a:cs typeface="Roboto Light"/>
                    <a:sym typeface="Roboto Light"/>
                  </a:rPr>
                  <a:t>W</a:t>
                </a:r>
                <a:endParaRPr>
                  <a:latin typeface="Roboto Light"/>
                  <a:ea typeface="Roboto Light"/>
                  <a:cs typeface="Roboto Light"/>
                  <a:sym typeface="Roboto Light"/>
                </a:endParaRPr>
              </a:p>
            </p:txBody>
          </p:sp>
          <p:sp>
            <p:nvSpPr>
              <p:cNvPr id="279" name="Google Shape;279;p38"/>
              <p:cNvSpPr/>
              <p:nvPr/>
            </p:nvSpPr>
            <p:spPr>
              <a:xfrm>
                <a:off x="37728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dk1"/>
                    </a:solidFill>
                    <a:latin typeface="Roboto Light"/>
                    <a:ea typeface="Roboto Light"/>
                    <a:cs typeface="Roboto Light"/>
                    <a:sym typeface="Roboto Light"/>
                  </a:rPr>
                  <a:t>W</a:t>
                </a:r>
                <a:endParaRPr>
                  <a:latin typeface="Roboto Light"/>
                  <a:ea typeface="Roboto Light"/>
                  <a:cs typeface="Roboto Light"/>
                  <a:sym typeface="Roboto Light"/>
                </a:endParaRPr>
              </a:p>
            </p:txBody>
          </p:sp>
          <p:sp>
            <p:nvSpPr>
              <p:cNvPr id="280" name="Google Shape;280;p38"/>
              <p:cNvSpPr/>
              <p:nvPr/>
            </p:nvSpPr>
            <p:spPr>
              <a:xfrm>
                <a:off x="45720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dk1"/>
                    </a:solidFill>
                    <a:latin typeface="Roboto Light"/>
                    <a:ea typeface="Roboto Light"/>
                    <a:cs typeface="Roboto Light"/>
                    <a:sym typeface="Roboto Light"/>
                  </a:rPr>
                  <a:t>W</a:t>
                </a:r>
                <a:endParaRPr>
                  <a:latin typeface="Roboto Light"/>
                  <a:ea typeface="Roboto Light"/>
                  <a:cs typeface="Roboto Light"/>
                  <a:sym typeface="Roboto Light"/>
                </a:endParaRPr>
              </a:p>
            </p:txBody>
          </p:sp>
          <p:sp>
            <p:nvSpPr>
              <p:cNvPr id="281" name="Google Shape;281;p38"/>
              <p:cNvSpPr/>
              <p:nvPr/>
            </p:nvSpPr>
            <p:spPr>
              <a:xfrm>
                <a:off x="49716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dk1"/>
                    </a:solidFill>
                    <a:latin typeface="Roboto Light"/>
                    <a:ea typeface="Roboto Light"/>
                    <a:cs typeface="Roboto Light"/>
                    <a:sym typeface="Roboto Light"/>
                  </a:rPr>
                  <a:t>W</a:t>
                </a:r>
                <a:endParaRPr>
                  <a:latin typeface="Roboto Light"/>
                  <a:ea typeface="Roboto Light"/>
                  <a:cs typeface="Roboto Light"/>
                  <a:sym typeface="Roboto Light"/>
                </a:endParaRPr>
              </a:p>
            </p:txBody>
          </p:sp>
          <p:sp>
            <p:nvSpPr>
              <p:cNvPr id="282" name="Google Shape;282;p38"/>
              <p:cNvSpPr/>
              <p:nvPr/>
            </p:nvSpPr>
            <p:spPr>
              <a:xfrm>
                <a:off x="57708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dk1"/>
                    </a:solidFill>
                    <a:latin typeface="Roboto Light"/>
                    <a:ea typeface="Roboto Light"/>
                    <a:cs typeface="Roboto Light"/>
                    <a:sym typeface="Roboto Light"/>
                  </a:rPr>
                  <a:t>W</a:t>
                </a:r>
                <a:endParaRPr>
                  <a:latin typeface="Roboto Light"/>
                  <a:ea typeface="Roboto Light"/>
                  <a:cs typeface="Roboto Light"/>
                  <a:sym typeface="Roboto Light"/>
                </a:endParaRPr>
              </a:p>
            </p:txBody>
          </p:sp>
          <p:sp>
            <p:nvSpPr>
              <p:cNvPr id="283" name="Google Shape;283;p38"/>
              <p:cNvSpPr/>
              <p:nvPr/>
            </p:nvSpPr>
            <p:spPr>
              <a:xfrm>
                <a:off x="61704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dk1"/>
                    </a:solidFill>
                    <a:latin typeface="Roboto Light"/>
                    <a:ea typeface="Roboto Light"/>
                    <a:cs typeface="Roboto Light"/>
                    <a:sym typeface="Roboto Light"/>
                  </a:rPr>
                  <a:t>W</a:t>
                </a:r>
                <a:endParaRPr>
                  <a:latin typeface="Roboto Light"/>
                  <a:ea typeface="Roboto Light"/>
                  <a:cs typeface="Roboto Light"/>
                  <a:sym typeface="Roboto Light"/>
                </a:endParaRPr>
              </a:p>
            </p:txBody>
          </p:sp>
          <p:sp>
            <p:nvSpPr>
              <p:cNvPr id="284" name="Google Shape;284;p38"/>
              <p:cNvSpPr/>
              <p:nvPr/>
            </p:nvSpPr>
            <p:spPr>
              <a:xfrm>
                <a:off x="69696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dk1"/>
                    </a:solidFill>
                    <a:latin typeface="Roboto Light"/>
                    <a:ea typeface="Roboto Light"/>
                    <a:cs typeface="Roboto Light"/>
                    <a:sym typeface="Roboto Light"/>
                  </a:rPr>
                  <a:t>W</a:t>
                </a:r>
                <a:endParaRPr>
                  <a:latin typeface="Roboto Light"/>
                  <a:ea typeface="Roboto Light"/>
                  <a:cs typeface="Roboto Light"/>
                  <a:sym typeface="Roboto Light"/>
                </a:endParaRPr>
              </a:p>
            </p:txBody>
          </p:sp>
          <p:sp>
            <p:nvSpPr>
              <p:cNvPr id="285" name="Google Shape;285;p38"/>
              <p:cNvSpPr/>
              <p:nvPr/>
            </p:nvSpPr>
            <p:spPr>
              <a:xfrm>
                <a:off x="77688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dk1"/>
                    </a:solidFill>
                    <a:latin typeface="Roboto Light"/>
                    <a:ea typeface="Roboto Light"/>
                    <a:cs typeface="Roboto Light"/>
                    <a:sym typeface="Roboto Light"/>
                  </a:rPr>
                  <a:t>W</a:t>
                </a:r>
                <a:endParaRPr>
                  <a:latin typeface="Roboto Light"/>
                  <a:ea typeface="Roboto Light"/>
                  <a:cs typeface="Roboto Light"/>
                  <a:sym typeface="Roboto Light"/>
                </a:endParaRPr>
              </a:p>
            </p:txBody>
          </p:sp>
          <p:sp>
            <p:nvSpPr>
              <p:cNvPr id="286" name="Google Shape;286;p38"/>
              <p:cNvSpPr/>
              <p:nvPr/>
            </p:nvSpPr>
            <p:spPr>
              <a:xfrm>
                <a:off x="81684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dk1"/>
                    </a:solidFill>
                    <a:latin typeface="Roboto Light"/>
                    <a:ea typeface="Roboto Light"/>
                    <a:cs typeface="Roboto Light"/>
                    <a:sym typeface="Roboto Light"/>
                  </a:rPr>
                  <a:t>W</a:t>
                </a:r>
                <a:endParaRPr>
                  <a:latin typeface="Roboto Light"/>
                  <a:ea typeface="Roboto Light"/>
                  <a:cs typeface="Roboto Light"/>
                  <a:sym typeface="Roboto Light"/>
                </a:endParaRPr>
              </a:p>
            </p:txBody>
          </p:sp>
          <p:sp>
            <p:nvSpPr>
              <p:cNvPr id="287" name="Google Shape;287;p38"/>
              <p:cNvSpPr/>
              <p:nvPr/>
            </p:nvSpPr>
            <p:spPr>
              <a:xfrm>
                <a:off x="85680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latin typeface="Roboto Light"/>
                    <a:ea typeface="Roboto Light"/>
                    <a:cs typeface="Roboto Light"/>
                    <a:sym typeface="Roboto Light"/>
                  </a:rPr>
                  <a:t>W</a:t>
                </a:r>
                <a:endParaRPr>
                  <a:latin typeface="Roboto Light"/>
                  <a:ea typeface="Roboto Light"/>
                  <a:cs typeface="Roboto Light"/>
                  <a:sym typeface="Roboto Light"/>
                </a:endParaRPr>
              </a:p>
            </p:txBody>
          </p:sp>
          <p:sp>
            <p:nvSpPr>
              <p:cNvPr id="288" name="Google Shape;288;p38"/>
              <p:cNvSpPr/>
              <p:nvPr/>
            </p:nvSpPr>
            <p:spPr>
              <a:xfrm>
                <a:off x="73692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latin typeface="Roboto Light"/>
                    <a:ea typeface="Roboto Light"/>
                    <a:cs typeface="Roboto Light"/>
                    <a:sym typeface="Roboto Light"/>
                  </a:rPr>
                  <a:t>W</a:t>
                </a:r>
                <a:endParaRPr>
                  <a:latin typeface="Roboto Light"/>
                  <a:ea typeface="Roboto Light"/>
                  <a:cs typeface="Roboto Light"/>
                  <a:sym typeface="Roboto Light"/>
                </a:endParaRPr>
              </a:p>
            </p:txBody>
          </p:sp>
          <p:sp>
            <p:nvSpPr>
              <p:cNvPr id="289" name="Google Shape;289;p38"/>
              <p:cNvSpPr/>
              <p:nvPr/>
            </p:nvSpPr>
            <p:spPr>
              <a:xfrm>
                <a:off x="65700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latin typeface="Roboto Light"/>
                    <a:ea typeface="Roboto Light"/>
                    <a:cs typeface="Roboto Light"/>
                    <a:sym typeface="Roboto Light"/>
                  </a:rPr>
                  <a:t>W</a:t>
                </a:r>
                <a:endParaRPr>
                  <a:latin typeface="Roboto Light"/>
                  <a:ea typeface="Roboto Light"/>
                  <a:cs typeface="Roboto Light"/>
                  <a:sym typeface="Roboto Light"/>
                </a:endParaRPr>
              </a:p>
            </p:txBody>
          </p:sp>
          <p:sp>
            <p:nvSpPr>
              <p:cNvPr id="290" name="Google Shape;290;p38"/>
              <p:cNvSpPr/>
              <p:nvPr/>
            </p:nvSpPr>
            <p:spPr>
              <a:xfrm>
                <a:off x="5371200" y="1065725"/>
                <a:ext cx="399600" cy="5727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latin typeface="Roboto Light"/>
                    <a:ea typeface="Roboto Light"/>
                    <a:cs typeface="Roboto Light"/>
                    <a:sym typeface="Roboto Light"/>
                  </a:rPr>
                  <a:t>W</a:t>
                </a:r>
                <a:endParaRPr>
                  <a:latin typeface="Roboto Light"/>
                  <a:ea typeface="Roboto Light"/>
                  <a:cs typeface="Roboto Light"/>
                  <a:sym typeface="Roboto Light"/>
                </a:endParaRPr>
              </a:p>
            </p:txBody>
          </p:sp>
        </p:grpSp>
      </p:grpSp>
      <p:sp>
        <p:nvSpPr>
          <p:cNvPr id="291" name="Google Shape;291;p38"/>
          <p:cNvSpPr txBox="1"/>
          <p:nvPr/>
        </p:nvSpPr>
        <p:spPr>
          <a:xfrm rot="-331">
            <a:off x="4674278" y="4351760"/>
            <a:ext cx="3114600" cy="49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200">
                <a:solidFill>
                  <a:srgbClr val="980000"/>
                </a:solidFill>
                <a:latin typeface="Permanent Marker"/>
                <a:ea typeface="Permanent Marker"/>
                <a:cs typeface="Permanent Marker"/>
                <a:sym typeface="Permanent Marker"/>
              </a:rPr>
              <a:t>SETA OS PRIMEIROS 26% PARA ‘B’</a:t>
            </a:r>
            <a:endParaRPr sz="1200">
              <a:solidFill>
                <a:srgbClr val="980000"/>
              </a:solidFill>
              <a:latin typeface="Permanent Marker"/>
              <a:ea typeface="Permanent Marker"/>
              <a:cs typeface="Permanent Marker"/>
              <a:sym typeface="Permanent Marker"/>
            </a:endParaRPr>
          </a:p>
        </p:txBody>
      </p:sp>
      <p:graphicFrame>
        <p:nvGraphicFramePr>
          <p:cNvPr id="292" name="Google Shape;292;p38"/>
          <p:cNvGraphicFramePr/>
          <p:nvPr/>
        </p:nvGraphicFramePr>
        <p:xfrm>
          <a:off x="933075" y="3895650"/>
          <a:ext cx="3000000" cy="3000000"/>
        </p:xfrm>
        <a:graphic>
          <a:graphicData uri="http://schemas.openxmlformats.org/drawingml/2006/table">
            <a:tbl>
              <a:tblPr>
                <a:noFill/>
                <a:tableStyleId>{E6F389CA-A1F8-429B-937D-27BCD03C1D14}</a:tableStyleId>
              </a:tblPr>
              <a:tblGrid>
                <a:gridCol w="3462850"/>
              </a:tblGrid>
              <a:tr h="12700">
                <a:tc>
                  <a:txBody>
                    <a:bodyPr/>
                    <a:lstStyle/>
                    <a:p>
                      <a:pPr indent="0" lvl="0" marL="0" rtl="0" algn="l">
                        <a:lnSpc>
                          <a:spcPct val="115000"/>
                        </a:lnSpc>
                        <a:spcBef>
                          <a:spcPts val="0"/>
                        </a:spcBef>
                        <a:spcAft>
                          <a:spcPts val="0"/>
                        </a:spcAft>
                        <a:buNone/>
                      </a:pPr>
                      <a:r>
                        <a:rPr lang="pt-BR" sz="1050">
                          <a:solidFill>
                            <a:srgbClr val="A626A4"/>
                          </a:solidFill>
                          <a:highlight>
                            <a:srgbClr val="FAFAFA"/>
                          </a:highlight>
                          <a:latin typeface="Consolas"/>
                          <a:ea typeface="Consolas"/>
                          <a:cs typeface="Consolas"/>
                          <a:sym typeface="Consolas"/>
                        </a:rPr>
                        <a:t>import</a:t>
                      </a:r>
                      <a:r>
                        <a:rPr lang="pt-BR" sz="1050">
                          <a:solidFill>
                            <a:srgbClr val="383A42"/>
                          </a:solidFill>
                          <a:highlight>
                            <a:srgbClr val="FAFAFA"/>
                          </a:highlight>
                          <a:latin typeface="Consolas"/>
                          <a:ea typeface="Consolas"/>
                          <a:cs typeface="Consolas"/>
                          <a:sym typeface="Consolas"/>
                        </a:rPr>
                        <a:t> numpy </a:t>
                      </a:r>
                      <a:r>
                        <a:rPr lang="pt-BR" sz="1050">
                          <a:solidFill>
                            <a:srgbClr val="A626A4"/>
                          </a:solidFill>
                          <a:highlight>
                            <a:srgbClr val="FAFAFA"/>
                          </a:highlight>
                          <a:latin typeface="Consolas"/>
                          <a:ea typeface="Consolas"/>
                          <a:cs typeface="Consolas"/>
                          <a:sym typeface="Consolas"/>
                        </a:rPr>
                        <a:t>as</a:t>
                      </a:r>
                      <a:r>
                        <a:rPr lang="pt-BR" sz="1050">
                          <a:solidFill>
                            <a:srgbClr val="383A42"/>
                          </a:solidFill>
                          <a:highlight>
                            <a:srgbClr val="FAFAFA"/>
                          </a:highlight>
                          <a:latin typeface="Consolas"/>
                          <a:ea typeface="Consolas"/>
                          <a:cs typeface="Consolas"/>
                          <a:sym typeface="Consolas"/>
                        </a:rPr>
                        <a:t> np</a:t>
                      </a:r>
                      <a:br>
                        <a:rPr lang="pt-BR" sz="1050">
                          <a:solidFill>
                            <a:srgbClr val="383A42"/>
                          </a:solidFill>
                          <a:highlight>
                            <a:srgbClr val="FAFAFA"/>
                          </a:highlight>
                          <a:latin typeface="Consolas"/>
                          <a:ea typeface="Consolas"/>
                          <a:cs typeface="Consolas"/>
                          <a:sym typeface="Consolas"/>
                        </a:rPr>
                      </a:br>
                      <a:r>
                        <a:rPr lang="pt-BR" sz="1050">
                          <a:solidFill>
                            <a:srgbClr val="383A42"/>
                          </a:solidFill>
                          <a:highlight>
                            <a:srgbClr val="FAFAFA"/>
                          </a:highlight>
                          <a:latin typeface="Consolas"/>
                          <a:ea typeface="Consolas"/>
                          <a:cs typeface="Consolas"/>
                          <a:sym typeface="Consolas"/>
                        </a:rPr>
                        <a:t>pop_city = </a:t>
                      </a:r>
                      <a:r>
                        <a:rPr lang="pt-BR" sz="1050">
                          <a:solidFill>
                            <a:srgbClr val="986801"/>
                          </a:solidFill>
                          <a:highlight>
                            <a:srgbClr val="FAFAFA"/>
                          </a:highlight>
                          <a:latin typeface="Consolas"/>
                          <a:ea typeface="Consolas"/>
                          <a:cs typeface="Consolas"/>
                          <a:sym typeface="Consolas"/>
                        </a:rPr>
                        <a:t>10000</a:t>
                      </a:r>
                      <a:br>
                        <a:rPr lang="pt-BR" sz="1050">
                          <a:solidFill>
                            <a:srgbClr val="383A42"/>
                          </a:solidFill>
                          <a:highlight>
                            <a:srgbClr val="FAFAFA"/>
                          </a:highlight>
                          <a:latin typeface="Consolas"/>
                          <a:ea typeface="Consolas"/>
                          <a:cs typeface="Consolas"/>
                          <a:sym typeface="Consolas"/>
                        </a:rPr>
                      </a:br>
                      <a:r>
                        <a:rPr lang="pt-BR" sz="1050">
                          <a:solidFill>
                            <a:srgbClr val="383A42"/>
                          </a:solidFill>
                          <a:highlight>
                            <a:srgbClr val="FAFAFA"/>
                          </a:highlight>
                          <a:latin typeface="Consolas"/>
                          <a:ea typeface="Consolas"/>
                          <a:cs typeface="Consolas"/>
                          <a:sym typeface="Consolas"/>
                        </a:rPr>
                        <a:t>pop_black = </a:t>
                      </a:r>
                      <a:r>
                        <a:rPr lang="pt-BR" sz="1050">
                          <a:solidFill>
                            <a:srgbClr val="986801"/>
                          </a:solidFill>
                          <a:highlight>
                            <a:srgbClr val="FAFAFA"/>
                          </a:highlight>
                          <a:latin typeface="Consolas"/>
                          <a:ea typeface="Consolas"/>
                          <a:cs typeface="Consolas"/>
                          <a:sym typeface="Consolas"/>
                        </a:rPr>
                        <a:t>0.26</a:t>
                      </a:r>
                      <a:br>
                        <a:rPr lang="pt-BR" sz="1050">
                          <a:solidFill>
                            <a:srgbClr val="383A42"/>
                          </a:solidFill>
                          <a:highlight>
                            <a:srgbClr val="FAFAFA"/>
                          </a:highlight>
                          <a:latin typeface="Consolas"/>
                          <a:ea typeface="Consolas"/>
                          <a:cs typeface="Consolas"/>
                          <a:sym typeface="Consolas"/>
                        </a:rPr>
                      </a:br>
                      <a:r>
                        <a:rPr lang="pt-BR" sz="1050">
                          <a:solidFill>
                            <a:srgbClr val="383A42"/>
                          </a:solidFill>
                          <a:highlight>
                            <a:srgbClr val="FAFAFA"/>
                          </a:highlight>
                          <a:latin typeface="Consolas"/>
                          <a:ea typeface="Consolas"/>
                          <a:cs typeface="Consolas"/>
                          <a:sym typeface="Consolas"/>
                        </a:rPr>
                        <a:t>data = np.zeros(shape=pop_city, dtype=</a:t>
                      </a:r>
                      <a:r>
                        <a:rPr lang="pt-BR" sz="1050">
                          <a:solidFill>
                            <a:srgbClr val="50A14F"/>
                          </a:solidFill>
                          <a:highlight>
                            <a:srgbClr val="FAFAFA"/>
                          </a:highlight>
                          <a:latin typeface="Consolas"/>
                          <a:ea typeface="Consolas"/>
                          <a:cs typeface="Consolas"/>
                          <a:sym typeface="Consolas"/>
                        </a:rPr>
                        <a:t>'c'</a:t>
                      </a:r>
                      <a:r>
                        <a:rPr lang="pt-BR" sz="1050">
                          <a:solidFill>
                            <a:srgbClr val="383A42"/>
                          </a:solidFill>
                          <a:highlight>
                            <a:srgbClr val="FAFAFA"/>
                          </a:highlight>
                          <a:latin typeface="Consolas"/>
                          <a:ea typeface="Consolas"/>
                          <a:cs typeface="Consolas"/>
                          <a:sym typeface="Consolas"/>
                        </a:rPr>
                        <a:t>)</a:t>
                      </a:r>
                      <a:br>
                        <a:rPr lang="pt-BR" sz="1050">
                          <a:solidFill>
                            <a:srgbClr val="383A42"/>
                          </a:solidFill>
                          <a:highlight>
                            <a:srgbClr val="FAFAFA"/>
                          </a:highlight>
                          <a:latin typeface="Consolas"/>
                          <a:ea typeface="Consolas"/>
                          <a:cs typeface="Consolas"/>
                          <a:sym typeface="Consolas"/>
                        </a:rPr>
                      </a:br>
                      <a:r>
                        <a:rPr lang="pt-BR" sz="1050">
                          <a:solidFill>
                            <a:srgbClr val="383A42"/>
                          </a:solidFill>
                          <a:highlight>
                            <a:srgbClr val="FAFAFA"/>
                          </a:highlight>
                          <a:latin typeface="Consolas"/>
                          <a:ea typeface="Consolas"/>
                          <a:cs typeface="Consolas"/>
                          <a:sym typeface="Consolas"/>
                        </a:rPr>
                        <a:t>data[:] = </a:t>
                      </a:r>
                      <a:r>
                        <a:rPr lang="pt-BR" sz="1050">
                          <a:solidFill>
                            <a:srgbClr val="50A14F"/>
                          </a:solidFill>
                          <a:highlight>
                            <a:srgbClr val="FAFAFA"/>
                          </a:highlight>
                          <a:latin typeface="Consolas"/>
                          <a:ea typeface="Consolas"/>
                          <a:cs typeface="Consolas"/>
                          <a:sym typeface="Consolas"/>
                        </a:rPr>
                        <a:t>'W'</a:t>
                      </a:r>
                      <a:br>
                        <a:rPr lang="pt-BR" sz="1050">
                          <a:solidFill>
                            <a:srgbClr val="383A42"/>
                          </a:solidFill>
                          <a:highlight>
                            <a:srgbClr val="FAFAFA"/>
                          </a:highlight>
                          <a:latin typeface="Consolas"/>
                          <a:ea typeface="Consolas"/>
                          <a:cs typeface="Consolas"/>
                          <a:sym typeface="Consolas"/>
                        </a:rPr>
                      </a:br>
                      <a:r>
                        <a:rPr lang="pt-BR" sz="1050">
                          <a:solidFill>
                            <a:srgbClr val="383A42"/>
                          </a:solidFill>
                          <a:highlight>
                            <a:srgbClr val="FAFAFA"/>
                          </a:highlight>
                          <a:latin typeface="Consolas"/>
                          <a:ea typeface="Consolas"/>
                          <a:cs typeface="Consolas"/>
                          <a:sym typeface="Consolas"/>
                        </a:rPr>
                        <a:t>data[:int(len(data) * pop_black)] = </a:t>
                      </a:r>
                      <a:r>
                        <a:rPr lang="pt-BR" sz="1050">
                          <a:solidFill>
                            <a:srgbClr val="50A14F"/>
                          </a:solidFill>
                          <a:highlight>
                            <a:srgbClr val="FAFAFA"/>
                          </a:highlight>
                          <a:latin typeface="Consolas"/>
                          <a:ea typeface="Consolas"/>
                          <a:cs typeface="Consolas"/>
                          <a:sym typeface="Consolas"/>
                        </a:rPr>
                        <a:t>'B'</a:t>
                      </a:r>
                      <a:endParaRPr sz="1050">
                        <a:solidFill>
                          <a:srgbClr val="A31515"/>
                        </a:solidFill>
                        <a:latin typeface="Courier New"/>
                        <a:ea typeface="Courier New"/>
                        <a:cs typeface="Courier New"/>
                        <a:sym typeface="Courier New"/>
                      </a:endParaRPr>
                    </a:p>
                  </a:txBody>
                  <a:tcPr marT="63500" marB="63500" marR="63500" marL="63500">
                    <a:solidFill>
                      <a:srgbClr val="FAFAFA"/>
                    </a:solidFill>
                  </a:tcPr>
                </a:tc>
              </a:tr>
            </a:tbl>
          </a:graphicData>
        </a:graphic>
      </p:graphicFrame>
      <p:sp>
        <p:nvSpPr>
          <p:cNvPr id="293" name="Google Shape;293;p38"/>
          <p:cNvSpPr/>
          <p:nvPr/>
        </p:nvSpPr>
        <p:spPr>
          <a:xfrm>
            <a:off x="507675" y="4872625"/>
            <a:ext cx="425400" cy="184200"/>
          </a:xfrm>
          <a:prstGeom prst="rightArrow">
            <a:avLst>
              <a:gd fmla="val 50000" name="adj1"/>
              <a:gd fmla="val 50000" name="adj2"/>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9"/>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Agora com a População</a:t>
            </a:r>
            <a:endParaRPr/>
          </a:p>
        </p:txBody>
      </p:sp>
      <p:sp>
        <p:nvSpPr>
          <p:cNvPr id="299" name="Google Shape;299;p39"/>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pt-BR"/>
              <a:t>“Em uma amostra uniforme da população da cidade de Talladega, quais sãos as chances de selecionarmos apenas 8 pessoas negras?”</a:t>
            </a:r>
            <a:endParaRPr>
              <a:solidFill>
                <a:schemeClr val="dk2"/>
              </a:solidFill>
            </a:endParaRPr>
          </a:p>
        </p:txBody>
      </p:sp>
      <p:sp>
        <p:nvSpPr>
          <p:cNvPr id="300" name="Google Shape;300;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graphicFrame>
        <p:nvGraphicFramePr>
          <p:cNvPr id="301" name="Google Shape;301;p39"/>
          <p:cNvGraphicFramePr/>
          <p:nvPr/>
        </p:nvGraphicFramePr>
        <p:xfrm>
          <a:off x="2372100" y="2276425"/>
          <a:ext cx="3000000" cy="3000000"/>
        </p:xfrm>
        <a:graphic>
          <a:graphicData uri="http://schemas.openxmlformats.org/drawingml/2006/table">
            <a:tbl>
              <a:tblPr>
                <a:noFill/>
                <a:tableStyleId>{E6F389CA-A1F8-429B-937D-27BCD03C1D14}</a:tableStyleId>
              </a:tblPr>
              <a:tblGrid>
                <a:gridCol w="4040100"/>
              </a:tblGrid>
              <a:tr h="12700">
                <a:tc>
                  <a:txBody>
                    <a:bodyPr/>
                    <a:lstStyle/>
                    <a:p>
                      <a:pPr indent="0" lvl="0" marL="0" rtl="0" algn="l">
                        <a:lnSpc>
                          <a:spcPct val="115000"/>
                        </a:lnSpc>
                        <a:spcBef>
                          <a:spcPts val="0"/>
                        </a:spcBef>
                        <a:spcAft>
                          <a:spcPts val="0"/>
                        </a:spcAft>
                        <a:buNone/>
                      </a:pPr>
                      <a:r>
                        <a:rPr lang="pt-BR" sz="1550">
                          <a:solidFill>
                            <a:srgbClr val="383A42"/>
                          </a:solidFill>
                          <a:highlight>
                            <a:srgbClr val="FAFAFA"/>
                          </a:highlight>
                          <a:latin typeface="Consolas"/>
                          <a:ea typeface="Consolas"/>
                          <a:cs typeface="Consolas"/>
                          <a:sym typeface="Consolas"/>
                        </a:rPr>
                        <a:t>juri_size = </a:t>
                      </a:r>
                      <a:r>
                        <a:rPr lang="pt-BR" sz="1550">
                          <a:solidFill>
                            <a:srgbClr val="986801"/>
                          </a:solidFill>
                          <a:highlight>
                            <a:srgbClr val="FAFAFA"/>
                          </a:highlight>
                          <a:latin typeface="Consolas"/>
                          <a:ea typeface="Consolas"/>
                          <a:cs typeface="Consolas"/>
                          <a:sym typeface="Consolas"/>
                        </a:rPr>
                        <a:t>100</a:t>
                      </a:r>
                      <a:br>
                        <a:rPr lang="pt-BR" sz="1550">
                          <a:solidFill>
                            <a:srgbClr val="383A42"/>
                          </a:solidFill>
                          <a:highlight>
                            <a:srgbClr val="FAFAFA"/>
                          </a:highlight>
                          <a:latin typeface="Consolas"/>
                          <a:ea typeface="Consolas"/>
                          <a:cs typeface="Consolas"/>
                          <a:sym typeface="Consolas"/>
                        </a:rPr>
                      </a:br>
                      <a:r>
                        <a:rPr lang="pt-BR" sz="1550">
                          <a:solidFill>
                            <a:srgbClr val="383A42"/>
                          </a:solidFill>
                          <a:highlight>
                            <a:srgbClr val="FAFAFA"/>
                          </a:highlight>
                          <a:latin typeface="Consolas"/>
                          <a:ea typeface="Consolas"/>
                          <a:cs typeface="Consolas"/>
                          <a:sym typeface="Consolas"/>
                        </a:rPr>
                        <a:t>simulations = np.zeros(</a:t>
                      </a:r>
                      <a:r>
                        <a:rPr lang="pt-BR" sz="1550">
                          <a:solidFill>
                            <a:srgbClr val="986801"/>
                          </a:solidFill>
                          <a:highlight>
                            <a:srgbClr val="FAFAFA"/>
                          </a:highlight>
                          <a:latin typeface="Consolas"/>
                          <a:ea typeface="Consolas"/>
                          <a:cs typeface="Consolas"/>
                          <a:sym typeface="Consolas"/>
                        </a:rPr>
                        <a:t>1000</a:t>
                      </a:r>
                      <a:r>
                        <a:rPr lang="pt-BR" sz="1550">
                          <a:solidFill>
                            <a:srgbClr val="383A42"/>
                          </a:solidFill>
                          <a:highlight>
                            <a:srgbClr val="FAFAFA"/>
                          </a:highlight>
                          <a:latin typeface="Consolas"/>
                          <a:ea typeface="Consolas"/>
                          <a:cs typeface="Consolas"/>
                          <a:sym typeface="Consolas"/>
                        </a:rPr>
                        <a:t>)</a:t>
                      </a:r>
                      <a:br>
                        <a:rPr lang="pt-BR" sz="1550">
                          <a:solidFill>
                            <a:srgbClr val="383A42"/>
                          </a:solidFill>
                          <a:highlight>
                            <a:srgbClr val="FAFAFA"/>
                          </a:highlight>
                          <a:latin typeface="Consolas"/>
                          <a:ea typeface="Consolas"/>
                          <a:cs typeface="Consolas"/>
                          <a:sym typeface="Consolas"/>
                        </a:rPr>
                      </a:br>
                      <a:r>
                        <a:rPr lang="pt-BR" sz="1550">
                          <a:solidFill>
                            <a:srgbClr val="A626A4"/>
                          </a:solidFill>
                          <a:highlight>
                            <a:srgbClr val="FAFAFA"/>
                          </a:highlight>
                          <a:latin typeface="Consolas"/>
                          <a:ea typeface="Consolas"/>
                          <a:cs typeface="Consolas"/>
                          <a:sym typeface="Consolas"/>
                        </a:rPr>
                        <a:t>for</a:t>
                      </a:r>
                      <a:r>
                        <a:rPr lang="pt-BR" sz="1550">
                          <a:solidFill>
                            <a:srgbClr val="383A42"/>
                          </a:solidFill>
                          <a:highlight>
                            <a:srgbClr val="FAFAFA"/>
                          </a:highlight>
                          <a:latin typeface="Consolas"/>
                          <a:ea typeface="Consolas"/>
                          <a:cs typeface="Consolas"/>
                          <a:sym typeface="Consolas"/>
                        </a:rPr>
                        <a:t> i </a:t>
                      </a:r>
                      <a:r>
                        <a:rPr lang="pt-BR" sz="1550">
                          <a:solidFill>
                            <a:srgbClr val="A626A4"/>
                          </a:solidFill>
                          <a:highlight>
                            <a:srgbClr val="FAFAFA"/>
                          </a:highlight>
                          <a:latin typeface="Consolas"/>
                          <a:ea typeface="Consolas"/>
                          <a:cs typeface="Consolas"/>
                          <a:sym typeface="Consolas"/>
                        </a:rPr>
                        <a:t>in</a:t>
                      </a:r>
                      <a:r>
                        <a:rPr lang="pt-BR" sz="1550">
                          <a:solidFill>
                            <a:srgbClr val="383A42"/>
                          </a:solidFill>
                          <a:highlight>
                            <a:srgbClr val="FAFAFA"/>
                          </a:highlight>
                          <a:latin typeface="Consolas"/>
                          <a:ea typeface="Consolas"/>
                          <a:cs typeface="Consolas"/>
                          <a:sym typeface="Consolas"/>
                        </a:rPr>
                        <a:t> range(</a:t>
                      </a:r>
                      <a:r>
                        <a:rPr lang="pt-BR" sz="1550">
                          <a:solidFill>
                            <a:srgbClr val="986801"/>
                          </a:solidFill>
                          <a:highlight>
                            <a:srgbClr val="FAFAFA"/>
                          </a:highlight>
                          <a:latin typeface="Consolas"/>
                          <a:ea typeface="Consolas"/>
                          <a:cs typeface="Consolas"/>
                          <a:sym typeface="Consolas"/>
                        </a:rPr>
                        <a:t>1000</a:t>
                      </a:r>
                      <a:r>
                        <a:rPr lang="pt-BR" sz="1550">
                          <a:solidFill>
                            <a:srgbClr val="383A42"/>
                          </a:solidFill>
                          <a:highlight>
                            <a:srgbClr val="FAFAFA"/>
                          </a:highlight>
                          <a:latin typeface="Consolas"/>
                          <a:ea typeface="Consolas"/>
                          <a:cs typeface="Consolas"/>
                          <a:sym typeface="Consolas"/>
                        </a:rPr>
                        <a:t>):</a:t>
                      </a:r>
                      <a:br>
                        <a:rPr lang="pt-BR" sz="1550">
                          <a:solidFill>
                            <a:srgbClr val="383A42"/>
                          </a:solidFill>
                          <a:highlight>
                            <a:srgbClr val="FAFAFA"/>
                          </a:highlight>
                          <a:latin typeface="Consolas"/>
                          <a:ea typeface="Consolas"/>
                          <a:cs typeface="Consolas"/>
                          <a:sym typeface="Consolas"/>
                        </a:rPr>
                      </a:br>
                      <a:r>
                        <a:rPr lang="pt-BR" sz="1550">
                          <a:solidFill>
                            <a:srgbClr val="383A42"/>
                          </a:solidFill>
                          <a:highlight>
                            <a:srgbClr val="FAFAFA"/>
                          </a:highlight>
                          <a:latin typeface="Consolas"/>
                          <a:ea typeface="Consolas"/>
                          <a:cs typeface="Consolas"/>
                          <a:sym typeface="Consolas"/>
                        </a:rPr>
                        <a:t>    np.random.shuffle(data)</a:t>
                      </a:r>
                      <a:endParaRPr sz="1550">
                        <a:solidFill>
                          <a:srgbClr val="383A42"/>
                        </a:solidFill>
                        <a:highlight>
                          <a:srgbClr val="FAFAFA"/>
                        </a:highlight>
                        <a:latin typeface="Consolas"/>
                        <a:ea typeface="Consolas"/>
                        <a:cs typeface="Consolas"/>
                        <a:sym typeface="Consolas"/>
                      </a:endParaRPr>
                    </a:p>
                    <a:p>
                      <a:pPr indent="0" lvl="0" marL="0" rtl="0" algn="l">
                        <a:lnSpc>
                          <a:spcPct val="115000"/>
                        </a:lnSpc>
                        <a:spcBef>
                          <a:spcPts val="0"/>
                        </a:spcBef>
                        <a:spcAft>
                          <a:spcPts val="0"/>
                        </a:spcAft>
                        <a:buNone/>
                      </a:pPr>
                      <a:r>
                        <a:rPr lang="pt-BR" sz="1550">
                          <a:solidFill>
                            <a:srgbClr val="383A42"/>
                          </a:solidFill>
                          <a:highlight>
                            <a:srgbClr val="FAFAFA"/>
                          </a:highlight>
                          <a:latin typeface="Consolas"/>
                          <a:ea typeface="Consolas"/>
                          <a:cs typeface="Consolas"/>
                          <a:sym typeface="Consolas"/>
                        </a:rPr>
                        <a:t>    juri = data[:juri_size]</a:t>
                      </a:r>
                      <a:br>
                        <a:rPr lang="pt-BR" sz="1550">
                          <a:solidFill>
                            <a:srgbClr val="383A42"/>
                          </a:solidFill>
                          <a:highlight>
                            <a:srgbClr val="FAFAFA"/>
                          </a:highlight>
                          <a:latin typeface="Consolas"/>
                          <a:ea typeface="Consolas"/>
                          <a:cs typeface="Consolas"/>
                          <a:sym typeface="Consolas"/>
                        </a:rPr>
                      </a:br>
                      <a:r>
                        <a:rPr lang="pt-BR" sz="1550">
                          <a:solidFill>
                            <a:srgbClr val="383A42"/>
                          </a:solidFill>
                          <a:highlight>
                            <a:srgbClr val="FAFAFA"/>
                          </a:highlight>
                          <a:latin typeface="Consolas"/>
                          <a:ea typeface="Consolas"/>
                          <a:cs typeface="Consolas"/>
                          <a:sym typeface="Consolas"/>
                        </a:rPr>
                        <a:t>    num_black = (juri == </a:t>
                      </a:r>
                      <a:r>
                        <a:rPr lang="pt-BR" sz="1550">
                          <a:solidFill>
                            <a:srgbClr val="50A14F"/>
                          </a:solidFill>
                          <a:highlight>
                            <a:srgbClr val="FAFAFA"/>
                          </a:highlight>
                          <a:latin typeface="Consolas"/>
                          <a:ea typeface="Consolas"/>
                          <a:cs typeface="Consolas"/>
                          <a:sym typeface="Consolas"/>
                        </a:rPr>
                        <a:t>b'B'</a:t>
                      </a:r>
                      <a:r>
                        <a:rPr lang="pt-BR" sz="1550">
                          <a:solidFill>
                            <a:srgbClr val="383A42"/>
                          </a:solidFill>
                          <a:highlight>
                            <a:srgbClr val="FAFAFA"/>
                          </a:highlight>
                          <a:latin typeface="Consolas"/>
                          <a:ea typeface="Consolas"/>
                          <a:cs typeface="Consolas"/>
                          <a:sym typeface="Consolas"/>
                        </a:rPr>
                        <a:t>).sum()</a:t>
                      </a:r>
                      <a:br>
                        <a:rPr lang="pt-BR" sz="1550">
                          <a:solidFill>
                            <a:srgbClr val="383A42"/>
                          </a:solidFill>
                          <a:highlight>
                            <a:srgbClr val="FAFAFA"/>
                          </a:highlight>
                          <a:latin typeface="Consolas"/>
                          <a:ea typeface="Consolas"/>
                          <a:cs typeface="Consolas"/>
                          <a:sym typeface="Consolas"/>
                        </a:rPr>
                      </a:br>
                      <a:r>
                        <a:rPr lang="pt-BR" sz="1550">
                          <a:solidFill>
                            <a:srgbClr val="383A42"/>
                          </a:solidFill>
                          <a:highlight>
                            <a:srgbClr val="FAFAFA"/>
                          </a:highlight>
                          <a:latin typeface="Consolas"/>
                          <a:ea typeface="Consolas"/>
                          <a:cs typeface="Consolas"/>
                          <a:sym typeface="Consolas"/>
                        </a:rPr>
                        <a:t>    simulations[i] = num_black</a:t>
                      </a:r>
                      <a:endParaRPr sz="1550">
                        <a:latin typeface="Courier New"/>
                        <a:ea typeface="Courier New"/>
                        <a:cs typeface="Courier New"/>
                        <a:sym typeface="Courier New"/>
                      </a:endParaRPr>
                    </a:p>
                  </a:txBody>
                  <a:tcPr marT="63500" marB="63500" marR="63500" marL="63500">
                    <a:solidFill>
                      <a:srgbClr val="FAFAFA"/>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graphicFrame>
        <p:nvGraphicFramePr>
          <p:cNvPr id="306" name="Google Shape;306;p40"/>
          <p:cNvGraphicFramePr/>
          <p:nvPr/>
        </p:nvGraphicFramePr>
        <p:xfrm>
          <a:off x="4311625" y="3593750"/>
          <a:ext cx="3000000" cy="3000000"/>
        </p:xfrm>
        <a:graphic>
          <a:graphicData uri="http://schemas.openxmlformats.org/drawingml/2006/table">
            <a:tbl>
              <a:tblPr>
                <a:noFill/>
                <a:tableStyleId>{E6F389CA-A1F8-429B-937D-27BCD03C1D14}</a:tableStyleId>
              </a:tblPr>
              <a:tblGrid>
                <a:gridCol w="3781075"/>
              </a:tblGrid>
              <a:tr h="12700">
                <a:tc>
                  <a:txBody>
                    <a:bodyPr/>
                    <a:lstStyle/>
                    <a:p>
                      <a:pPr indent="0" lvl="0" marL="0" rtl="0" algn="l">
                        <a:lnSpc>
                          <a:spcPct val="115000"/>
                        </a:lnSpc>
                        <a:spcBef>
                          <a:spcPts val="0"/>
                        </a:spcBef>
                        <a:spcAft>
                          <a:spcPts val="0"/>
                        </a:spcAft>
                        <a:buNone/>
                      </a:pPr>
                      <a:r>
                        <a:rPr lang="pt-BR" sz="1150">
                          <a:solidFill>
                            <a:srgbClr val="383A42"/>
                          </a:solidFill>
                          <a:highlight>
                            <a:srgbClr val="FAFAFA"/>
                          </a:highlight>
                          <a:latin typeface="Consolas"/>
                          <a:ea typeface="Consolas"/>
                          <a:cs typeface="Consolas"/>
                          <a:sym typeface="Consolas"/>
                        </a:rPr>
                        <a:t>juri_size = </a:t>
                      </a:r>
                      <a:r>
                        <a:rPr lang="pt-BR" sz="1150">
                          <a:solidFill>
                            <a:srgbClr val="986801"/>
                          </a:solidFill>
                          <a:highlight>
                            <a:srgbClr val="FAFAFA"/>
                          </a:highlight>
                          <a:latin typeface="Consolas"/>
                          <a:ea typeface="Consolas"/>
                          <a:cs typeface="Consolas"/>
                          <a:sym typeface="Consolas"/>
                        </a:rPr>
                        <a:t>100</a:t>
                      </a:r>
                      <a:br>
                        <a:rPr lang="pt-BR" sz="1150">
                          <a:solidFill>
                            <a:srgbClr val="383A42"/>
                          </a:solidFill>
                          <a:highlight>
                            <a:srgbClr val="FAFAFA"/>
                          </a:highlight>
                          <a:latin typeface="Consolas"/>
                          <a:ea typeface="Consolas"/>
                          <a:cs typeface="Consolas"/>
                          <a:sym typeface="Consolas"/>
                        </a:rPr>
                      </a:br>
                      <a:r>
                        <a:rPr lang="pt-BR" sz="1150">
                          <a:solidFill>
                            <a:srgbClr val="383A42"/>
                          </a:solidFill>
                          <a:highlight>
                            <a:srgbClr val="FAFAFA"/>
                          </a:highlight>
                          <a:latin typeface="Consolas"/>
                          <a:ea typeface="Consolas"/>
                          <a:cs typeface="Consolas"/>
                          <a:sym typeface="Consolas"/>
                        </a:rPr>
                        <a:t>simulations = np.zeros(</a:t>
                      </a:r>
                      <a:r>
                        <a:rPr lang="pt-BR" sz="1150">
                          <a:solidFill>
                            <a:srgbClr val="986801"/>
                          </a:solidFill>
                          <a:highlight>
                            <a:srgbClr val="FAFAFA"/>
                          </a:highlight>
                          <a:latin typeface="Consolas"/>
                          <a:ea typeface="Consolas"/>
                          <a:cs typeface="Consolas"/>
                          <a:sym typeface="Consolas"/>
                        </a:rPr>
                        <a:t>1000</a:t>
                      </a:r>
                      <a:r>
                        <a:rPr lang="pt-BR" sz="1150">
                          <a:solidFill>
                            <a:srgbClr val="383A42"/>
                          </a:solidFill>
                          <a:highlight>
                            <a:srgbClr val="FAFAFA"/>
                          </a:highlight>
                          <a:latin typeface="Consolas"/>
                          <a:ea typeface="Consolas"/>
                          <a:cs typeface="Consolas"/>
                          <a:sym typeface="Consolas"/>
                        </a:rPr>
                        <a:t>)</a:t>
                      </a:r>
                      <a:br>
                        <a:rPr lang="pt-BR" sz="1150">
                          <a:solidFill>
                            <a:srgbClr val="383A42"/>
                          </a:solidFill>
                          <a:highlight>
                            <a:srgbClr val="FAFAFA"/>
                          </a:highlight>
                          <a:latin typeface="Consolas"/>
                          <a:ea typeface="Consolas"/>
                          <a:cs typeface="Consolas"/>
                          <a:sym typeface="Consolas"/>
                        </a:rPr>
                      </a:br>
                      <a:r>
                        <a:rPr lang="pt-BR" sz="1150">
                          <a:solidFill>
                            <a:srgbClr val="A626A4"/>
                          </a:solidFill>
                          <a:highlight>
                            <a:srgbClr val="FAFAFA"/>
                          </a:highlight>
                          <a:latin typeface="Consolas"/>
                          <a:ea typeface="Consolas"/>
                          <a:cs typeface="Consolas"/>
                          <a:sym typeface="Consolas"/>
                        </a:rPr>
                        <a:t>for</a:t>
                      </a:r>
                      <a:r>
                        <a:rPr lang="pt-BR" sz="1150">
                          <a:solidFill>
                            <a:srgbClr val="383A42"/>
                          </a:solidFill>
                          <a:highlight>
                            <a:srgbClr val="FAFAFA"/>
                          </a:highlight>
                          <a:latin typeface="Consolas"/>
                          <a:ea typeface="Consolas"/>
                          <a:cs typeface="Consolas"/>
                          <a:sym typeface="Consolas"/>
                        </a:rPr>
                        <a:t> i </a:t>
                      </a:r>
                      <a:r>
                        <a:rPr lang="pt-BR" sz="1150">
                          <a:solidFill>
                            <a:srgbClr val="A626A4"/>
                          </a:solidFill>
                          <a:highlight>
                            <a:srgbClr val="FAFAFA"/>
                          </a:highlight>
                          <a:latin typeface="Consolas"/>
                          <a:ea typeface="Consolas"/>
                          <a:cs typeface="Consolas"/>
                          <a:sym typeface="Consolas"/>
                        </a:rPr>
                        <a:t>in</a:t>
                      </a:r>
                      <a:r>
                        <a:rPr lang="pt-BR" sz="1150">
                          <a:solidFill>
                            <a:srgbClr val="383A42"/>
                          </a:solidFill>
                          <a:highlight>
                            <a:srgbClr val="FAFAFA"/>
                          </a:highlight>
                          <a:latin typeface="Consolas"/>
                          <a:ea typeface="Consolas"/>
                          <a:cs typeface="Consolas"/>
                          <a:sym typeface="Consolas"/>
                        </a:rPr>
                        <a:t> range(</a:t>
                      </a:r>
                      <a:r>
                        <a:rPr lang="pt-BR" sz="1150">
                          <a:solidFill>
                            <a:srgbClr val="986801"/>
                          </a:solidFill>
                          <a:highlight>
                            <a:srgbClr val="FAFAFA"/>
                          </a:highlight>
                          <a:latin typeface="Consolas"/>
                          <a:ea typeface="Consolas"/>
                          <a:cs typeface="Consolas"/>
                          <a:sym typeface="Consolas"/>
                        </a:rPr>
                        <a:t>1000</a:t>
                      </a:r>
                      <a:r>
                        <a:rPr lang="pt-BR" sz="1150">
                          <a:solidFill>
                            <a:srgbClr val="383A42"/>
                          </a:solidFill>
                          <a:highlight>
                            <a:srgbClr val="FAFAFA"/>
                          </a:highlight>
                          <a:latin typeface="Consolas"/>
                          <a:ea typeface="Consolas"/>
                          <a:cs typeface="Consolas"/>
                          <a:sym typeface="Consolas"/>
                        </a:rPr>
                        <a:t>):</a:t>
                      </a:r>
                      <a:br>
                        <a:rPr lang="pt-BR" sz="1150">
                          <a:solidFill>
                            <a:srgbClr val="383A42"/>
                          </a:solidFill>
                          <a:highlight>
                            <a:srgbClr val="FAFAFA"/>
                          </a:highlight>
                          <a:latin typeface="Consolas"/>
                          <a:ea typeface="Consolas"/>
                          <a:cs typeface="Consolas"/>
                          <a:sym typeface="Consolas"/>
                        </a:rPr>
                      </a:br>
                      <a:r>
                        <a:rPr lang="pt-BR" sz="1150">
                          <a:solidFill>
                            <a:srgbClr val="383A42"/>
                          </a:solidFill>
                          <a:highlight>
                            <a:srgbClr val="FAFAFA"/>
                          </a:highlight>
                          <a:latin typeface="Consolas"/>
                          <a:ea typeface="Consolas"/>
                          <a:cs typeface="Consolas"/>
                          <a:sym typeface="Consolas"/>
                        </a:rPr>
                        <a:t>    np.random.shuffle(data)</a:t>
                      </a:r>
                      <a:endParaRPr sz="1150">
                        <a:solidFill>
                          <a:srgbClr val="383A42"/>
                        </a:solidFill>
                        <a:highlight>
                          <a:srgbClr val="FAFAFA"/>
                        </a:highlight>
                        <a:latin typeface="Consolas"/>
                        <a:ea typeface="Consolas"/>
                        <a:cs typeface="Consolas"/>
                        <a:sym typeface="Consolas"/>
                      </a:endParaRPr>
                    </a:p>
                    <a:p>
                      <a:pPr indent="0" lvl="0" marL="0" rtl="0" algn="l">
                        <a:lnSpc>
                          <a:spcPct val="115000"/>
                        </a:lnSpc>
                        <a:spcBef>
                          <a:spcPts val="0"/>
                        </a:spcBef>
                        <a:spcAft>
                          <a:spcPts val="0"/>
                        </a:spcAft>
                        <a:buNone/>
                      </a:pPr>
                      <a:r>
                        <a:rPr lang="pt-BR" sz="1150">
                          <a:solidFill>
                            <a:srgbClr val="383A42"/>
                          </a:solidFill>
                          <a:highlight>
                            <a:srgbClr val="FAFAFA"/>
                          </a:highlight>
                          <a:latin typeface="Consolas"/>
                          <a:ea typeface="Consolas"/>
                          <a:cs typeface="Consolas"/>
                          <a:sym typeface="Consolas"/>
                        </a:rPr>
                        <a:t>    juri = data[:juri_size]</a:t>
                      </a:r>
                      <a:br>
                        <a:rPr lang="pt-BR" sz="1150">
                          <a:solidFill>
                            <a:srgbClr val="383A42"/>
                          </a:solidFill>
                          <a:highlight>
                            <a:srgbClr val="FAFAFA"/>
                          </a:highlight>
                          <a:latin typeface="Consolas"/>
                          <a:ea typeface="Consolas"/>
                          <a:cs typeface="Consolas"/>
                          <a:sym typeface="Consolas"/>
                        </a:rPr>
                      </a:br>
                      <a:r>
                        <a:rPr lang="pt-BR" sz="1150">
                          <a:solidFill>
                            <a:srgbClr val="383A42"/>
                          </a:solidFill>
                          <a:highlight>
                            <a:srgbClr val="FAFAFA"/>
                          </a:highlight>
                          <a:latin typeface="Consolas"/>
                          <a:ea typeface="Consolas"/>
                          <a:cs typeface="Consolas"/>
                          <a:sym typeface="Consolas"/>
                        </a:rPr>
                        <a:t>    num_black = (juri == </a:t>
                      </a:r>
                      <a:r>
                        <a:rPr lang="pt-BR" sz="1150">
                          <a:solidFill>
                            <a:srgbClr val="50A14F"/>
                          </a:solidFill>
                          <a:highlight>
                            <a:srgbClr val="FAFAFA"/>
                          </a:highlight>
                          <a:latin typeface="Consolas"/>
                          <a:ea typeface="Consolas"/>
                          <a:cs typeface="Consolas"/>
                          <a:sym typeface="Consolas"/>
                        </a:rPr>
                        <a:t>b'B'</a:t>
                      </a:r>
                      <a:r>
                        <a:rPr lang="pt-BR" sz="1150">
                          <a:solidFill>
                            <a:srgbClr val="383A42"/>
                          </a:solidFill>
                          <a:highlight>
                            <a:srgbClr val="FAFAFA"/>
                          </a:highlight>
                          <a:latin typeface="Consolas"/>
                          <a:ea typeface="Consolas"/>
                          <a:cs typeface="Consolas"/>
                          <a:sym typeface="Consolas"/>
                        </a:rPr>
                        <a:t>).sum()</a:t>
                      </a:r>
                      <a:br>
                        <a:rPr lang="pt-BR" sz="1150">
                          <a:solidFill>
                            <a:srgbClr val="383A42"/>
                          </a:solidFill>
                          <a:highlight>
                            <a:srgbClr val="FAFAFA"/>
                          </a:highlight>
                          <a:latin typeface="Consolas"/>
                          <a:ea typeface="Consolas"/>
                          <a:cs typeface="Consolas"/>
                          <a:sym typeface="Consolas"/>
                        </a:rPr>
                      </a:br>
                      <a:r>
                        <a:rPr lang="pt-BR" sz="1150">
                          <a:solidFill>
                            <a:srgbClr val="383A42"/>
                          </a:solidFill>
                          <a:highlight>
                            <a:srgbClr val="FAFAFA"/>
                          </a:highlight>
                          <a:latin typeface="Consolas"/>
                          <a:ea typeface="Consolas"/>
                          <a:cs typeface="Consolas"/>
                          <a:sym typeface="Consolas"/>
                        </a:rPr>
                        <a:t>    simulations[i] = num_black</a:t>
                      </a:r>
                      <a:endParaRPr sz="1150">
                        <a:latin typeface="Courier New"/>
                        <a:ea typeface="Courier New"/>
                        <a:cs typeface="Courier New"/>
                        <a:sym typeface="Courier New"/>
                      </a:endParaRPr>
                    </a:p>
                  </a:txBody>
                  <a:tcPr marT="63500" marB="63500" marR="63500" marL="63500">
                    <a:solidFill>
                      <a:srgbClr val="FAFAFA"/>
                    </a:solidFill>
                  </a:tcPr>
                </a:tc>
              </a:tr>
            </a:tbl>
          </a:graphicData>
        </a:graphic>
      </p:graphicFrame>
      <p:sp>
        <p:nvSpPr>
          <p:cNvPr id="307" name="Google Shape;307;p40"/>
          <p:cNvSpPr/>
          <p:nvPr/>
        </p:nvSpPr>
        <p:spPr>
          <a:xfrm>
            <a:off x="3886225" y="4085950"/>
            <a:ext cx="425400" cy="184200"/>
          </a:xfrm>
          <a:prstGeom prst="rightArrow">
            <a:avLst>
              <a:gd fmla="val 50000" name="adj1"/>
              <a:gd fmla="val 50000" name="adj2"/>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40"/>
          <p:cNvSpPr txBox="1"/>
          <p:nvPr>
            <p:ph idx="1" type="body"/>
          </p:nvPr>
        </p:nvSpPr>
        <p:spPr>
          <a:xfrm>
            <a:off x="311700" y="973950"/>
            <a:ext cx="8520600" cy="29970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pt-BR" sz="1600"/>
              <a:t>Defina um tamanho para a população. Vamos assumir 10,000 pessoas.</a:t>
            </a:r>
            <a:endParaRPr sz="1600"/>
          </a:p>
          <a:p>
            <a:pPr indent="-304800" lvl="1" marL="914400" rtl="0" algn="l">
              <a:spcBef>
                <a:spcPts val="0"/>
              </a:spcBef>
              <a:spcAft>
                <a:spcPts val="0"/>
              </a:spcAft>
              <a:buSzPts val="1200"/>
              <a:buAutoNum type="alphaLcPeriod"/>
            </a:pPr>
            <a:r>
              <a:rPr lang="pt-BR" sz="1200"/>
              <a:t>Não vai importar muito no fim</a:t>
            </a:r>
            <a:endParaRPr sz="1200"/>
          </a:p>
          <a:p>
            <a:pPr indent="-304800" lvl="1" marL="914400" rtl="0" algn="l">
              <a:spcBef>
                <a:spcPts val="0"/>
              </a:spcBef>
              <a:spcAft>
                <a:spcPts val="0"/>
              </a:spcAft>
              <a:buSzPts val="1200"/>
              <a:buAutoNum type="alphaLcPeriod"/>
            </a:pPr>
            <a:r>
              <a:rPr lang="pt-BR" sz="1200"/>
              <a:t>É uma constante e vamos nos preocupar com uma fração dela</a:t>
            </a:r>
            <a:endParaRPr sz="1200"/>
          </a:p>
          <a:p>
            <a:pPr indent="-330200" lvl="0" marL="457200" rtl="0" algn="l">
              <a:spcBef>
                <a:spcPts val="0"/>
              </a:spcBef>
              <a:spcAft>
                <a:spcPts val="0"/>
              </a:spcAft>
              <a:buSzPts val="1600"/>
              <a:buAutoNum type="arabicPeriod"/>
            </a:pPr>
            <a:r>
              <a:rPr lang="pt-BR" sz="1600"/>
              <a:t>Cada pessoa tem um número</a:t>
            </a:r>
            <a:endParaRPr sz="1600"/>
          </a:p>
          <a:p>
            <a:pPr indent="-330200" lvl="0" marL="457200" rtl="0" algn="l">
              <a:spcBef>
                <a:spcPts val="0"/>
              </a:spcBef>
              <a:spcAft>
                <a:spcPts val="0"/>
              </a:spcAft>
              <a:buSzPts val="1600"/>
              <a:buAutoNum type="arabicPeriod"/>
            </a:pPr>
            <a:r>
              <a:rPr lang="pt-BR" sz="1600"/>
              <a:t>Os primeiros 26% dos números são de um grupo. Os outros 77% do outro.</a:t>
            </a:r>
            <a:endParaRPr sz="1600"/>
          </a:p>
          <a:p>
            <a:pPr indent="-330200" lvl="0" marL="457200" rtl="0" algn="l">
              <a:spcBef>
                <a:spcPts val="0"/>
              </a:spcBef>
              <a:spcAft>
                <a:spcPts val="0"/>
              </a:spcAft>
              <a:buClr>
                <a:srgbClr val="980000"/>
              </a:buClr>
              <a:buSzPts val="1600"/>
              <a:buAutoNum type="arabicPeriod"/>
            </a:pPr>
            <a:r>
              <a:rPr lang="pt-BR" sz="1600" u="sng">
                <a:solidFill>
                  <a:srgbClr val="980000"/>
                </a:solidFill>
              </a:rPr>
              <a:t>Realizar 10,000 (ou 1000, ou 5000) amostras.</a:t>
            </a:r>
            <a:endParaRPr sz="1600" u="sng">
              <a:solidFill>
                <a:srgbClr val="980000"/>
              </a:solidFill>
            </a:endParaRPr>
          </a:p>
          <a:p>
            <a:pPr indent="-330200" lvl="0" marL="457200" rtl="0" algn="l">
              <a:spcBef>
                <a:spcPts val="0"/>
              </a:spcBef>
              <a:spcAft>
                <a:spcPts val="0"/>
              </a:spcAft>
              <a:buClr>
                <a:schemeClr val="dk1"/>
              </a:buClr>
              <a:buSzPts val="1600"/>
              <a:buAutoNum type="arabicPeriod"/>
            </a:pPr>
            <a:r>
              <a:rPr lang="pt-BR" sz="1600">
                <a:solidFill>
                  <a:schemeClr val="dk1"/>
                </a:solidFill>
              </a:rPr>
              <a:t>Criar um Júri com 100 pessoas aleatórias</a:t>
            </a:r>
            <a:endParaRPr sz="1600">
              <a:solidFill>
                <a:schemeClr val="dk1"/>
              </a:solidFill>
            </a:endParaRPr>
          </a:p>
          <a:p>
            <a:pPr indent="-304800" lvl="1" marL="914400" rtl="0" algn="l">
              <a:spcBef>
                <a:spcPts val="0"/>
              </a:spcBef>
              <a:spcAft>
                <a:spcPts val="0"/>
              </a:spcAft>
              <a:buClr>
                <a:schemeClr val="dk1"/>
              </a:buClr>
              <a:buSzPts val="1200"/>
              <a:buAutoNum type="alphaLcPeriod"/>
            </a:pPr>
            <a:r>
              <a:rPr lang="pt-BR" sz="1200">
                <a:solidFill>
                  <a:schemeClr val="dk1"/>
                </a:solidFill>
              </a:rPr>
              <a:t>aqui uso o shuffle para embaralhar a população</a:t>
            </a:r>
            <a:endParaRPr sz="1200"/>
          </a:p>
          <a:p>
            <a:pPr indent="-330200" lvl="0" marL="457200" rtl="0" algn="l">
              <a:spcBef>
                <a:spcPts val="0"/>
              </a:spcBef>
              <a:spcAft>
                <a:spcPts val="0"/>
              </a:spcAft>
              <a:buSzPts val="1600"/>
              <a:buAutoNum type="arabicPeriod"/>
            </a:pPr>
            <a:r>
              <a:rPr lang="pt-BR" sz="1600"/>
              <a:t>Contar quantas pessoas negras no </a:t>
            </a:r>
            <a:r>
              <a:rPr lang="pt-BR" sz="1600"/>
              <a:t>júri</a:t>
            </a:r>
            <a:r>
              <a:rPr lang="pt-BR" sz="1600"/>
              <a:t>, guardar</a:t>
            </a:r>
            <a:endParaRPr sz="1600"/>
          </a:p>
          <a:p>
            <a:pPr indent="-330200" lvl="0" marL="457200" rtl="0" algn="l">
              <a:spcBef>
                <a:spcPts val="0"/>
              </a:spcBef>
              <a:spcAft>
                <a:spcPts val="0"/>
              </a:spcAft>
              <a:buSzPts val="1600"/>
              <a:buAutoNum type="arabicPeriod"/>
            </a:pPr>
            <a:r>
              <a:rPr lang="pt-BR" sz="1600"/>
              <a:t>Verificar o histograma.</a:t>
            </a:r>
            <a:endParaRPr sz="1600"/>
          </a:p>
        </p:txBody>
      </p:sp>
      <p:sp>
        <p:nvSpPr>
          <p:cNvPr id="309" name="Google Shape;309;p40"/>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Como simular</a:t>
            </a:r>
            <a:endParaRPr/>
          </a:p>
        </p:txBody>
      </p:sp>
      <p:sp>
        <p:nvSpPr>
          <p:cNvPr id="310" name="Google Shape;310;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graphicFrame>
        <p:nvGraphicFramePr>
          <p:cNvPr id="315" name="Google Shape;315;p41"/>
          <p:cNvGraphicFramePr/>
          <p:nvPr/>
        </p:nvGraphicFramePr>
        <p:xfrm>
          <a:off x="4311625" y="3593750"/>
          <a:ext cx="3000000" cy="3000000"/>
        </p:xfrm>
        <a:graphic>
          <a:graphicData uri="http://schemas.openxmlformats.org/drawingml/2006/table">
            <a:tbl>
              <a:tblPr>
                <a:noFill/>
                <a:tableStyleId>{E6F389CA-A1F8-429B-937D-27BCD03C1D14}</a:tableStyleId>
              </a:tblPr>
              <a:tblGrid>
                <a:gridCol w="3781075"/>
              </a:tblGrid>
              <a:tr h="12700">
                <a:tc>
                  <a:txBody>
                    <a:bodyPr/>
                    <a:lstStyle/>
                    <a:p>
                      <a:pPr indent="0" lvl="0" marL="0" rtl="0" algn="l">
                        <a:lnSpc>
                          <a:spcPct val="115000"/>
                        </a:lnSpc>
                        <a:spcBef>
                          <a:spcPts val="0"/>
                        </a:spcBef>
                        <a:spcAft>
                          <a:spcPts val="0"/>
                        </a:spcAft>
                        <a:buNone/>
                      </a:pPr>
                      <a:r>
                        <a:rPr lang="pt-BR" sz="1150">
                          <a:solidFill>
                            <a:srgbClr val="383A42"/>
                          </a:solidFill>
                          <a:highlight>
                            <a:srgbClr val="FAFAFA"/>
                          </a:highlight>
                          <a:latin typeface="Consolas"/>
                          <a:ea typeface="Consolas"/>
                          <a:cs typeface="Consolas"/>
                          <a:sym typeface="Consolas"/>
                        </a:rPr>
                        <a:t>juri_size = </a:t>
                      </a:r>
                      <a:r>
                        <a:rPr lang="pt-BR" sz="1150">
                          <a:solidFill>
                            <a:srgbClr val="986801"/>
                          </a:solidFill>
                          <a:highlight>
                            <a:srgbClr val="FAFAFA"/>
                          </a:highlight>
                          <a:latin typeface="Consolas"/>
                          <a:ea typeface="Consolas"/>
                          <a:cs typeface="Consolas"/>
                          <a:sym typeface="Consolas"/>
                        </a:rPr>
                        <a:t>100</a:t>
                      </a:r>
                      <a:br>
                        <a:rPr lang="pt-BR" sz="1150">
                          <a:solidFill>
                            <a:srgbClr val="383A42"/>
                          </a:solidFill>
                          <a:highlight>
                            <a:srgbClr val="FAFAFA"/>
                          </a:highlight>
                          <a:latin typeface="Consolas"/>
                          <a:ea typeface="Consolas"/>
                          <a:cs typeface="Consolas"/>
                          <a:sym typeface="Consolas"/>
                        </a:rPr>
                      </a:br>
                      <a:r>
                        <a:rPr lang="pt-BR" sz="1150">
                          <a:solidFill>
                            <a:srgbClr val="383A42"/>
                          </a:solidFill>
                          <a:highlight>
                            <a:srgbClr val="FAFAFA"/>
                          </a:highlight>
                          <a:latin typeface="Consolas"/>
                          <a:ea typeface="Consolas"/>
                          <a:cs typeface="Consolas"/>
                          <a:sym typeface="Consolas"/>
                        </a:rPr>
                        <a:t>simulations = np.zeros(</a:t>
                      </a:r>
                      <a:r>
                        <a:rPr lang="pt-BR" sz="1150">
                          <a:solidFill>
                            <a:srgbClr val="986801"/>
                          </a:solidFill>
                          <a:highlight>
                            <a:srgbClr val="FAFAFA"/>
                          </a:highlight>
                          <a:latin typeface="Consolas"/>
                          <a:ea typeface="Consolas"/>
                          <a:cs typeface="Consolas"/>
                          <a:sym typeface="Consolas"/>
                        </a:rPr>
                        <a:t>1000</a:t>
                      </a:r>
                      <a:r>
                        <a:rPr lang="pt-BR" sz="1150">
                          <a:solidFill>
                            <a:srgbClr val="383A42"/>
                          </a:solidFill>
                          <a:highlight>
                            <a:srgbClr val="FAFAFA"/>
                          </a:highlight>
                          <a:latin typeface="Consolas"/>
                          <a:ea typeface="Consolas"/>
                          <a:cs typeface="Consolas"/>
                          <a:sym typeface="Consolas"/>
                        </a:rPr>
                        <a:t>)</a:t>
                      </a:r>
                      <a:br>
                        <a:rPr lang="pt-BR" sz="1150">
                          <a:solidFill>
                            <a:srgbClr val="383A42"/>
                          </a:solidFill>
                          <a:highlight>
                            <a:srgbClr val="FAFAFA"/>
                          </a:highlight>
                          <a:latin typeface="Consolas"/>
                          <a:ea typeface="Consolas"/>
                          <a:cs typeface="Consolas"/>
                          <a:sym typeface="Consolas"/>
                        </a:rPr>
                      </a:br>
                      <a:r>
                        <a:rPr lang="pt-BR" sz="1150">
                          <a:solidFill>
                            <a:srgbClr val="A626A4"/>
                          </a:solidFill>
                          <a:highlight>
                            <a:srgbClr val="FAFAFA"/>
                          </a:highlight>
                          <a:latin typeface="Consolas"/>
                          <a:ea typeface="Consolas"/>
                          <a:cs typeface="Consolas"/>
                          <a:sym typeface="Consolas"/>
                        </a:rPr>
                        <a:t>for</a:t>
                      </a:r>
                      <a:r>
                        <a:rPr lang="pt-BR" sz="1150">
                          <a:solidFill>
                            <a:srgbClr val="383A42"/>
                          </a:solidFill>
                          <a:highlight>
                            <a:srgbClr val="FAFAFA"/>
                          </a:highlight>
                          <a:latin typeface="Consolas"/>
                          <a:ea typeface="Consolas"/>
                          <a:cs typeface="Consolas"/>
                          <a:sym typeface="Consolas"/>
                        </a:rPr>
                        <a:t> i </a:t>
                      </a:r>
                      <a:r>
                        <a:rPr lang="pt-BR" sz="1150">
                          <a:solidFill>
                            <a:srgbClr val="A626A4"/>
                          </a:solidFill>
                          <a:highlight>
                            <a:srgbClr val="FAFAFA"/>
                          </a:highlight>
                          <a:latin typeface="Consolas"/>
                          <a:ea typeface="Consolas"/>
                          <a:cs typeface="Consolas"/>
                          <a:sym typeface="Consolas"/>
                        </a:rPr>
                        <a:t>in</a:t>
                      </a:r>
                      <a:r>
                        <a:rPr lang="pt-BR" sz="1150">
                          <a:solidFill>
                            <a:srgbClr val="383A42"/>
                          </a:solidFill>
                          <a:highlight>
                            <a:srgbClr val="FAFAFA"/>
                          </a:highlight>
                          <a:latin typeface="Consolas"/>
                          <a:ea typeface="Consolas"/>
                          <a:cs typeface="Consolas"/>
                          <a:sym typeface="Consolas"/>
                        </a:rPr>
                        <a:t> range(</a:t>
                      </a:r>
                      <a:r>
                        <a:rPr lang="pt-BR" sz="1150">
                          <a:solidFill>
                            <a:srgbClr val="986801"/>
                          </a:solidFill>
                          <a:highlight>
                            <a:srgbClr val="FAFAFA"/>
                          </a:highlight>
                          <a:latin typeface="Consolas"/>
                          <a:ea typeface="Consolas"/>
                          <a:cs typeface="Consolas"/>
                          <a:sym typeface="Consolas"/>
                        </a:rPr>
                        <a:t>1000</a:t>
                      </a:r>
                      <a:r>
                        <a:rPr lang="pt-BR" sz="1150">
                          <a:solidFill>
                            <a:srgbClr val="383A42"/>
                          </a:solidFill>
                          <a:highlight>
                            <a:srgbClr val="FAFAFA"/>
                          </a:highlight>
                          <a:latin typeface="Consolas"/>
                          <a:ea typeface="Consolas"/>
                          <a:cs typeface="Consolas"/>
                          <a:sym typeface="Consolas"/>
                        </a:rPr>
                        <a:t>):</a:t>
                      </a:r>
                      <a:br>
                        <a:rPr lang="pt-BR" sz="1150">
                          <a:solidFill>
                            <a:srgbClr val="383A42"/>
                          </a:solidFill>
                          <a:highlight>
                            <a:srgbClr val="FAFAFA"/>
                          </a:highlight>
                          <a:latin typeface="Consolas"/>
                          <a:ea typeface="Consolas"/>
                          <a:cs typeface="Consolas"/>
                          <a:sym typeface="Consolas"/>
                        </a:rPr>
                      </a:br>
                      <a:r>
                        <a:rPr lang="pt-BR" sz="1150">
                          <a:solidFill>
                            <a:srgbClr val="383A42"/>
                          </a:solidFill>
                          <a:highlight>
                            <a:srgbClr val="FAFAFA"/>
                          </a:highlight>
                          <a:latin typeface="Consolas"/>
                          <a:ea typeface="Consolas"/>
                          <a:cs typeface="Consolas"/>
                          <a:sym typeface="Consolas"/>
                        </a:rPr>
                        <a:t>    np.random.shuffle(data)</a:t>
                      </a:r>
                      <a:endParaRPr sz="1150">
                        <a:solidFill>
                          <a:srgbClr val="383A42"/>
                        </a:solidFill>
                        <a:highlight>
                          <a:srgbClr val="FAFAFA"/>
                        </a:highlight>
                        <a:latin typeface="Consolas"/>
                        <a:ea typeface="Consolas"/>
                        <a:cs typeface="Consolas"/>
                        <a:sym typeface="Consolas"/>
                      </a:endParaRPr>
                    </a:p>
                    <a:p>
                      <a:pPr indent="0" lvl="0" marL="0" rtl="0" algn="l">
                        <a:lnSpc>
                          <a:spcPct val="115000"/>
                        </a:lnSpc>
                        <a:spcBef>
                          <a:spcPts val="0"/>
                        </a:spcBef>
                        <a:spcAft>
                          <a:spcPts val="0"/>
                        </a:spcAft>
                        <a:buNone/>
                      </a:pPr>
                      <a:r>
                        <a:rPr lang="pt-BR" sz="1150">
                          <a:solidFill>
                            <a:srgbClr val="383A42"/>
                          </a:solidFill>
                          <a:highlight>
                            <a:srgbClr val="FAFAFA"/>
                          </a:highlight>
                          <a:latin typeface="Consolas"/>
                          <a:ea typeface="Consolas"/>
                          <a:cs typeface="Consolas"/>
                          <a:sym typeface="Consolas"/>
                        </a:rPr>
                        <a:t>    juri = data[:juri_size]</a:t>
                      </a:r>
                      <a:br>
                        <a:rPr lang="pt-BR" sz="1150">
                          <a:solidFill>
                            <a:srgbClr val="383A42"/>
                          </a:solidFill>
                          <a:highlight>
                            <a:srgbClr val="FAFAFA"/>
                          </a:highlight>
                          <a:latin typeface="Consolas"/>
                          <a:ea typeface="Consolas"/>
                          <a:cs typeface="Consolas"/>
                          <a:sym typeface="Consolas"/>
                        </a:rPr>
                      </a:br>
                      <a:r>
                        <a:rPr lang="pt-BR" sz="1150">
                          <a:solidFill>
                            <a:srgbClr val="383A42"/>
                          </a:solidFill>
                          <a:highlight>
                            <a:srgbClr val="FAFAFA"/>
                          </a:highlight>
                          <a:latin typeface="Consolas"/>
                          <a:ea typeface="Consolas"/>
                          <a:cs typeface="Consolas"/>
                          <a:sym typeface="Consolas"/>
                        </a:rPr>
                        <a:t>    num_black = (juri == </a:t>
                      </a:r>
                      <a:r>
                        <a:rPr lang="pt-BR" sz="1150">
                          <a:solidFill>
                            <a:srgbClr val="50A14F"/>
                          </a:solidFill>
                          <a:highlight>
                            <a:srgbClr val="FAFAFA"/>
                          </a:highlight>
                          <a:latin typeface="Consolas"/>
                          <a:ea typeface="Consolas"/>
                          <a:cs typeface="Consolas"/>
                          <a:sym typeface="Consolas"/>
                        </a:rPr>
                        <a:t>b'B'</a:t>
                      </a:r>
                      <a:r>
                        <a:rPr lang="pt-BR" sz="1150">
                          <a:solidFill>
                            <a:srgbClr val="383A42"/>
                          </a:solidFill>
                          <a:highlight>
                            <a:srgbClr val="FAFAFA"/>
                          </a:highlight>
                          <a:latin typeface="Consolas"/>
                          <a:ea typeface="Consolas"/>
                          <a:cs typeface="Consolas"/>
                          <a:sym typeface="Consolas"/>
                        </a:rPr>
                        <a:t>).sum()</a:t>
                      </a:r>
                      <a:br>
                        <a:rPr lang="pt-BR" sz="1150">
                          <a:solidFill>
                            <a:srgbClr val="383A42"/>
                          </a:solidFill>
                          <a:highlight>
                            <a:srgbClr val="FAFAFA"/>
                          </a:highlight>
                          <a:latin typeface="Consolas"/>
                          <a:ea typeface="Consolas"/>
                          <a:cs typeface="Consolas"/>
                          <a:sym typeface="Consolas"/>
                        </a:rPr>
                      </a:br>
                      <a:r>
                        <a:rPr lang="pt-BR" sz="1150">
                          <a:solidFill>
                            <a:srgbClr val="383A42"/>
                          </a:solidFill>
                          <a:highlight>
                            <a:srgbClr val="FAFAFA"/>
                          </a:highlight>
                          <a:latin typeface="Consolas"/>
                          <a:ea typeface="Consolas"/>
                          <a:cs typeface="Consolas"/>
                          <a:sym typeface="Consolas"/>
                        </a:rPr>
                        <a:t>    simulations[i] = num_black</a:t>
                      </a:r>
                      <a:endParaRPr sz="1150">
                        <a:latin typeface="Courier New"/>
                        <a:ea typeface="Courier New"/>
                        <a:cs typeface="Courier New"/>
                        <a:sym typeface="Courier New"/>
                      </a:endParaRPr>
                    </a:p>
                  </a:txBody>
                  <a:tcPr marT="63500" marB="63500" marR="63500" marL="63500">
                    <a:solidFill>
                      <a:srgbClr val="FAFAFA"/>
                    </a:solidFill>
                  </a:tcPr>
                </a:tc>
              </a:tr>
            </a:tbl>
          </a:graphicData>
        </a:graphic>
      </p:graphicFrame>
      <p:sp>
        <p:nvSpPr>
          <p:cNvPr id="316" name="Google Shape;316;p41"/>
          <p:cNvSpPr/>
          <p:nvPr/>
        </p:nvSpPr>
        <p:spPr>
          <a:xfrm>
            <a:off x="4241450" y="4265238"/>
            <a:ext cx="425400" cy="184200"/>
          </a:xfrm>
          <a:prstGeom prst="rightArrow">
            <a:avLst>
              <a:gd fmla="val 50000" name="adj1"/>
              <a:gd fmla="val 50000" name="adj2"/>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41"/>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Como simular</a:t>
            </a:r>
            <a:endParaRPr/>
          </a:p>
        </p:txBody>
      </p:sp>
      <p:sp>
        <p:nvSpPr>
          <p:cNvPr id="318" name="Google Shape;318;p41"/>
          <p:cNvSpPr txBox="1"/>
          <p:nvPr>
            <p:ph idx="1" type="body"/>
          </p:nvPr>
        </p:nvSpPr>
        <p:spPr>
          <a:xfrm>
            <a:off x="311700" y="973950"/>
            <a:ext cx="8520600" cy="29748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pt-BR" sz="1600"/>
              <a:t>Defina um tamanho para a população. Vamos assumir 10,000 pessoas.</a:t>
            </a:r>
            <a:endParaRPr sz="1600"/>
          </a:p>
          <a:p>
            <a:pPr indent="-304800" lvl="1" marL="914400" rtl="0" algn="l">
              <a:spcBef>
                <a:spcPts val="0"/>
              </a:spcBef>
              <a:spcAft>
                <a:spcPts val="0"/>
              </a:spcAft>
              <a:buSzPts val="1200"/>
              <a:buAutoNum type="alphaLcPeriod"/>
            </a:pPr>
            <a:r>
              <a:rPr lang="pt-BR" sz="1200"/>
              <a:t>Não vai importar muito no fim</a:t>
            </a:r>
            <a:endParaRPr sz="1200"/>
          </a:p>
          <a:p>
            <a:pPr indent="-304800" lvl="1" marL="914400" rtl="0" algn="l">
              <a:spcBef>
                <a:spcPts val="0"/>
              </a:spcBef>
              <a:spcAft>
                <a:spcPts val="0"/>
              </a:spcAft>
              <a:buSzPts val="1200"/>
              <a:buAutoNum type="alphaLcPeriod"/>
            </a:pPr>
            <a:r>
              <a:rPr lang="pt-BR" sz="1200"/>
              <a:t>É uma constante e vamos nos preocupar com uma fração dela</a:t>
            </a:r>
            <a:endParaRPr sz="1200"/>
          </a:p>
          <a:p>
            <a:pPr indent="-330200" lvl="0" marL="457200" rtl="0" algn="l">
              <a:spcBef>
                <a:spcPts val="0"/>
              </a:spcBef>
              <a:spcAft>
                <a:spcPts val="0"/>
              </a:spcAft>
              <a:buSzPts val="1600"/>
              <a:buAutoNum type="arabicPeriod"/>
            </a:pPr>
            <a:r>
              <a:rPr lang="pt-BR" sz="1600"/>
              <a:t>Cada pessoa tem um número</a:t>
            </a:r>
            <a:endParaRPr sz="1600"/>
          </a:p>
          <a:p>
            <a:pPr indent="-330200" lvl="0" marL="457200" rtl="0" algn="l">
              <a:spcBef>
                <a:spcPts val="0"/>
              </a:spcBef>
              <a:spcAft>
                <a:spcPts val="0"/>
              </a:spcAft>
              <a:buSzPts val="1600"/>
              <a:buAutoNum type="arabicPeriod"/>
            </a:pPr>
            <a:r>
              <a:rPr lang="pt-BR" sz="1600"/>
              <a:t>Os primeiros 26% dos números são de um grupo. Os outros 77% do outro.</a:t>
            </a:r>
            <a:endParaRPr sz="1600"/>
          </a:p>
          <a:p>
            <a:pPr indent="-330200" lvl="0" marL="457200" rtl="0" algn="l">
              <a:spcBef>
                <a:spcPts val="0"/>
              </a:spcBef>
              <a:spcAft>
                <a:spcPts val="0"/>
              </a:spcAft>
              <a:buClr>
                <a:srgbClr val="980000"/>
              </a:buClr>
              <a:buSzPts val="1600"/>
              <a:buAutoNum type="arabicPeriod"/>
            </a:pPr>
            <a:r>
              <a:rPr lang="pt-BR" sz="1600" u="sng">
                <a:solidFill>
                  <a:srgbClr val="980000"/>
                </a:solidFill>
              </a:rPr>
              <a:t>Realizar 10,000 (ou 1000, ou 5000) amostras.</a:t>
            </a:r>
            <a:endParaRPr sz="1600" u="sng">
              <a:solidFill>
                <a:srgbClr val="980000"/>
              </a:solidFill>
            </a:endParaRPr>
          </a:p>
          <a:p>
            <a:pPr indent="-330200" lvl="0" marL="457200" rtl="0" algn="l">
              <a:spcBef>
                <a:spcPts val="0"/>
              </a:spcBef>
              <a:spcAft>
                <a:spcPts val="0"/>
              </a:spcAft>
              <a:buClr>
                <a:srgbClr val="980000"/>
              </a:buClr>
              <a:buSzPts val="1600"/>
              <a:buAutoNum type="arabicPeriod"/>
            </a:pPr>
            <a:r>
              <a:rPr lang="pt-BR" sz="1600" u="sng">
                <a:solidFill>
                  <a:srgbClr val="980000"/>
                </a:solidFill>
              </a:rPr>
              <a:t>Criar um Júri com 100 pessoas aleatórias</a:t>
            </a:r>
            <a:endParaRPr sz="1600" u="sng">
              <a:solidFill>
                <a:srgbClr val="980000"/>
              </a:solidFill>
            </a:endParaRPr>
          </a:p>
          <a:p>
            <a:pPr indent="-304800" lvl="1" marL="914400" rtl="0" algn="l">
              <a:spcBef>
                <a:spcPts val="0"/>
              </a:spcBef>
              <a:spcAft>
                <a:spcPts val="0"/>
              </a:spcAft>
              <a:buClr>
                <a:srgbClr val="980000"/>
              </a:buClr>
              <a:buSzPts val="1200"/>
              <a:buAutoNum type="alphaLcPeriod"/>
            </a:pPr>
            <a:r>
              <a:rPr lang="pt-BR" sz="1200" u="sng">
                <a:solidFill>
                  <a:srgbClr val="980000"/>
                </a:solidFill>
              </a:rPr>
              <a:t>aqui uso o shuffle para embaralhar a </a:t>
            </a:r>
            <a:r>
              <a:rPr lang="pt-BR" sz="1200" u="sng">
                <a:solidFill>
                  <a:srgbClr val="980000"/>
                </a:solidFill>
              </a:rPr>
              <a:t>população</a:t>
            </a:r>
            <a:endParaRPr sz="1200" u="sng">
              <a:solidFill>
                <a:srgbClr val="980000"/>
              </a:solidFill>
            </a:endParaRPr>
          </a:p>
          <a:p>
            <a:pPr indent="-330200" lvl="0" marL="457200" rtl="0" algn="l">
              <a:spcBef>
                <a:spcPts val="0"/>
              </a:spcBef>
              <a:spcAft>
                <a:spcPts val="0"/>
              </a:spcAft>
              <a:buSzPts val="1600"/>
              <a:buAutoNum type="arabicPeriod"/>
            </a:pPr>
            <a:r>
              <a:rPr lang="pt-BR" sz="1600"/>
              <a:t>Contar quantas pessoas negras no júri, guardar</a:t>
            </a:r>
            <a:endParaRPr sz="1600"/>
          </a:p>
          <a:p>
            <a:pPr indent="-330200" lvl="0" marL="457200" rtl="0" algn="l">
              <a:spcBef>
                <a:spcPts val="0"/>
              </a:spcBef>
              <a:spcAft>
                <a:spcPts val="0"/>
              </a:spcAft>
              <a:buSzPts val="1600"/>
              <a:buAutoNum type="arabicPeriod"/>
            </a:pPr>
            <a:r>
              <a:rPr lang="pt-BR" sz="1600"/>
              <a:t>Verificar o histograma.</a:t>
            </a:r>
            <a:endParaRPr sz="1600"/>
          </a:p>
        </p:txBody>
      </p:sp>
      <p:sp>
        <p:nvSpPr>
          <p:cNvPr id="319" name="Google Shape;319;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graphicFrame>
        <p:nvGraphicFramePr>
          <p:cNvPr id="324" name="Google Shape;324;p42"/>
          <p:cNvGraphicFramePr/>
          <p:nvPr/>
        </p:nvGraphicFramePr>
        <p:xfrm>
          <a:off x="4311625" y="3593750"/>
          <a:ext cx="3000000" cy="3000000"/>
        </p:xfrm>
        <a:graphic>
          <a:graphicData uri="http://schemas.openxmlformats.org/drawingml/2006/table">
            <a:tbl>
              <a:tblPr>
                <a:noFill/>
                <a:tableStyleId>{E6F389CA-A1F8-429B-937D-27BCD03C1D14}</a:tableStyleId>
              </a:tblPr>
              <a:tblGrid>
                <a:gridCol w="3781075"/>
              </a:tblGrid>
              <a:tr h="12700">
                <a:tc>
                  <a:txBody>
                    <a:bodyPr/>
                    <a:lstStyle/>
                    <a:p>
                      <a:pPr indent="0" lvl="0" marL="0" rtl="0" algn="l">
                        <a:lnSpc>
                          <a:spcPct val="115000"/>
                        </a:lnSpc>
                        <a:spcBef>
                          <a:spcPts val="0"/>
                        </a:spcBef>
                        <a:spcAft>
                          <a:spcPts val="0"/>
                        </a:spcAft>
                        <a:buNone/>
                      </a:pPr>
                      <a:r>
                        <a:rPr lang="pt-BR" sz="1150">
                          <a:solidFill>
                            <a:srgbClr val="383A42"/>
                          </a:solidFill>
                          <a:highlight>
                            <a:srgbClr val="FAFAFA"/>
                          </a:highlight>
                          <a:latin typeface="Consolas"/>
                          <a:ea typeface="Consolas"/>
                          <a:cs typeface="Consolas"/>
                          <a:sym typeface="Consolas"/>
                        </a:rPr>
                        <a:t>juri_size = </a:t>
                      </a:r>
                      <a:r>
                        <a:rPr lang="pt-BR" sz="1150">
                          <a:solidFill>
                            <a:srgbClr val="986801"/>
                          </a:solidFill>
                          <a:highlight>
                            <a:srgbClr val="FAFAFA"/>
                          </a:highlight>
                          <a:latin typeface="Consolas"/>
                          <a:ea typeface="Consolas"/>
                          <a:cs typeface="Consolas"/>
                          <a:sym typeface="Consolas"/>
                        </a:rPr>
                        <a:t>100</a:t>
                      </a:r>
                      <a:br>
                        <a:rPr lang="pt-BR" sz="1150">
                          <a:solidFill>
                            <a:srgbClr val="383A42"/>
                          </a:solidFill>
                          <a:highlight>
                            <a:srgbClr val="FAFAFA"/>
                          </a:highlight>
                          <a:latin typeface="Consolas"/>
                          <a:ea typeface="Consolas"/>
                          <a:cs typeface="Consolas"/>
                          <a:sym typeface="Consolas"/>
                        </a:rPr>
                      </a:br>
                      <a:r>
                        <a:rPr lang="pt-BR" sz="1150">
                          <a:solidFill>
                            <a:srgbClr val="383A42"/>
                          </a:solidFill>
                          <a:highlight>
                            <a:srgbClr val="FAFAFA"/>
                          </a:highlight>
                          <a:latin typeface="Consolas"/>
                          <a:ea typeface="Consolas"/>
                          <a:cs typeface="Consolas"/>
                          <a:sym typeface="Consolas"/>
                        </a:rPr>
                        <a:t>simulations = np.zeros(</a:t>
                      </a:r>
                      <a:r>
                        <a:rPr lang="pt-BR" sz="1150">
                          <a:solidFill>
                            <a:srgbClr val="986801"/>
                          </a:solidFill>
                          <a:highlight>
                            <a:srgbClr val="FAFAFA"/>
                          </a:highlight>
                          <a:latin typeface="Consolas"/>
                          <a:ea typeface="Consolas"/>
                          <a:cs typeface="Consolas"/>
                          <a:sym typeface="Consolas"/>
                        </a:rPr>
                        <a:t>1000</a:t>
                      </a:r>
                      <a:r>
                        <a:rPr lang="pt-BR" sz="1150">
                          <a:solidFill>
                            <a:srgbClr val="383A42"/>
                          </a:solidFill>
                          <a:highlight>
                            <a:srgbClr val="FAFAFA"/>
                          </a:highlight>
                          <a:latin typeface="Consolas"/>
                          <a:ea typeface="Consolas"/>
                          <a:cs typeface="Consolas"/>
                          <a:sym typeface="Consolas"/>
                        </a:rPr>
                        <a:t>)</a:t>
                      </a:r>
                      <a:br>
                        <a:rPr lang="pt-BR" sz="1150">
                          <a:solidFill>
                            <a:srgbClr val="383A42"/>
                          </a:solidFill>
                          <a:highlight>
                            <a:srgbClr val="FAFAFA"/>
                          </a:highlight>
                          <a:latin typeface="Consolas"/>
                          <a:ea typeface="Consolas"/>
                          <a:cs typeface="Consolas"/>
                          <a:sym typeface="Consolas"/>
                        </a:rPr>
                      </a:br>
                      <a:r>
                        <a:rPr lang="pt-BR" sz="1150">
                          <a:solidFill>
                            <a:srgbClr val="A626A4"/>
                          </a:solidFill>
                          <a:highlight>
                            <a:srgbClr val="FAFAFA"/>
                          </a:highlight>
                          <a:latin typeface="Consolas"/>
                          <a:ea typeface="Consolas"/>
                          <a:cs typeface="Consolas"/>
                          <a:sym typeface="Consolas"/>
                        </a:rPr>
                        <a:t>for</a:t>
                      </a:r>
                      <a:r>
                        <a:rPr lang="pt-BR" sz="1150">
                          <a:solidFill>
                            <a:srgbClr val="383A42"/>
                          </a:solidFill>
                          <a:highlight>
                            <a:srgbClr val="FAFAFA"/>
                          </a:highlight>
                          <a:latin typeface="Consolas"/>
                          <a:ea typeface="Consolas"/>
                          <a:cs typeface="Consolas"/>
                          <a:sym typeface="Consolas"/>
                        </a:rPr>
                        <a:t> i </a:t>
                      </a:r>
                      <a:r>
                        <a:rPr lang="pt-BR" sz="1150">
                          <a:solidFill>
                            <a:srgbClr val="A626A4"/>
                          </a:solidFill>
                          <a:highlight>
                            <a:srgbClr val="FAFAFA"/>
                          </a:highlight>
                          <a:latin typeface="Consolas"/>
                          <a:ea typeface="Consolas"/>
                          <a:cs typeface="Consolas"/>
                          <a:sym typeface="Consolas"/>
                        </a:rPr>
                        <a:t>in</a:t>
                      </a:r>
                      <a:r>
                        <a:rPr lang="pt-BR" sz="1150">
                          <a:solidFill>
                            <a:srgbClr val="383A42"/>
                          </a:solidFill>
                          <a:highlight>
                            <a:srgbClr val="FAFAFA"/>
                          </a:highlight>
                          <a:latin typeface="Consolas"/>
                          <a:ea typeface="Consolas"/>
                          <a:cs typeface="Consolas"/>
                          <a:sym typeface="Consolas"/>
                        </a:rPr>
                        <a:t> range(</a:t>
                      </a:r>
                      <a:r>
                        <a:rPr lang="pt-BR" sz="1150">
                          <a:solidFill>
                            <a:srgbClr val="986801"/>
                          </a:solidFill>
                          <a:highlight>
                            <a:srgbClr val="FAFAFA"/>
                          </a:highlight>
                          <a:latin typeface="Consolas"/>
                          <a:ea typeface="Consolas"/>
                          <a:cs typeface="Consolas"/>
                          <a:sym typeface="Consolas"/>
                        </a:rPr>
                        <a:t>1000</a:t>
                      </a:r>
                      <a:r>
                        <a:rPr lang="pt-BR" sz="1150">
                          <a:solidFill>
                            <a:srgbClr val="383A42"/>
                          </a:solidFill>
                          <a:highlight>
                            <a:srgbClr val="FAFAFA"/>
                          </a:highlight>
                          <a:latin typeface="Consolas"/>
                          <a:ea typeface="Consolas"/>
                          <a:cs typeface="Consolas"/>
                          <a:sym typeface="Consolas"/>
                        </a:rPr>
                        <a:t>):</a:t>
                      </a:r>
                      <a:br>
                        <a:rPr lang="pt-BR" sz="1150">
                          <a:solidFill>
                            <a:srgbClr val="383A42"/>
                          </a:solidFill>
                          <a:highlight>
                            <a:srgbClr val="FAFAFA"/>
                          </a:highlight>
                          <a:latin typeface="Consolas"/>
                          <a:ea typeface="Consolas"/>
                          <a:cs typeface="Consolas"/>
                          <a:sym typeface="Consolas"/>
                        </a:rPr>
                      </a:br>
                      <a:r>
                        <a:rPr lang="pt-BR" sz="1150">
                          <a:solidFill>
                            <a:srgbClr val="383A42"/>
                          </a:solidFill>
                          <a:highlight>
                            <a:srgbClr val="FAFAFA"/>
                          </a:highlight>
                          <a:latin typeface="Consolas"/>
                          <a:ea typeface="Consolas"/>
                          <a:cs typeface="Consolas"/>
                          <a:sym typeface="Consolas"/>
                        </a:rPr>
                        <a:t>    np.random.shuffle(data)</a:t>
                      </a:r>
                      <a:endParaRPr sz="1150">
                        <a:solidFill>
                          <a:srgbClr val="383A42"/>
                        </a:solidFill>
                        <a:highlight>
                          <a:srgbClr val="FAFAFA"/>
                        </a:highlight>
                        <a:latin typeface="Consolas"/>
                        <a:ea typeface="Consolas"/>
                        <a:cs typeface="Consolas"/>
                        <a:sym typeface="Consolas"/>
                      </a:endParaRPr>
                    </a:p>
                    <a:p>
                      <a:pPr indent="0" lvl="0" marL="0" rtl="0" algn="l">
                        <a:lnSpc>
                          <a:spcPct val="115000"/>
                        </a:lnSpc>
                        <a:spcBef>
                          <a:spcPts val="0"/>
                        </a:spcBef>
                        <a:spcAft>
                          <a:spcPts val="0"/>
                        </a:spcAft>
                        <a:buNone/>
                      </a:pPr>
                      <a:r>
                        <a:rPr lang="pt-BR" sz="1150">
                          <a:solidFill>
                            <a:srgbClr val="383A42"/>
                          </a:solidFill>
                          <a:highlight>
                            <a:srgbClr val="FAFAFA"/>
                          </a:highlight>
                          <a:latin typeface="Consolas"/>
                          <a:ea typeface="Consolas"/>
                          <a:cs typeface="Consolas"/>
                          <a:sym typeface="Consolas"/>
                        </a:rPr>
                        <a:t>    juri = data[:juri_size]</a:t>
                      </a:r>
                      <a:br>
                        <a:rPr lang="pt-BR" sz="1150">
                          <a:solidFill>
                            <a:srgbClr val="383A42"/>
                          </a:solidFill>
                          <a:highlight>
                            <a:srgbClr val="FAFAFA"/>
                          </a:highlight>
                          <a:latin typeface="Consolas"/>
                          <a:ea typeface="Consolas"/>
                          <a:cs typeface="Consolas"/>
                          <a:sym typeface="Consolas"/>
                        </a:rPr>
                      </a:br>
                      <a:r>
                        <a:rPr lang="pt-BR" sz="1150">
                          <a:solidFill>
                            <a:srgbClr val="383A42"/>
                          </a:solidFill>
                          <a:highlight>
                            <a:srgbClr val="FAFAFA"/>
                          </a:highlight>
                          <a:latin typeface="Consolas"/>
                          <a:ea typeface="Consolas"/>
                          <a:cs typeface="Consolas"/>
                          <a:sym typeface="Consolas"/>
                        </a:rPr>
                        <a:t>    num_black = (juri == </a:t>
                      </a:r>
                      <a:r>
                        <a:rPr lang="pt-BR" sz="1150">
                          <a:solidFill>
                            <a:srgbClr val="50A14F"/>
                          </a:solidFill>
                          <a:highlight>
                            <a:srgbClr val="FAFAFA"/>
                          </a:highlight>
                          <a:latin typeface="Consolas"/>
                          <a:ea typeface="Consolas"/>
                          <a:cs typeface="Consolas"/>
                          <a:sym typeface="Consolas"/>
                        </a:rPr>
                        <a:t>b'B'</a:t>
                      </a:r>
                      <a:r>
                        <a:rPr lang="pt-BR" sz="1150">
                          <a:solidFill>
                            <a:srgbClr val="383A42"/>
                          </a:solidFill>
                          <a:highlight>
                            <a:srgbClr val="FAFAFA"/>
                          </a:highlight>
                          <a:latin typeface="Consolas"/>
                          <a:ea typeface="Consolas"/>
                          <a:cs typeface="Consolas"/>
                          <a:sym typeface="Consolas"/>
                        </a:rPr>
                        <a:t>).sum()</a:t>
                      </a:r>
                      <a:br>
                        <a:rPr lang="pt-BR" sz="1150">
                          <a:solidFill>
                            <a:srgbClr val="383A42"/>
                          </a:solidFill>
                          <a:highlight>
                            <a:srgbClr val="FAFAFA"/>
                          </a:highlight>
                          <a:latin typeface="Consolas"/>
                          <a:ea typeface="Consolas"/>
                          <a:cs typeface="Consolas"/>
                          <a:sym typeface="Consolas"/>
                        </a:rPr>
                      </a:br>
                      <a:r>
                        <a:rPr lang="pt-BR" sz="1150">
                          <a:solidFill>
                            <a:srgbClr val="383A42"/>
                          </a:solidFill>
                          <a:highlight>
                            <a:srgbClr val="FAFAFA"/>
                          </a:highlight>
                          <a:latin typeface="Consolas"/>
                          <a:ea typeface="Consolas"/>
                          <a:cs typeface="Consolas"/>
                          <a:sym typeface="Consolas"/>
                        </a:rPr>
                        <a:t>    simulations[i] = num_black</a:t>
                      </a:r>
                      <a:endParaRPr sz="1150">
                        <a:latin typeface="Courier New"/>
                        <a:ea typeface="Courier New"/>
                        <a:cs typeface="Courier New"/>
                        <a:sym typeface="Courier New"/>
                      </a:endParaRPr>
                    </a:p>
                  </a:txBody>
                  <a:tcPr marT="63500" marB="63500" marR="63500" marL="63500">
                    <a:solidFill>
                      <a:srgbClr val="FAFAFA"/>
                    </a:solidFill>
                  </a:tcPr>
                </a:tc>
              </a:tr>
            </a:tbl>
          </a:graphicData>
        </a:graphic>
      </p:graphicFrame>
      <p:sp>
        <p:nvSpPr>
          <p:cNvPr id="325" name="Google Shape;325;p42"/>
          <p:cNvSpPr/>
          <p:nvPr/>
        </p:nvSpPr>
        <p:spPr>
          <a:xfrm>
            <a:off x="4226650" y="4479013"/>
            <a:ext cx="425400" cy="184200"/>
          </a:xfrm>
          <a:prstGeom prst="rightArrow">
            <a:avLst>
              <a:gd fmla="val 50000" name="adj1"/>
              <a:gd fmla="val 50000" name="adj2"/>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42"/>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Como simular</a:t>
            </a:r>
            <a:endParaRPr/>
          </a:p>
        </p:txBody>
      </p:sp>
      <p:sp>
        <p:nvSpPr>
          <p:cNvPr id="327" name="Google Shape;327;p42"/>
          <p:cNvSpPr txBox="1"/>
          <p:nvPr>
            <p:ph idx="1" type="body"/>
          </p:nvPr>
        </p:nvSpPr>
        <p:spPr>
          <a:xfrm>
            <a:off x="311700" y="973950"/>
            <a:ext cx="8520600" cy="29748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pt-BR" sz="1600"/>
              <a:t>Defina um tamanho para a população. Vamos assumir 10,000 pessoas.</a:t>
            </a:r>
            <a:endParaRPr sz="1600"/>
          </a:p>
          <a:p>
            <a:pPr indent="-304800" lvl="1" marL="914400" rtl="0" algn="l">
              <a:spcBef>
                <a:spcPts val="0"/>
              </a:spcBef>
              <a:spcAft>
                <a:spcPts val="0"/>
              </a:spcAft>
              <a:buSzPts val="1200"/>
              <a:buAutoNum type="alphaLcPeriod"/>
            </a:pPr>
            <a:r>
              <a:rPr lang="pt-BR" sz="1200"/>
              <a:t>Não vai importar muito no fim</a:t>
            </a:r>
            <a:endParaRPr sz="1200"/>
          </a:p>
          <a:p>
            <a:pPr indent="-304800" lvl="1" marL="914400" rtl="0" algn="l">
              <a:spcBef>
                <a:spcPts val="0"/>
              </a:spcBef>
              <a:spcAft>
                <a:spcPts val="0"/>
              </a:spcAft>
              <a:buSzPts val="1200"/>
              <a:buAutoNum type="alphaLcPeriod"/>
            </a:pPr>
            <a:r>
              <a:rPr lang="pt-BR" sz="1200"/>
              <a:t>É uma constante e vamos nos preocupar com uma fração dela</a:t>
            </a:r>
            <a:endParaRPr sz="1200"/>
          </a:p>
          <a:p>
            <a:pPr indent="-330200" lvl="0" marL="457200" rtl="0" algn="l">
              <a:spcBef>
                <a:spcPts val="0"/>
              </a:spcBef>
              <a:spcAft>
                <a:spcPts val="0"/>
              </a:spcAft>
              <a:buSzPts val="1600"/>
              <a:buAutoNum type="arabicPeriod"/>
            </a:pPr>
            <a:r>
              <a:rPr lang="pt-BR" sz="1600"/>
              <a:t>Cada pessoa tem um número</a:t>
            </a:r>
            <a:endParaRPr sz="1600"/>
          </a:p>
          <a:p>
            <a:pPr indent="-330200" lvl="0" marL="457200" rtl="0" algn="l">
              <a:spcBef>
                <a:spcPts val="0"/>
              </a:spcBef>
              <a:spcAft>
                <a:spcPts val="0"/>
              </a:spcAft>
              <a:buSzPts val="1600"/>
              <a:buAutoNum type="arabicPeriod"/>
            </a:pPr>
            <a:r>
              <a:rPr lang="pt-BR" sz="1600"/>
              <a:t>Os primeiros 26% dos números são de um grupo. Os outros 77% do outro.</a:t>
            </a:r>
            <a:endParaRPr sz="1600"/>
          </a:p>
          <a:p>
            <a:pPr indent="-330200" lvl="0" marL="457200" rtl="0" algn="l">
              <a:spcBef>
                <a:spcPts val="0"/>
              </a:spcBef>
              <a:spcAft>
                <a:spcPts val="0"/>
              </a:spcAft>
              <a:buClr>
                <a:srgbClr val="980000"/>
              </a:buClr>
              <a:buSzPts val="1600"/>
              <a:buAutoNum type="arabicPeriod"/>
            </a:pPr>
            <a:r>
              <a:rPr lang="pt-BR" sz="1600" u="sng">
                <a:solidFill>
                  <a:srgbClr val="980000"/>
                </a:solidFill>
              </a:rPr>
              <a:t>Realizar 10,000 (ou 1000, ou 5000) amostras.</a:t>
            </a:r>
            <a:endParaRPr sz="1600" u="sng">
              <a:solidFill>
                <a:srgbClr val="980000"/>
              </a:solidFill>
            </a:endParaRPr>
          </a:p>
          <a:p>
            <a:pPr indent="-330200" lvl="0" marL="457200" rtl="0" algn="l">
              <a:spcBef>
                <a:spcPts val="0"/>
              </a:spcBef>
              <a:spcAft>
                <a:spcPts val="0"/>
              </a:spcAft>
              <a:buClr>
                <a:srgbClr val="980000"/>
              </a:buClr>
              <a:buSzPts val="1600"/>
              <a:buAutoNum type="arabicPeriod"/>
            </a:pPr>
            <a:r>
              <a:rPr lang="pt-BR" sz="1600" u="sng">
                <a:solidFill>
                  <a:srgbClr val="980000"/>
                </a:solidFill>
              </a:rPr>
              <a:t>Criar um Júri com 100 pessoas aleatórias</a:t>
            </a:r>
            <a:endParaRPr sz="1600" u="sng">
              <a:solidFill>
                <a:srgbClr val="980000"/>
              </a:solidFill>
            </a:endParaRPr>
          </a:p>
          <a:p>
            <a:pPr indent="-304800" lvl="1" marL="914400" rtl="0" algn="l">
              <a:spcBef>
                <a:spcPts val="0"/>
              </a:spcBef>
              <a:spcAft>
                <a:spcPts val="0"/>
              </a:spcAft>
              <a:buClr>
                <a:srgbClr val="980000"/>
              </a:buClr>
              <a:buSzPts val="1200"/>
              <a:buAutoNum type="alphaLcPeriod"/>
            </a:pPr>
            <a:r>
              <a:rPr lang="pt-BR" sz="1200" u="sng">
                <a:solidFill>
                  <a:srgbClr val="980000"/>
                </a:solidFill>
              </a:rPr>
              <a:t>aqui uso o shuffle para embaralhar a população</a:t>
            </a:r>
            <a:endParaRPr sz="1200" u="sng">
              <a:solidFill>
                <a:srgbClr val="980000"/>
              </a:solidFill>
            </a:endParaRPr>
          </a:p>
          <a:p>
            <a:pPr indent="-330200" lvl="0" marL="457200" rtl="0" algn="l">
              <a:spcBef>
                <a:spcPts val="0"/>
              </a:spcBef>
              <a:spcAft>
                <a:spcPts val="0"/>
              </a:spcAft>
              <a:buSzPts val="1600"/>
              <a:buAutoNum type="arabicPeriod"/>
            </a:pPr>
            <a:r>
              <a:rPr lang="pt-BR" sz="1600"/>
              <a:t>Contar quantas pessoas negras no júri, guardar</a:t>
            </a:r>
            <a:endParaRPr sz="1600"/>
          </a:p>
          <a:p>
            <a:pPr indent="-330200" lvl="0" marL="457200" rtl="0" algn="l">
              <a:spcBef>
                <a:spcPts val="0"/>
              </a:spcBef>
              <a:spcAft>
                <a:spcPts val="0"/>
              </a:spcAft>
              <a:buSzPts val="1600"/>
              <a:buAutoNum type="arabicPeriod"/>
            </a:pPr>
            <a:r>
              <a:rPr lang="pt-BR" sz="1600"/>
              <a:t>Verificar o histograma.</a:t>
            </a:r>
            <a:endParaRPr sz="1600"/>
          </a:p>
        </p:txBody>
      </p:sp>
      <p:sp>
        <p:nvSpPr>
          <p:cNvPr id="328" name="Google Shape;328;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329" name="Google Shape;329;p42"/>
          <p:cNvSpPr txBox="1"/>
          <p:nvPr/>
        </p:nvSpPr>
        <p:spPr>
          <a:xfrm rot="-331">
            <a:off x="5865803" y="3382260"/>
            <a:ext cx="3114600" cy="49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200">
                <a:solidFill>
                  <a:srgbClr val="980000"/>
                </a:solidFill>
                <a:latin typeface="Permanent Marker"/>
                <a:ea typeface="Permanent Marker"/>
                <a:cs typeface="Permanent Marker"/>
                <a:sym typeface="Permanent Marker"/>
              </a:rPr>
              <a:t>pega as 100 primeiras depois do shuffle</a:t>
            </a:r>
            <a:endParaRPr sz="1200">
              <a:solidFill>
                <a:srgbClr val="980000"/>
              </a:solidFill>
              <a:latin typeface="Permanent Marker"/>
              <a:ea typeface="Permanent Marker"/>
              <a:cs typeface="Permanent Marker"/>
              <a:sym typeface="Permanent Mark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graphicFrame>
        <p:nvGraphicFramePr>
          <p:cNvPr id="334" name="Google Shape;334;p43"/>
          <p:cNvGraphicFramePr/>
          <p:nvPr/>
        </p:nvGraphicFramePr>
        <p:xfrm>
          <a:off x="4311625" y="3593750"/>
          <a:ext cx="3000000" cy="3000000"/>
        </p:xfrm>
        <a:graphic>
          <a:graphicData uri="http://schemas.openxmlformats.org/drawingml/2006/table">
            <a:tbl>
              <a:tblPr>
                <a:noFill/>
                <a:tableStyleId>{E6F389CA-A1F8-429B-937D-27BCD03C1D14}</a:tableStyleId>
              </a:tblPr>
              <a:tblGrid>
                <a:gridCol w="3781075"/>
              </a:tblGrid>
              <a:tr h="12700">
                <a:tc>
                  <a:txBody>
                    <a:bodyPr/>
                    <a:lstStyle/>
                    <a:p>
                      <a:pPr indent="0" lvl="0" marL="0" rtl="0" algn="l">
                        <a:lnSpc>
                          <a:spcPct val="115000"/>
                        </a:lnSpc>
                        <a:spcBef>
                          <a:spcPts val="0"/>
                        </a:spcBef>
                        <a:spcAft>
                          <a:spcPts val="0"/>
                        </a:spcAft>
                        <a:buNone/>
                      </a:pPr>
                      <a:r>
                        <a:rPr lang="pt-BR" sz="1150">
                          <a:solidFill>
                            <a:srgbClr val="383A42"/>
                          </a:solidFill>
                          <a:highlight>
                            <a:srgbClr val="FAFAFA"/>
                          </a:highlight>
                          <a:latin typeface="Consolas"/>
                          <a:ea typeface="Consolas"/>
                          <a:cs typeface="Consolas"/>
                          <a:sym typeface="Consolas"/>
                        </a:rPr>
                        <a:t>juri_size = </a:t>
                      </a:r>
                      <a:r>
                        <a:rPr lang="pt-BR" sz="1150">
                          <a:solidFill>
                            <a:srgbClr val="986801"/>
                          </a:solidFill>
                          <a:highlight>
                            <a:srgbClr val="FAFAFA"/>
                          </a:highlight>
                          <a:latin typeface="Consolas"/>
                          <a:ea typeface="Consolas"/>
                          <a:cs typeface="Consolas"/>
                          <a:sym typeface="Consolas"/>
                        </a:rPr>
                        <a:t>100</a:t>
                      </a:r>
                      <a:br>
                        <a:rPr lang="pt-BR" sz="1150">
                          <a:solidFill>
                            <a:srgbClr val="383A42"/>
                          </a:solidFill>
                          <a:highlight>
                            <a:srgbClr val="FAFAFA"/>
                          </a:highlight>
                          <a:latin typeface="Consolas"/>
                          <a:ea typeface="Consolas"/>
                          <a:cs typeface="Consolas"/>
                          <a:sym typeface="Consolas"/>
                        </a:rPr>
                      </a:br>
                      <a:r>
                        <a:rPr lang="pt-BR" sz="1150">
                          <a:solidFill>
                            <a:srgbClr val="383A42"/>
                          </a:solidFill>
                          <a:highlight>
                            <a:srgbClr val="FAFAFA"/>
                          </a:highlight>
                          <a:latin typeface="Consolas"/>
                          <a:ea typeface="Consolas"/>
                          <a:cs typeface="Consolas"/>
                          <a:sym typeface="Consolas"/>
                        </a:rPr>
                        <a:t>simulations = np.zeros(</a:t>
                      </a:r>
                      <a:r>
                        <a:rPr lang="pt-BR" sz="1150">
                          <a:solidFill>
                            <a:srgbClr val="986801"/>
                          </a:solidFill>
                          <a:highlight>
                            <a:srgbClr val="FAFAFA"/>
                          </a:highlight>
                          <a:latin typeface="Consolas"/>
                          <a:ea typeface="Consolas"/>
                          <a:cs typeface="Consolas"/>
                          <a:sym typeface="Consolas"/>
                        </a:rPr>
                        <a:t>1000</a:t>
                      </a:r>
                      <a:r>
                        <a:rPr lang="pt-BR" sz="1150">
                          <a:solidFill>
                            <a:srgbClr val="383A42"/>
                          </a:solidFill>
                          <a:highlight>
                            <a:srgbClr val="FAFAFA"/>
                          </a:highlight>
                          <a:latin typeface="Consolas"/>
                          <a:ea typeface="Consolas"/>
                          <a:cs typeface="Consolas"/>
                          <a:sym typeface="Consolas"/>
                        </a:rPr>
                        <a:t>)</a:t>
                      </a:r>
                      <a:br>
                        <a:rPr lang="pt-BR" sz="1150">
                          <a:solidFill>
                            <a:srgbClr val="383A42"/>
                          </a:solidFill>
                          <a:highlight>
                            <a:srgbClr val="FAFAFA"/>
                          </a:highlight>
                          <a:latin typeface="Consolas"/>
                          <a:ea typeface="Consolas"/>
                          <a:cs typeface="Consolas"/>
                          <a:sym typeface="Consolas"/>
                        </a:rPr>
                      </a:br>
                      <a:r>
                        <a:rPr lang="pt-BR" sz="1150">
                          <a:solidFill>
                            <a:srgbClr val="A626A4"/>
                          </a:solidFill>
                          <a:highlight>
                            <a:srgbClr val="FAFAFA"/>
                          </a:highlight>
                          <a:latin typeface="Consolas"/>
                          <a:ea typeface="Consolas"/>
                          <a:cs typeface="Consolas"/>
                          <a:sym typeface="Consolas"/>
                        </a:rPr>
                        <a:t>for</a:t>
                      </a:r>
                      <a:r>
                        <a:rPr lang="pt-BR" sz="1150">
                          <a:solidFill>
                            <a:srgbClr val="383A42"/>
                          </a:solidFill>
                          <a:highlight>
                            <a:srgbClr val="FAFAFA"/>
                          </a:highlight>
                          <a:latin typeface="Consolas"/>
                          <a:ea typeface="Consolas"/>
                          <a:cs typeface="Consolas"/>
                          <a:sym typeface="Consolas"/>
                        </a:rPr>
                        <a:t> i </a:t>
                      </a:r>
                      <a:r>
                        <a:rPr lang="pt-BR" sz="1150">
                          <a:solidFill>
                            <a:srgbClr val="A626A4"/>
                          </a:solidFill>
                          <a:highlight>
                            <a:srgbClr val="FAFAFA"/>
                          </a:highlight>
                          <a:latin typeface="Consolas"/>
                          <a:ea typeface="Consolas"/>
                          <a:cs typeface="Consolas"/>
                          <a:sym typeface="Consolas"/>
                        </a:rPr>
                        <a:t>in</a:t>
                      </a:r>
                      <a:r>
                        <a:rPr lang="pt-BR" sz="1150">
                          <a:solidFill>
                            <a:srgbClr val="383A42"/>
                          </a:solidFill>
                          <a:highlight>
                            <a:srgbClr val="FAFAFA"/>
                          </a:highlight>
                          <a:latin typeface="Consolas"/>
                          <a:ea typeface="Consolas"/>
                          <a:cs typeface="Consolas"/>
                          <a:sym typeface="Consolas"/>
                        </a:rPr>
                        <a:t> range(</a:t>
                      </a:r>
                      <a:r>
                        <a:rPr lang="pt-BR" sz="1150">
                          <a:solidFill>
                            <a:srgbClr val="986801"/>
                          </a:solidFill>
                          <a:highlight>
                            <a:srgbClr val="FAFAFA"/>
                          </a:highlight>
                          <a:latin typeface="Consolas"/>
                          <a:ea typeface="Consolas"/>
                          <a:cs typeface="Consolas"/>
                          <a:sym typeface="Consolas"/>
                        </a:rPr>
                        <a:t>1000</a:t>
                      </a:r>
                      <a:r>
                        <a:rPr lang="pt-BR" sz="1150">
                          <a:solidFill>
                            <a:srgbClr val="383A42"/>
                          </a:solidFill>
                          <a:highlight>
                            <a:srgbClr val="FAFAFA"/>
                          </a:highlight>
                          <a:latin typeface="Consolas"/>
                          <a:ea typeface="Consolas"/>
                          <a:cs typeface="Consolas"/>
                          <a:sym typeface="Consolas"/>
                        </a:rPr>
                        <a:t>):</a:t>
                      </a:r>
                      <a:br>
                        <a:rPr lang="pt-BR" sz="1150">
                          <a:solidFill>
                            <a:srgbClr val="383A42"/>
                          </a:solidFill>
                          <a:highlight>
                            <a:srgbClr val="FAFAFA"/>
                          </a:highlight>
                          <a:latin typeface="Consolas"/>
                          <a:ea typeface="Consolas"/>
                          <a:cs typeface="Consolas"/>
                          <a:sym typeface="Consolas"/>
                        </a:rPr>
                      </a:br>
                      <a:r>
                        <a:rPr lang="pt-BR" sz="1150">
                          <a:solidFill>
                            <a:srgbClr val="383A42"/>
                          </a:solidFill>
                          <a:highlight>
                            <a:srgbClr val="FAFAFA"/>
                          </a:highlight>
                          <a:latin typeface="Consolas"/>
                          <a:ea typeface="Consolas"/>
                          <a:cs typeface="Consolas"/>
                          <a:sym typeface="Consolas"/>
                        </a:rPr>
                        <a:t>    np.random.shuffle(data)</a:t>
                      </a:r>
                      <a:endParaRPr sz="1150">
                        <a:solidFill>
                          <a:srgbClr val="383A42"/>
                        </a:solidFill>
                        <a:highlight>
                          <a:srgbClr val="FAFAFA"/>
                        </a:highlight>
                        <a:latin typeface="Consolas"/>
                        <a:ea typeface="Consolas"/>
                        <a:cs typeface="Consolas"/>
                        <a:sym typeface="Consolas"/>
                      </a:endParaRPr>
                    </a:p>
                    <a:p>
                      <a:pPr indent="0" lvl="0" marL="0" rtl="0" algn="l">
                        <a:lnSpc>
                          <a:spcPct val="115000"/>
                        </a:lnSpc>
                        <a:spcBef>
                          <a:spcPts val="0"/>
                        </a:spcBef>
                        <a:spcAft>
                          <a:spcPts val="0"/>
                        </a:spcAft>
                        <a:buNone/>
                      </a:pPr>
                      <a:r>
                        <a:rPr lang="pt-BR" sz="1150">
                          <a:solidFill>
                            <a:srgbClr val="383A42"/>
                          </a:solidFill>
                          <a:highlight>
                            <a:srgbClr val="FAFAFA"/>
                          </a:highlight>
                          <a:latin typeface="Consolas"/>
                          <a:ea typeface="Consolas"/>
                          <a:cs typeface="Consolas"/>
                          <a:sym typeface="Consolas"/>
                        </a:rPr>
                        <a:t>    juri = data[:juri_size]</a:t>
                      </a:r>
                      <a:br>
                        <a:rPr lang="pt-BR" sz="1150">
                          <a:solidFill>
                            <a:srgbClr val="383A42"/>
                          </a:solidFill>
                          <a:highlight>
                            <a:srgbClr val="FAFAFA"/>
                          </a:highlight>
                          <a:latin typeface="Consolas"/>
                          <a:ea typeface="Consolas"/>
                          <a:cs typeface="Consolas"/>
                          <a:sym typeface="Consolas"/>
                        </a:rPr>
                      </a:br>
                      <a:r>
                        <a:rPr lang="pt-BR" sz="1150">
                          <a:solidFill>
                            <a:srgbClr val="383A42"/>
                          </a:solidFill>
                          <a:highlight>
                            <a:srgbClr val="FAFAFA"/>
                          </a:highlight>
                          <a:latin typeface="Consolas"/>
                          <a:ea typeface="Consolas"/>
                          <a:cs typeface="Consolas"/>
                          <a:sym typeface="Consolas"/>
                        </a:rPr>
                        <a:t>    num_black = (juri == </a:t>
                      </a:r>
                      <a:r>
                        <a:rPr lang="pt-BR" sz="1150">
                          <a:solidFill>
                            <a:srgbClr val="50A14F"/>
                          </a:solidFill>
                          <a:highlight>
                            <a:srgbClr val="FAFAFA"/>
                          </a:highlight>
                          <a:latin typeface="Consolas"/>
                          <a:ea typeface="Consolas"/>
                          <a:cs typeface="Consolas"/>
                          <a:sym typeface="Consolas"/>
                        </a:rPr>
                        <a:t>b'B'</a:t>
                      </a:r>
                      <a:r>
                        <a:rPr lang="pt-BR" sz="1150">
                          <a:solidFill>
                            <a:srgbClr val="383A42"/>
                          </a:solidFill>
                          <a:highlight>
                            <a:srgbClr val="FAFAFA"/>
                          </a:highlight>
                          <a:latin typeface="Consolas"/>
                          <a:ea typeface="Consolas"/>
                          <a:cs typeface="Consolas"/>
                          <a:sym typeface="Consolas"/>
                        </a:rPr>
                        <a:t>).sum()</a:t>
                      </a:r>
                      <a:br>
                        <a:rPr lang="pt-BR" sz="1150">
                          <a:solidFill>
                            <a:srgbClr val="383A42"/>
                          </a:solidFill>
                          <a:highlight>
                            <a:srgbClr val="FAFAFA"/>
                          </a:highlight>
                          <a:latin typeface="Consolas"/>
                          <a:ea typeface="Consolas"/>
                          <a:cs typeface="Consolas"/>
                          <a:sym typeface="Consolas"/>
                        </a:rPr>
                      </a:br>
                      <a:r>
                        <a:rPr lang="pt-BR" sz="1150">
                          <a:solidFill>
                            <a:srgbClr val="383A42"/>
                          </a:solidFill>
                          <a:highlight>
                            <a:srgbClr val="FAFAFA"/>
                          </a:highlight>
                          <a:latin typeface="Consolas"/>
                          <a:ea typeface="Consolas"/>
                          <a:cs typeface="Consolas"/>
                          <a:sym typeface="Consolas"/>
                        </a:rPr>
                        <a:t>    simulations[i] = num_black</a:t>
                      </a:r>
                      <a:endParaRPr sz="1150">
                        <a:latin typeface="Courier New"/>
                        <a:ea typeface="Courier New"/>
                        <a:cs typeface="Courier New"/>
                        <a:sym typeface="Courier New"/>
                      </a:endParaRPr>
                    </a:p>
                  </a:txBody>
                  <a:tcPr marT="63500" marB="63500" marR="63500" marL="63500">
                    <a:solidFill>
                      <a:srgbClr val="FAFAFA"/>
                    </a:solidFill>
                  </a:tcPr>
                </a:tc>
              </a:tr>
            </a:tbl>
          </a:graphicData>
        </a:graphic>
      </p:graphicFrame>
      <p:sp>
        <p:nvSpPr>
          <p:cNvPr id="335" name="Google Shape;335;p43"/>
          <p:cNvSpPr/>
          <p:nvPr/>
        </p:nvSpPr>
        <p:spPr>
          <a:xfrm>
            <a:off x="4234050" y="4663213"/>
            <a:ext cx="425400" cy="184200"/>
          </a:xfrm>
          <a:prstGeom prst="rightArrow">
            <a:avLst>
              <a:gd fmla="val 50000" name="adj1"/>
              <a:gd fmla="val 50000" name="adj2"/>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3"/>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Como simular</a:t>
            </a:r>
            <a:endParaRPr/>
          </a:p>
        </p:txBody>
      </p:sp>
      <p:sp>
        <p:nvSpPr>
          <p:cNvPr id="337" name="Google Shape;337;p43"/>
          <p:cNvSpPr txBox="1"/>
          <p:nvPr>
            <p:ph idx="1" type="body"/>
          </p:nvPr>
        </p:nvSpPr>
        <p:spPr>
          <a:xfrm>
            <a:off x="311700" y="973950"/>
            <a:ext cx="8520600" cy="29748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pt-BR" sz="1600"/>
              <a:t>Defina um tamanho para a população. Vamos assumir 10,000 pessoas.</a:t>
            </a:r>
            <a:endParaRPr sz="1600"/>
          </a:p>
          <a:p>
            <a:pPr indent="-304800" lvl="1" marL="914400" rtl="0" algn="l">
              <a:spcBef>
                <a:spcPts val="0"/>
              </a:spcBef>
              <a:spcAft>
                <a:spcPts val="0"/>
              </a:spcAft>
              <a:buSzPts val="1200"/>
              <a:buAutoNum type="alphaLcPeriod"/>
            </a:pPr>
            <a:r>
              <a:rPr lang="pt-BR" sz="1200"/>
              <a:t>Não vai importar muito no fim</a:t>
            </a:r>
            <a:endParaRPr sz="1200"/>
          </a:p>
          <a:p>
            <a:pPr indent="-304800" lvl="1" marL="914400" rtl="0" algn="l">
              <a:spcBef>
                <a:spcPts val="0"/>
              </a:spcBef>
              <a:spcAft>
                <a:spcPts val="0"/>
              </a:spcAft>
              <a:buSzPts val="1200"/>
              <a:buAutoNum type="alphaLcPeriod"/>
            </a:pPr>
            <a:r>
              <a:rPr lang="pt-BR" sz="1200"/>
              <a:t>É uma constante e vamos nos preocupar com uma fração dela</a:t>
            </a:r>
            <a:endParaRPr sz="1200"/>
          </a:p>
          <a:p>
            <a:pPr indent="-330200" lvl="0" marL="457200" rtl="0" algn="l">
              <a:spcBef>
                <a:spcPts val="0"/>
              </a:spcBef>
              <a:spcAft>
                <a:spcPts val="0"/>
              </a:spcAft>
              <a:buSzPts val="1600"/>
              <a:buAutoNum type="arabicPeriod"/>
            </a:pPr>
            <a:r>
              <a:rPr lang="pt-BR" sz="1600"/>
              <a:t>Cada pessoa tem um número</a:t>
            </a:r>
            <a:endParaRPr sz="1600"/>
          </a:p>
          <a:p>
            <a:pPr indent="-330200" lvl="0" marL="457200" rtl="0" algn="l">
              <a:spcBef>
                <a:spcPts val="0"/>
              </a:spcBef>
              <a:spcAft>
                <a:spcPts val="0"/>
              </a:spcAft>
              <a:buSzPts val="1600"/>
              <a:buAutoNum type="arabicPeriod"/>
            </a:pPr>
            <a:r>
              <a:rPr lang="pt-BR" sz="1600"/>
              <a:t>Os primeiros 26% dos números são de um grupo. Os outros 77% do outro.</a:t>
            </a:r>
            <a:endParaRPr sz="1600"/>
          </a:p>
          <a:p>
            <a:pPr indent="-330200" lvl="0" marL="457200" rtl="0" algn="l">
              <a:spcBef>
                <a:spcPts val="0"/>
              </a:spcBef>
              <a:spcAft>
                <a:spcPts val="0"/>
              </a:spcAft>
              <a:buClr>
                <a:srgbClr val="980000"/>
              </a:buClr>
              <a:buSzPts val="1600"/>
              <a:buAutoNum type="arabicPeriod"/>
            </a:pPr>
            <a:r>
              <a:rPr lang="pt-BR" sz="1600" u="sng">
                <a:solidFill>
                  <a:srgbClr val="980000"/>
                </a:solidFill>
              </a:rPr>
              <a:t>Realizar 10,000 (ou 1000, ou 5000) amostras.</a:t>
            </a:r>
            <a:endParaRPr sz="1600" u="sng">
              <a:solidFill>
                <a:srgbClr val="980000"/>
              </a:solidFill>
            </a:endParaRPr>
          </a:p>
          <a:p>
            <a:pPr indent="-330200" lvl="0" marL="457200" rtl="0" algn="l">
              <a:spcBef>
                <a:spcPts val="0"/>
              </a:spcBef>
              <a:spcAft>
                <a:spcPts val="0"/>
              </a:spcAft>
              <a:buClr>
                <a:srgbClr val="980000"/>
              </a:buClr>
              <a:buSzPts val="1600"/>
              <a:buAutoNum type="arabicPeriod"/>
            </a:pPr>
            <a:r>
              <a:rPr lang="pt-BR" sz="1600" u="sng">
                <a:solidFill>
                  <a:srgbClr val="980000"/>
                </a:solidFill>
              </a:rPr>
              <a:t>Criar um Júri com 100 pessoas aleatórias</a:t>
            </a:r>
            <a:endParaRPr sz="1600" u="sng">
              <a:solidFill>
                <a:srgbClr val="980000"/>
              </a:solidFill>
            </a:endParaRPr>
          </a:p>
          <a:p>
            <a:pPr indent="-304800" lvl="1" marL="914400" rtl="0" algn="l">
              <a:spcBef>
                <a:spcPts val="0"/>
              </a:spcBef>
              <a:spcAft>
                <a:spcPts val="0"/>
              </a:spcAft>
              <a:buClr>
                <a:srgbClr val="980000"/>
              </a:buClr>
              <a:buSzPts val="1200"/>
              <a:buAutoNum type="alphaLcPeriod"/>
            </a:pPr>
            <a:r>
              <a:rPr lang="pt-BR" sz="1200" u="sng">
                <a:solidFill>
                  <a:srgbClr val="980000"/>
                </a:solidFill>
              </a:rPr>
              <a:t>aqui uso o shuffle para embaralhar a população</a:t>
            </a:r>
            <a:endParaRPr sz="1200" u="sng">
              <a:solidFill>
                <a:srgbClr val="980000"/>
              </a:solidFill>
            </a:endParaRPr>
          </a:p>
          <a:p>
            <a:pPr indent="-330200" lvl="0" marL="457200" rtl="0" algn="l">
              <a:spcBef>
                <a:spcPts val="0"/>
              </a:spcBef>
              <a:spcAft>
                <a:spcPts val="0"/>
              </a:spcAft>
              <a:buClr>
                <a:srgbClr val="990000"/>
              </a:buClr>
              <a:buSzPts val="1600"/>
              <a:buAutoNum type="arabicPeriod"/>
            </a:pPr>
            <a:r>
              <a:rPr lang="pt-BR" sz="1600" u="sng">
                <a:solidFill>
                  <a:srgbClr val="990000"/>
                </a:solidFill>
              </a:rPr>
              <a:t>Contar quantas pessoas negras no júri, guardar</a:t>
            </a:r>
            <a:endParaRPr sz="1600" u="sng">
              <a:solidFill>
                <a:srgbClr val="990000"/>
              </a:solidFill>
            </a:endParaRPr>
          </a:p>
          <a:p>
            <a:pPr indent="-330200" lvl="0" marL="457200" rtl="0" algn="l">
              <a:spcBef>
                <a:spcPts val="0"/>
              </a:spcBef>
              <a:spcAft>
                <a:spcPts val="0"/>
              </a:spcAft>
              <a:buSzPts val="1600"/>
              <a:buAutoNum type="arabicPeriod"/>
            </a:pPr>
            <a:r>
              <a:rPr lang="pt-BR" sz="1600"/>
              <a:t>Verificar o histograma.</a:t>
            </a:r>
            <a:endParaRPr sz="1600"/>
          </a:p>
        </p:txBody>
      </p:sp>
      <p:sp>
        <p:nvSpPr>
          <p:cNvPr id="338" name="Google Shape;338;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4"/>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Resultado Final</a:t>
            </a:r>
            <a:endParaRPr/>
          </a:p>
        </p:txBody>
      </p:sp>
      <p:sp>
        <p:nvSpPr>
          <p:cNvPr id="344" name="Google Shape;344;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345" name="Google Shape;345;p44"/>
          <p:cNvPicPr preferRelativeResize="0"/>
          <p:nvPr/>
        </p:nvPicPr>
        <p:blipFill>
          <a:blip r:embed="rId3">
            <a:alphaModFix/>
          </a:blip>
          <a:stretch>
            <a:fillRect/>
          </a:stretch>
        </p:blipFill>
        <p:spPr>
          <a:xfrm>
            <a:off x="1727363" y="1068425"/>
            <a:ext cx="5689278" cy="3770276"/>
          </a:xfrm>
          <a:prstGeom prst="rect">
            <a:avLst/>
          </a:prstGeom>
          <a:noFill/>
          <a:ln>
            <a:noFill/>
          </a:ln>
        </p:spPr>
      </p:pic>
      <p:sp>
        <p:nvSpPr>
          <p:cNvPr id="346" name="Google Shape;346;p44"/>
          <p:cNvSpPr/>
          <p:nvPr/>
        </p:nvSpPr>
        <p:spPr>
          <a:xfrm rot="3064036">
            <a:off x="1798030" y="3508784"/>
            <a:ext cx="1583526" cy="35519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pt-BR"/>
              <a:t>Observado (8)</a:t>
            </a:r>
            <a:endParaRPr/>
          </a:p>
        </p:txBody>
      </p:sp>
      <p:sp>
        <p:nvSpPr>
          <p:cNvPr id="347" name="Google Shape;347;p44"/>
          <p:cNvSpPr/>
          <p:nvPr/>
        </p:nvSpPr>
        <p:spPr>
          <a:xfrm rot="3064036">
            <a:off x="2742967" y="1429308"/>
            <a:ext cx="1583526" cy="1096027"/>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pt-BR"/>
              <a:t>Probabilidade Caso fosse uniforme</a:t>
            </a:r>
            <a:endParaRPr/>
          </a:p>
        </p:txBody>
      </p:sp>
      <p:sp>
        <p:nvSpPr>
          <p:cNvPr id="348" name="Google Shape;348;p44"/>
          <p:cNvSpPr txBox="1"/>
          <p:nvPr/>
        </p:nvSpPr>
        <p:spPr>
          <a:xfrm rot="-331">
            <a:off x="5806603" y="2323060"/>
            <a:ext cx="3114600" cy="49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200">
                <a:solidFill>
                  <a:srgbClr val="980000"/>
                </a:solidFill>
                <a:latin typeface="Permanent Marker"/>
                <a:ea typeface="Permanent Marker"/>
                <a:cs typeface="Permanent Marker"/>
                <a:sym typeface="Permanent Marker"/>
              </a:rPr>
              <a:t>NOSSO HISTOGRAMA FINAL!</a:t>
            </a:r>
            <a:endParaRPr sz="1200">
              <a:solidFill>
                <a:srgbClr val="980000"/>
              </a:solidFill>
              <a:latin typeface="Permanent Marker"/>
              <a:ea typeface="Permanent Marker"/>
              <a:cs typeface="Permanent Marker"/>
              <a:sym typeface="Permanent Marke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5"/>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Resultado Final</a:t>
            </a:r>
            <a:endParaRPr/>
          </a:p>
        </p:txBody>
      </p:sp>
      <p:sp>
        <p:nvSpPr>
          <p:cNvPr id="354" name="Google Shape;354;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355" name="Google Shape;355;p45"/>
          <p:cNvPicPr preferRelativeResize="0"/>
          <p:nvPr/>
        </p:nvPicPr>
        <p:blipFill>
          <a:blip r:embed="rId3">
            <a:alphaModFix/>
          </a:blip>
          <a:stretch>
            <a:fillRect/>
          </a:stretch>
        </p:blipFill>
        <p:spPr>
          <a:xfrm>
            <a:off x="1727363" y="1068425"/>
            <a:ext cx="5689278" cy="3770276"/>
          </a:xfrm>
          <a:prstGeom prst="rect">
            <a:avLst/>
          </a:prstGeom>
          <a:noFill/>
          <a:ln>
            <a:noFill/>
          </a:ln>
        </p:spPr>
      </p:pic>
      <p:sp>
        <p:nvSpPr>
          <p:cNvPr id="356" name="Google Shape;356;p45"/>
          <p:cNvSpPr/>
          <p:nvPr/>
        </p:nvSpPr>
        <p:spPr>
          <a:xfrm rot="3064036">
            <a:off x="1798030" y="3508784"/>
            <a:ext cx="1583526" cy="35519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pt-BR"/>
              <a:t>Observado (8)</a:t>
            </a:r>
            <a:endParaRPr/>
          </a:p>
        </p:txBody>
      </p:sp>
      <p:sp>
        <p:nvSpPr>
          <p:cNvPr id="357" name="Google Shape;357;p45"/>
          <p:cNvSpPr/>
          <p:nvPr/>
        </p:nvSpPr>
        <p:spPr>
          <a:xfrm rot="3064036">
            <a:off x="2742967" y="1429308"/>
            <a:ext cx="1583526" cy="1096027"/>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pt-BR"/>
              <a:t>Probabilidade Caso fosse uniforme</a:t>
            </a:r>
            <a:endParaRPr/>
          </a:p>
        </p:txBody>
      </p:sp>
      <p:sp>
        <p:nvSpPr>
          <p:cNvPr id="358" name="Google Shape;358;p45"/>
          <p:cNvSpPr txBox="1"/>
          <p:nvPr/>
        </p:nvSpPr>
        <p:spPr>
          <a:xfrm rot="-315">
            <a:off x="5646750" y="2323065"/>
            <a:ext cx="3274500" cy="49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200">
                <a:solidFill>
                  <a:srgbClr val="980000"/>
                </a:solidFill>
                <a:latin typeface="Permanent Marker"/>
                <a:ea typeface="Permanent Marker"/>
                <a:cs typeface="Permanent Marker"/>
                <a:sym typeface="Permanent Marker"/>
              </a:rPr>
              <a:t>8 PESSOAS NEGRAS NÃO É IMPOSSÍVEL, É BEM RARO!</a:t>
            </a:r>
            <a:endParaRPr sz="1200">
              <a:solidFill>
                <a:srgbClr val="980000"/>
              </a:solidFill>
              <a:latin typeface="Permanent Marker"/>
              <a:ea typeface="Permanent Marker"/>
              <a:cs typeface="Permanent Marker"/>
              <a:sym typeface="Permanent Marker"/>
            </a:endParaRPr>
          </a:p>
          <a:p>
            <a:pPr indent="0" lvl="0" marL="0" rtl="0" algn="l">
              <a:spcBef>
                <a:spcPts val="0"/>
              </a:spcBef>
              <a:spcAft>
                <a:spcPts val="0"/>
              </a:spcAft>
              <a:buNone/>
            </a:pPr>
            <a:r>
              <a:t/>
            </a:r>
            <a:endParaRPr sz="1200">
              <a:solidFill>
                <a:srgbClr val="980000"/>
              </a:solidFill>
              <a:latin typeface="Permanent Marker"/>
              <a:ea typeface="Permanent Marker"/>
              <a:cs typeface="Permanent Marker"/>
              <a:sym typeface="Permanent Marker"/>
            </a:endParaRPr>
          </a:p>
          <a:p>
            <a:pPr indent="0" lvl="0" marL="0" rtl="0" algn="l">
              <a:spcBef>
                <a:spcPts val="0"/>
              </a:spcBef>
              <a:spcAft>
                <a:spcPts val="0"/>
              </a:spcAft>
              <a:buNone/>
            </a:pPr>
            <a:r>
              <a:rPr lang="pt-BR" sz="1200">
                <a:solidFill>
                  <a:srgbClr val="980000"/>
                </a:solidFill>
                <a:latin typeface="Permanent Marker"/>
                <a:ea typeface="Permanent Marker"/>
                <a:cs typeface="Permanent Marker"/>
                <a:sym typeface="Permanent Marker"/>
              </a:rPr>
              <a:t>ABAIXO DE 5% (NOSSA SIGNIFICÂNCIA)</a:t>
            </a:r>
            <a:endParaRPr sz="1200">
              <a:solidFill>
                <a:srgbClr val="980000"/>
              </a:solidFill>
              <a:latin typeface="Permanent Marker"/>
              <a:ea typeface="Permanent Marker"/>
              <a:cs typeface="Permanent Marker"/>
              <a:sym typeface="Permanent Marke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6"/>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Melhor</a:t>
            </a:r>
            <a:endParaRPr/>
          </a:p>
        </p:txBody>
      </p:sp>
      <p:sp>
        <p:nvSpPr>
          <p:cNvPr id="364" name="Google Shape;364;p46"/>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pt-BR"/>
              <a:t>“Em uma amostra uniforme da população da cidade de Talladega, quais sãos as chances de selecionarmos 8 ou menos pessoas negras? A chance é muito baixa, menos do que </a:t>
            </a:r>
            <a:r>
              <a:rPr b="1" lang="pt-BR">
                <a:solidFill>
                  <a:schemeClr val="dk1"/>
                </a:solidFill>
              </a:rPr>
              <a:t>5%. Pouca evidência de que a amostra foi uniformemente aleatória.</a:t>
            </a:r>
            <a:r>
              <a:rPr lang="pt-BR"/>
              <a:t>”</a:t>
            </a:r>
            <a:endParaRPr>
              <a:solidFill>
                <a:schemeClr val="dk2"/>
              </a:solidFill>
            </a:endParaRPr>
          </a:p>
        </p:txBody>
      </p:sp>
      <p:sp>
        <p:nvSpPr>
          <p:cNvPr id="365" name="Google Shape;365;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7"/>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Pontos Importantes</a:t>
            </a:r>
            <a:endParaRPr/>
          </a:p>
        </p:txBody>
      </p:sp>
      <p:sp>
        <p:nvSpPr>
          <p:cNvPr id="371" name="Google Shape;371;p47"/>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“Em uma amostra uniforme da população da cidade de Talladega, quais sãos as chances de selecionarmos 8 ou menos pessoas negras? A chance é muito baixa, menos do que </a:t>
            </a:r>
            <a:r>
              <a:rPr b="1" lang="pt-BR"/>
              <a:t>5%. Pouca evidência de que a amostra foi uniformemente aleatória.</a:t>
            </a:r>
            <a:r>
              <a:rPr lang="pt-BR"/>
              <a:t>”</a:t>
            </a:r>
            <a:endParaRPr/>
          </a:p>
          <a:p>
            <a:pPr indent="-342900" lvl="0" marL="457200" rtl="0" algn="l">
              <a:spcBef>
                <a:spcPts val="1600"/>
              </a:spcBef>
              <a:spcAft>
                <a:spcPts val="0"/>
              </a:spcAft>
              <a:buSzPts val="1800"/>
              <a:buChar char="●"/>
            </a:pPr>
            <a:r>
              <a:rPr lang="pt-BR"/>
              <a:t>Qual o modelo </a:t>
            </a:r>
            <a:r>
              <a:rPr b="1" lang="pt-BR"/>
              <a:t>nulo: </a:t>
            </a:r>
            <a:r>
              <a:rPr lang="pt-BR"/>
              <a:t>uniforme</a:t>
            </a:r>
            <a:endParaRPr/>
          </a:p>
          <a:p>
            <a:pPr indent="-342900" lvl="0" marL="457200" rtl="0" algn="l">
              <a:spcBef>
                <a:spcPts val="0"/>
              </a:spcBef>
              <a:spcAft>
                <a:spcPts val="0"/>
              </a:spcAft>
              <a:buSzPts val="1800"/>
              <a:buChar char="●"/>
            </a:pPr>
            <a:r>
              <a:rPr lang="pt-BR"/>
              <a:t>Qual a </a:t>
            </a:r>
            <a:r>
              <a:rPr b="1" lang="pt-BR"/>
              <a:t>significância</a:t>
            </a:r>
            <a:r>
              <a:rPr lang="pt-BR"/>
              <a:t>: </a:t>
            </a:r>
            <a:r>
              <a:rPr b="1" lang="pt-BR"/>
              <a:t>5%</a:t>
            </a:r>
            <a:endParaRPr b="1"/>
          </a:p>
          <a:p>
            <a:pPr indent="-317500" lvl="1" marL="914400" rtl="0" algn="l">
              <a:spcBef>
                <a:spcPts val="0"/>
              </a:spcBef>
              <a:spcAft>
                <a:spcPts val="0"/>
              </a:spcAft>
              <a:buSzPts val="1400"/>
              <a:buChar char="○"/>
            </a:pPr>
            <a:r>
              <a:rPr b="1" lang="pt-BR"/>
              <a:t>Eu posso errar 5% das vezes!</a:t>
            </a:r>
            <a:endParaRPr b="1"/>
          </a:p>
          <a:p>
            <a:pPr indent="-317500" lvl="1" marL="914400" rtl="0" algn="l">
              <a:spcBef>
                <a:spcPts val="0"/>
              </a:spcBef>
              <a:spcAft>
                <a:spcPts val="0"/>
              </a:spcAft>
              <a:buSzPts val="1400"/>
              <a:buChar char="○"/>
            </a:pPr>
            <a:r>
              <a:rPr lang="pt-BR"/>
              <a:t>Podemos escolher outros valores, a resposta pode sim mudar.</a:t>
            </a:r>
            <a:endParaRPr/>
          </a:p>
          <a:p>
            <a:pPr indent="-342900" lvl="0" marL="457200" rtl="0" algn="l">
              <a:spcBef>
                <a:spcPts val="0"/>
              </a:spcBef>
              <a:spcAft>
                <a:spcPts val="0"/>
              </a:spcAft>
              <a:buSzPts val="1800"/>
              <a:buChar char="●"/>
            </a:pPr>
            <a:r>
              <a:rPr lang="pt-BR"/>
              <a:t>Precisamos deixar tais casos explícitos</a:t>
            </a:r>
            <a:endParaRPr/>
          </a:p>
          <a:p>
            <a:pPr indent="-317500" lvl="1" marL="914400" rtl="0" algn="l">
              <a:spcBef>
                <a:spcPts val="0"/>
              </a:spcBef>
              <a:spcAft>
                <a:spcPts val="0"/>
              </a:spcAft>
              <a:buSzPts val="1400"/>
              <a:buChar char="○"/>
            </a:pPr>
            <a:r>
              <a:rPr lang="pt-BR"/>
              <a:t>Qual a hipótese nula</a:t>
            </a:r>
            <a:endParaRPr/>
          </a:p>
          <a:p>
            <a:pPr indent="-317500" lvl="1" marL="914400" rtl="0" algn="l">
              <a:spcBef>
                <a:spcPts val="0"/>
              </a:spcBef>
              <a:spcAft>
                <a:spcPts val="0"/>
              </a:spcAft>
              <a:buSzPts val="1400"/>
              <a:buChar char="○"/>
            </a:pPr>
            <a:r>
              <a:rPr lang="pt-BR"/>
              <a:t>Qual a significância (5%)</a:t>
            </a:r>
            <a:endParaRPr/>
          </a:p>
          <a:p>
            <a:pPr indent="-317500" lvl="1" marL="914400" rtl="0" algn="l">
              <a:spcBef>
                <a:spcPts val="0"/>
              </a:spcBef>
              <a:spcAft>
                <a:spcPts val="0"/>
              </a:spcAft>
              <a:buSzPts val="1400"/>
              <a:buChar char="○"/>
            </a:pPr>
            <a:r>
              <a:rPr lang="pt-BR"/>
              <a:t>Qual o valor observado (8)</a:t>
            </a:r>
            <a:endParaRPr/>
          </a:p>
          <a:p>
            <a:pPr indent="-317500" lvl="1" marL="914400" rtl="0" algn="l">
              <a:spcBef>
                <a:spcPts val="0"/>
              </a:spcBef>
              <a:spcAft>
                <a:spcPts val="0"/>
              </a:spcAft>
              <a:buSzPts val="1400"/>
              <a:buChar char="○"/>
            </a:pPr>
            <a:r>
              <a:rPr lang="pt-BR"/>
              <a:t>Existe pouca chance, menos do que 5%, do valor 8 ocorrer caso a seleção fosse uniforme</a:t>
            </a:r>
            <a:endParaRPr/>
          </a:p>
        </p:txBody>
      </p:sp>
      <p:sp>
        <p:nvSpPr>
          <p:cNvPr id="372" name="Google Shape;372;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a:t>Formalizando os Testes</a:t>
            </a:r>
            <a:endParaRPr/>
          </a:p>
        </p:txBody>
      </p:sp>
      <p:sp>
        <p:nvSpPr>
          <p:cNvPr id="378" name="Google Shape;378;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sz="1000">
                <a:solidFill>
                  <a:srgbClr val="FFFFFF"/>
                </a:solidFill>
              </a:rPr>
              <a:t>‹#›</a:t>
            </a:fld>
            <a:endParaRPr sz="1000">
              <a:solidFill>
                <a:srgbClr val="FFFFFF"/>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9"/>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Formalizando</a:t>
            </a:r>
            <a:endParaRPr/>
          </a:p>
        </p:txBody>
      </p:sp>
      <p:sp>
        <p:nvSpPr>
          <p:cNvPr id="384" name="Google Shape;384;p49"/>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pt-BR">
                <a:latin typeface="Consolas"/>
                <a:ea typeface="Consolas"/>
                <a:cs typeface="Consolas"/>
                <a:sym typeface="Consolas"/>
              </a:rPr>
              <a:t>H0</a:t>
            </a:r>
            <a:r>
              <a:rPr lang="pt-BR"/>
              <a:t> é nossa hipótese nula</a:t>
            </a:r>
            <a:br>
              <a:rPr lang="pt-BR"/>
            </a:br>
            <a:br>
              <a:rPr lang="pt-BR"/>
            </a:br>
            <a:r>
              <a:rPr lang="pt-BR"/>
              <a:t>Procuramos evidências da para </a:t>
            </a:r>
            <a:r>
              <a:rPr b="1" lang="pt-BR">
                <a:solidFill>
                  <a:schemeClr val="dk1"/>
                </a:solidFill>
              </a:rPr>
              <a:t>rejeitar</a:t>
            </a:r>
            <a:r>
              <a:rPr lang="pt-BR"/>
              <a:t> hipótese nula. Este é um ponto importante do teste de hipóteses.</a:t>
            </a:r>
            <a:br>
              <a:rPr lang="pt-BR"/>
            </a:br>
            <a:br>
              <a:rPr lang="pt-BR"/>
            </a:br>
            <a:r>
              <a:rPr lang="pt-BR"/>
              <a:t>Tal valor observado (0.08) é factível em em uma seleção uniforme?</a:t>
            </a:r>
            <a:br>
              <a:rPr lang="pt-BR"/>
            </a:br>
            <a:r>
              <a:rPr b="1" lang="pt-BR">
                <a:solidFill>
                  <a:schemeClr val="dk1"/>
                </a:solidFill>
              </a:rPr>
              <a:t>Não, com 5% de chance da minha afirmativa está errada!</a:t>
            </a:r>
            <a:endParaRPr>
              <a:solidFill>
                <a:schemeClr val="dk1"/>
              </a:solidFill>
            </a:endParaRPr>
          </a:p>
        </p:txBody>
      </p:sp>
      <p:sp>
        <p:nvSpPr>
          <p:cNvPr id="385" name="Google Shape;385;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0"/>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Formalizando</a:t>
            </a:r>
            <a:endParaRPr/>
          </a:p>
        </p:txBody>
      </p:sp>
      <p:sp>
        <p:nvSpPr>
          <p:cNvPr id="391" name="Google Shape;391;p50"/>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pt-BR">
                <a:solidFill>
                  <a:schemeClr val="dk1"/>
                </a:solidFill>
                <a:latin typeface="Consolas"/>
                <a:ea typeface="Consolas"/>
                <a:cs typeface="Consolas"/>
                <a:sym typeface="Consolas"/>
              </a:rPr>
              <a:t>H0</a:t>
            </a:r>
            <a:r>
              <a:rPr b="1" lang="pt-BR">
                <a:solidFill>
                  <a:schemeClr val="dk1"/>
                </a:solidFill>
                <a:latin typeface="Consolas"/>
                <a:ea typeface="Consolas"/>
                <a:cs typeface="Consolas"/>
                <a:sym typeface="Consolas"/>
              </a:rPr>
              <a:t>:</a:t>
            </a:r>
            <a:r>
              <a:rPr lang="pt-BR"/>
              <a:t> É a nossa hipótese nula</a:t>
            </a:r>
            <a:br>
              <a:rPr lang="pt-BR"/>
            </a:br>
            <a:r>
              <a:rPr lang="pt-BR">
                <a:solidFill>
                  <a:schemeClr val="dk1"/>
                </a:solidFill>
                <a:latin typeface="Consolas"/>
                <a:ea typeface="Consolas"/>
                <a:cs typeface="Consolas"/>
                <a:sym typeface="Consolas"/>
              </a:rPr>
              <a:t>H0:</a:t>
            </a:r>
            <a:r>
              <a:rPr lang="pt-BR"/>
              <a:t> Estatisticamente falando</a:t>
            </a:r>
            <a:br>
              <a:rPr lang="pt-BR"/>
            </a:br>
            <a:r>
              <a:rPr lang="pt-BR"/>
              <a:t>	P(obs &lt;= 0.08) no mundo nulo</a:t>
            </a:r>
            <a:br>
              <a:rPr lang="pt-BR"/>
            </a:br>
            <a:r>
              <a:rPr lang="pt-BR"/>
              <a:t>        O mundo nulo assume uma 0.26 (26%) pessoas negras</a:t>
            </a:r>
            <a:br>
              <a:rPr lang="pt-BR"/>
            </a:br>
            <a:br>
              <a:rPr lang="pt-BR"/>
            </a:br>
            <a:r>
              <a:rPr lang="pt-BR"/>
              <a:t>Procuramos evidências da para </a:t>
            </a:r>
            <a:r>
              <a:rPr b="1" lang="pt-BR">
                <a:solidFill>
                  <a:schemeClr val="dk1"/>
                </a:solidFill>
              </a:rPr>
              <a:t>rejeitar</a:t>
            </a:r>
            <a:r>
              <a:rPr lang="pt-BR"/>
              <a:t> hipótese nula. Tal valor observado (0.08) é factível em em uma seleção uniforme?</a:t>
            </a:r>
            <a:br>
              <a:rPr lang="pt-BR"/>
            </a:br>
            <a:r>
              <a:rPr b="1" lang="pt-BR">
                <a:solidFill>
                  <a:schemeClr val="dk1"/>
                </a:solidFill>
              </a:rPr>
              <a:t>Não, com 5% de chance da minha afirmativa está errada!</a:t>
            </a:r>
            <a:endParaRPr>
              <a:solidFill>
                <a:schemeClr val="dk1"/>
              </a:solidFill>
            </a:endParaRPr>
          </a:p>
        </p:txBody>
      </p:sp>
      <p:sp>
        <p:nvSpPr>
          <p:cNvPr id="392" name="Google Shape;392;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1"/>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Em termos comuns</a:t>
            </a:r>
            <a:endParaRPr/>
          </a:p>
        </p:txBody>
      </p:sp>
      <p:sp>
        <p:nvSpPr>
          <p:cNvPr id="398" name="Google Shape;398;p51"/>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No teste de hipóteses um dos pontos chance é definir </a:t>
            </a:r>
            <a:r>
              <a:rPr lang="pt-BR">
                <a:solidFill>
                  <a:schemeClr val="dk1"/>
                </a:solidFill>
                <a:latin typeface="Consolas"/>
                <a:ea typeface="Consolas"/>
                <a:cs typeface="Consolas"/>
                <a:sym typeface="Consolas"/>
              </a:rPr>
              <a:t>H0</a:t>
            </a:r>
            <a:endParaRPr/>
          </a:p>
          <a:p>
            <a:pPr indent="-317500" lvl="1" marL="914400" rtl="0" algn="l">
              <a:spcBef>
                <a:spcPts val="0"/>
              </a:spcBef>
              <a:spcAft>
                <a:spcPts val="0"/>
              </a:spcAft>
              <a:buSzPts val="1400"/>
              <a:buChar char="○"/>
            </a:pPr>
            <a:r>
              <a:rPr lang="pt-BR"/>
              <a:t>É importante que a hipótese nula </a:t>
            </a:r>
            <a:r>
              <a:rPr lang="pt-BR"/>
              <a:t>representa</a:t>
            </a:r>
            <a:r>
              <a:rPr lang="pt-BR"/>
              <a:t> </a:t>
            </a:r>
            <a:r>
              <a:rPr lang="pt-BR"/>
              <a:t>aleatoriedade</a:t>
            </a:r>
            <a:endParaRPr/>
          </a:p>
          <a:p>
            <a:pPr indent="-342900" lvl="0" marL="457200" rtl="0" algn="l">
              <a:spcBef>
                <a:spcPts val="0"/>
              </a:spcBef>
              <a:spcAft>
                <a:spcPts val="0"/>
              </a:spcAft>
              <a:buSzPts val="1800"/>
              <a:buChar char="●"/>
            </a:pPr>
            <a:r>
              <a:rPr lang="pt-BR"/>
              <a:t>Qual o motivo?</a:t>
            </a:r>
            <a:endParaRPr/>
          </a:p>
          <a:p>
            <a:pPr indent="-317500" lvl="1" marL="914400" rtl="0" algn="l">
              <a:spcBef>
                <a:spcPts val="0"/>
              </a:spcBef>
              <a:spcAft>
                <a:spcPts val="0"/>
              </a:spcAft>
              <a:buSzPts val="1400"/>
              <a:buChar char="○"/>
            </a:pPr>
            <a:r>
              <a:rPr lang="pt-BR"/>
              <a:t>Ao rejeitar </a:t>
            </a:r>
            <a:r>
              <a:rPr lang="pt-BR">
                <a:latin typeface="Consolas"/>
                <a:ea typeface="Consolas"/>
                <a:cs typeface="Consolas"/>
                <a:sym typeface="Consolas"/>
              </a:rPr>
              <a:t>H0 </a:t>
            </a:r>
            <a:r>
              <a:rPr lang="pt-BR"/>
              <a:t>achamos um SINAL</a:t>
            </a:r>
            <a:endParaRPr/>
          </a:p>
          <a:p>
            <a:pPr indent="-317500" lvl="1" marL="914400" rtl="0" algn="l">
              <a:spcBef>
                <a:spcPts val="0"/>
              </a:spcBef>
              <a:spcAft>
                <a:spcPts val="0"/>
              </a:spcAft>
              <a:buSzPts val="1400"/>
              <a:buChar char="○"/>
            </a:pPr>
            <a:r>
              <a:rPr lang="pt-BR"/>
              <a:t>Existe algo nessa amostra que não pode ser explicado por CHANCE</a:t>
            </a:r>
            <a:endParaRPr/>
          </a:p>
          <a:p>
            <a:pPr indent="-317500" lvl="1" marL="914400" rtl="0" algn="l">
              <a:spcBef>
                <a:spcPts val="0"/>
              </a:spcBef>
              <a:spcAft>
                <a:spcPts val="0"/>
              </a:spcAft>
              <a:buSzPts val="1400"/>
              <a:buChar char="○"/>
            </a:pPr>
            <a:r>
              <a:rPr lang="pt-BR"/>
              <a:t>Claro que eu ainda posso errar (geralmente 5%) das vezes</a:t>
            </a:r>
            <a:endParaRPr/>
          </a:p>
          <a:p>
            <a:pPr indent="-317500" lvl="1" marL="914400" rtl="0" algn="l">
              <a:spcBef>
                <a:spcPts val="0"/>
              </a:spcBef>
              <a:spcAft>
                <a:spcPts val="0"/>
              </a:spcAft>
              <a:buSzPts val="1400"/>
              <a:buChar char="○"/>
            </a:pPr>
            <a:r>
              <a:rPr lang="pt-BR"/>
              <a:t>Mas 5% é raro!</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2"/>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Em termos comuns</a:t>
            </a:r>
            <a:endParaRPr/>
          </a:p>
        </p:txBody>
      </p:sp>
      <p:sp>
        <p:nvSpPr>
          <p:cNvPr id="404" name="Google Shape;404;p52"/>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No teste de hipóteses um dos pontos chance é definir </a:t>
            </a:r>
            <a:r>
              <a:rPr lang="pt-BR">
                <a:solidFill>
                  <a:schemeClr val="dk1"/>
                </a:solidFill>
                <a:latin typeface="Consolas"/>
                <a:ea typeface="Consolas"/>
                <a:cs typeface="Consolas"/>
                <a:sym typeface="Consolas"/>
              </a:rPr>
              <a:t>H0</a:t>
            </a:r>
            <a:endParaRPr/>
          </a:p>
          <a:p>
            <a:pPr indent="-317500" lvl="1" marL="914400" rtl="0" algn="l">
              <a:spcBef>
                <a:spcPts val="0"/>
              </a:spcBef>
              <a:spcAft>
                <a:spcPts val="0"/>
              </a:spcAft>
              <a:buSzPts val="1400"/>
              <a:buChar char="○"/>
            </a:pPr>
            <a:r>
              <a:rPr lang="pt-BR"/>
              <a:t>É importante que a hipótese nula </a:t>
            </a:r>
            <a:r>
              <a:rPr lang="pt-BR"/>
              <a:t>representa</a:t>
            </a:r>
            <a:r>
              <a:rPr lang="pt-BR"/>
              <a:t> aleatoriedade</a:t>
            </a:r>
            <a:endParaRPr/>
          </a:p>
          <a:p>
            <a:pPr indent="-342900" lvl="0" marL="457200" rtl="0" algn="l">
              <a:spcBef>
                <a:spcPts val="0"/>
              </a:spcBef>
              <a:spcAft>
                <a:spcPts val="0"/>
              </a:spcAft>
              <a:buSzPts val="1800"/>
              <a:buChar char="●"/>
            </a:pPr>
            <a:r>
              <a:rPr lang="pt-BR"/>
              <a:t>Qual o motivo?</a:t>
            </a:r>
            <a:endParaRPr/>
          </a:p>
          <a:p>
            <a:pPr indent="-317500" lvl="1" marL="914400" rtl="0" algn="l">
              <a:spcBef>
                <a:spcPts val="0"/>
              </a:spcBef>
              <a:spcAft>
                <a:spcPts val="0"/>
              </a:spcAft>
              <a:buSzPts val="1400"/>
              <a:buChar char="○"/>
            </a:pPr>
            <a:r>
              <a:rPr lang="pt-BR"/>
              <a:t>Ao rejeitar </a:t>
            </a:r>
            <a:r>
              <a:rPr lang="pt-BR" sz="1800">
                <a:solidFill>
                  <a:schemeClr val="dk1"/>
                </a:solidFill>
                <a:latin typeface="Consolas"/>
                <a:ea typeface="Consolas"/>
                <a:cs typeface="Consolas"/>
                <a:sym typeface="Consolas"/>
              </a:rPr>
              <a:t>H0</a:t>
            </a:r>
            <a:r>
              <a:rPr lang="pt-BR"/>
              <a:t> </a:t>
            </a:r>
            <a:r>
              <a:rPr lang="pt-BR"/>
              <a:t>achamos um SINAL</a:t>
            </a:r>
            <a:endParaRPr/>
          </a:p>
          <a:p>
            <a:pPr indent="-317500" lvl="1" marL="914400" rtl="0" algn="l">
              <a:spcBef>
                <a:spcPts val="0"/>
              </a:spcBef>
              <a:spcAft>
                <a:spcPts val="0"/>
              </a:spcAft>
              <a:buSzPts val="1400"/>
              <a:buChar char="○"/>
            </a:pPr>
            <a:r>
              <a:rPr lang="pt-BR"/>
              <a:t>Existe algo nessa amostra que não pode ser explicado por CHANCE</a:t>
            </a:r>
            <a:endParaRPr/>
          </a:p>
          <a:p>
            <a:pPr indent="-317500" lvl="1" marL="914400" rtl="0" algn="l">
              <a:spcBef>
                <a:spcPts val="0"/>
              </a:spcBef>
              <a:spcAft>
                <a:spcPts val="0"/>
              </a:spcAft>
              <a:buSzPts val="1400"/>
              <a:buChar char="○"/>
            </a:pPr>
            <a:r>
              <a:rPr lang="pt-BR"/>
              <a:t>Claro que eu ainda posso errar (geralmente 5%) das vezes</a:t>
            </a:r>
            <a:endParaRPr/>
          </a:p>
          <a:p>
            <a:pPr indent="-317500" lvl="1" marL="914400" rtl="0" algn="l">
              <a:spcBef>
                <a:spcPts val="0"/>
              </a:spcBef>
              <a:spcAft>
                <a:spcPts val="0"/>
              </a:spcAft>
              <a:buSzPts val="1400"/>
              <a:buChar char="○"/>
            </a:pPr>
            <a:r>
              <a:rPr lang="pt-BR"/>
              <a:t>Mas 5% é raro!</a:t>
            </a:r>
            <a:br>
              <a:rPr lang="pt-BR"/>
            </a:br>
            <a:endParaRPr/>
          </a:p>
          <a:p>
            <a:pPr indent="-342900" lvl="0" marL="457200" rtl="0" algn="l">
              <a:spcBef>
                <a:spcPts val="0"/>
              </a:spcBef>
              <a:spcAft>
                <a:spcPts val="0"/>
              </a:spcAft>
              <a:buSzPts val="1800"/>
              <a:buChar char="●"/>
            </a:pPr>
            <a:r>
              <a:rPr lang="pt-BR"/>
              <a:t>Vamos voltar para uma suposta VACINA de COVID.</a:t>
            </a:r>
            <a:endParaRPr/>
          </a:p>
          <a:p>
            <a:pPr indent="-317500" lvl="1" marL="914400" rtl="0" algn="l">
              <a:spcBef>
                <a:spcPts val="0"/>
              </a:spcBef>
              <a:spcAft>
                <a:spcPts val="0"/>
              </a:spcAft>
              <a:buSzPts val="1400"/>
              <a:buChar char="○"/>
            </a:pPr>
            <a:r>
              <a:rPr lang="pt-BR"/>
              <a:t>Queremos que os resultados sejam explicados por chance?</a:t>
            </a:r>
            <a:endParaRPr/>
          </a:p>
          <a:p>
            <a:pPr indent="-317500" lvl="1" marL="914400" rtl="0" algn="l">
              <a:spcBef>
                <a:spcPts val="0"/>
              </a:spcBef>
              <a:spcAft>
                <a:spcPts val="0"/>
              </a:spcAft>
              <a:buSzPts val="1400"/>
              <a:buChar char="○"/>
            </a:pPr>
            <a:r>
              <a:rPr lang="pt-BR"/>
              <a:t>Não!</a:t>
            </a:r>
            <a:endParaRPr/>
          </a:p>
          <a:p>
            <a:pPr indent="-317500" lvl="1" marL="914400" rtl="0" algn="l">
              <a:spcBef>
                <a:spcPts val="0"/>
              </a:spcBef>
              <a:spcAft>
                <a:spcPts val="0"/>
              </a:spcAft>
              <a:buSzPts val="1400"/>
              <a:buChar char="○"/>
            </a:pPr>
            <a:r>
              <a:rPr lang="pt-BR"/>
              <a:t>Queremos rejeitar a hipótese nula!</a:t>
            </a:r>
            <a:endParaRPr/>
          </a:p>
          <a:p>
            <a:pPr indent="-317500" lvl="1" marL="914400" rtl="0" algn="l">
              <a:spcBef>
                <a:spcPts val="0"/>
              </a:spcBef>
              <a:spcAft>
                <a:spcPts val="0"/>
              </a:spcAft>
              <a:buSzPts val="1400"/>
              <a:buChar char="○"/>
            </a:pPr>
            <a:r>
              <a:rPr lang="pt-BR"/>
              <a:t>Evidência de SINAL!</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3"/>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Hipóteses Nulas e o Método Científico</a:t>
            </a:r>
            <a:endParaRPr/>
          </a:p>
        </p:txBody>
      </p:sp>
      <p:sp>
        <p:nvSpPr>
          <p:cNvPr id="410" name="Google Shape;410;p53"/>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Testar hipóteses é a base do método científico</a:t>
            </a:r>
            <a:endParaRPr/>
          </a:p>
          <a:p>
            <a:pPr indent="-342900" lvl="0" marL="457200" rtl="0" algn="l">
              <a:spcBef>
                <a:spcPts val="0"/>
              </a:spcBef>
              <a:spcAft>
                <a:spcPts val="0"/>
              </a:spcAft>
              <a:buSzPts val="1800"/>
              <a:buChar char="●"/>
            </a:pPr>
            <a:r>
              <a:rPr lang="pt-BR"/>
              <a:t>Hipóteses nula são uma das formas de fazer ciência</a:t>
            </a:r>
            <a:endParaRPr/>
          </a:p>
          <a:p>
            <a:pPr indent="-317500" lvl="1" marL="914400" rtl="0" algn="l">
              <a:spcBef>
                <a:spcPts val="0"/>
              </a:spcBef>
              <a:spcAft>
                <a:spcPts val="0"/>
              </a:spcAft>
              <a:buSzPts val="1400"/>
              <a:buChar char="○"/>
            </a:pPr>
            <a:r>
              <a:rPr lang="pt-BR"/>
              <a:t>Com dados</a:t>
            </a:r>
            <a:endParaRPr/>
          </a:p>
          <a:p>
            <a:pPr indent="-317500" lvl="1" marL="914400" rtl="0" algn="l">
              <a:spcBef>
                <a:spcPts val="0"/>
              </a:spcBef>
              <a:spcAft>
                <a:spcPts val="0"/>
              </a:spcAft>
              <a:buSzPts val="1400"/>
              <a:buChar char="○"/>
            </a:pPr>
            <a:r>
              <a:rPr lang="pt-BR"/>
              <a:t>Afinal, a matéria se chama ciência de dados!</a:t>
            </a:r>
            <a:endParaRPr/>
          </a:p>
          <a:p>
            <a:pPr indent="-342900" lvl="0" marL="457200" rtl="0" algn="l">
              <a:spcBef>
                <a:spcPts val="0"/>
              </a:spcBef>
              <a:spcAft>
                <a:spcPts val="0"/>
              </a:spcAft>
              <a:buSzPts val="1800"/>
              <a:buChar char="●"/>
            </a:pPr>
            <a:r>
              <a:rPr lang="pt-BR"/>
              <a:t>Geralmente tais testes são feitos com grupos de controle/teste</a:t>
            </a:r>
            <a:endParaRPr/>
          </a:p>
          <a:p>
            <a:pPr indent="-317500" lvl="1" marL="914400" rtl="0" algn="l">
              <a:spcBef>
                <a:spcPts val="0"/>
              </a:spcBef>
              <a:spcAft>
                <a:spcPts val="0"/>
              </a:spcAft>
              <a:buSzPts val="1400"/>
              <a:buChar char="○"/>
            </a:pPr>
            <a:r>
              <a:rPr lang="pt-BR"/>
              <a:t>Lembre-se do </a:t>
            </a:r>
            <a:r>
              <a:rPr lang="pt-BR"/>
              <a:t>início</a:t>
            </a:r>
            <a:r>
              <a:rPr lang="pt-BR"/>
              <a:t> da matéria</a:t>
            </a:r>
            <a:endParaRPr/>
          </a:p>
          <a:p>
            <a:pPr indent="-342900" lvl="0" marL="457200" rtl="0" algn="l">
              <a:spcBef>
                <a:spcPts val="0"/>
              </a:spcBef>
              <a:spcAft>
                <a:spcPts val="0"/>
              </a:spcAft>
              <a:buSzPts val="1800"/>
              <a:buChar char="●"/>
            </a:pPr>
            <a:r>
              <a:rPr lang="pt-BR"/>
              <a:t>Queremos que a diferença entre os grupos</a:t>
            </a:r>
            <a:br>
              <a:rPr lang="pt-BR"/>
            </a:br>
            <a:r>
              <a:rPr lang="pt-BR"/>
              <a:t>NÃO SEJA EXPLICADA POR CHANCE</a:t>
            </a:r>
            <a:endParaRPr/>
          </a:p>
          <a:p>
            <a:pPr indent="-317500" lvl="1" marL="914400" rtl="0" algn="l">
              <a:spcBef>
                <a:spcPts val="0"/>
              </a:spcBef>
              <a:spcAft>
                <a:spcPts val="0"/>
              </a:spcAft>
              <a:buSzPts val="1400"/>
              <a:buChar char="○"/>
            </a:pPr>
            <a:r>
              <a:rPr lang="pt-BR"/>
              <a:t>Rejeitar a nula</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4"/>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Segundo Problema</a:t>
            </a:r>
            <a:endParaRPr/>
          </a:p>
        </p:txBody>
      </p:sp>
      <p:sp>
        <p:nvSpPr>
          <p:cNvPr id="416" name="Google Shape;416;p54"/>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i="1" lang="pt-BR"/>
              <a:t>“In 2010, the American Civil Liberties Union (ACLU) of Northern California presented a report on jury selection in Alameda County, California. The report concluded that </a:t>
            </a:r>
            <a:r>
              <a:rPr b="1" i="1" lang="pt-BR">
                <a:solidFill>
                  <a:schemeClr val="dk1"/>
                </a:solidFill>
              </a:rPr>
              <a:t>certain ethnic groups are underrepresented</a:t>
            </a:r>
            <a:r>
              <a:rPr i="1" lang="pt-BR"/>
              <a:t> among jury panelists in Alameda County, and suggested some reforms of the process by which eligible jurors are assigned to panels. In this section, we will perform our own analysis of the data and examine some questions that arise as a result.”</a:t>
            </a:r>
            <a:endParaRPr i="1"/>
          </a:p>
        </p:txBody>
      </p:sp>
      <p:sp>
        <p:nvSpPr>
          <p:cNvPr id="417" name="Google Shape;417;p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55"/>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Os Dados</a:t>
            </a:r>
            <a:endParaRPr/>
          </a:p>
        </p:txBody>
      </p:sp>
      <p:sp>
        <p:nvSpPr>
          <p:cNvPr id="423" name="Google Shape;423;p55"/>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Temos as seguintes proporções nos dados</a:t>
            </a:r>
            <a:endParaRPr/>
          </a:p>
        </p:txBody>
      </p:sp>
      <p:sp>
        <p:nvSpPr>
          <p:cNvPr id="424" name="Google Shape;424;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425" name="Google Shape;425;p55"/>
          <p:cNvPicPr preferRelativeResize="0"/>
          <p:nvPr/>
        </p:nvPicPr>
        <p:blipFill>
          <a:blip r:embed="rId3">
            <a:alphaModFix/>
          </a:blip>
          <a:stretch>
            <a:fillRect/>
          </a:stretch>
        </p:blipFill>
        <p:spPr>
          <a:xfrm>
            <a:off x="2214025" y="1668725"/>
            <a:ext cx="4715959" cy="328042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6"/>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Segundo Problema</a:t>
            </a:r>
            <a:endParaRPr/>
          </a:p>
        </p:txBody>
      </p:sp>
      <p:sp>
        <p:nvSpPr>
          <p:cNvPr id="431" name="Google Shape;431;p56"/>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Diferente do anterior temos vários grupos</a:t>
            </a:r>
            <a:endParaRPr/>
          </a:p>
          <a:p>
            <a:pPr indent="-342900" lvl="0" marL="457200" rtl="0" algn="l">
              <a:spcBef>
                <a:spcPts val="0"/>
              </a:spcBef>
              <a:spcAft>
                <a:spcPts val="0"/>
              </a:spcAft>
              <a:buSzPts val="1800"/>
              <a:buChar char="●"/>
            </a:pPr>
            <a:r>
              <a:rPr lang="pt-BR"/>
              <a:t>Precisamos de alguma forma de comparar distribuições</a:t>
            </a:r>
            <a:endParaRPr/>
          </a:p>
        </p:txBody>
      </p:sp>
      <p:sp>
        <p:nvSpPr>
          <p:cNvPr id="432" name="Google Shape;432;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433" name="Google Shape;433;p56"/>
          <p:cNvPicPr preferRelativeResize="0"/>
          <p:nvPr/>
        </p:nvPicPr>
        <p:blipFill>
          <a:blip r:embed="rId3">
            <a:alphaModFix/>
          </a:blip>
          <a:stretch>
            <a:fillRect/>
          </a:stretch>
        </p:blipFill>
        <p:spPr>
          <a:xfrm>
            <a:off x="765975" y="2623548"/>
            <a:ext cx="6893775" cy="1068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1000"/>
                                        <p:tgtEl>
                                          <p:spTgt spid="4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7"/>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Total Variation Distance</a:t>
            </a:r>
            <a:endParaRPr/>
          </a:p>
        </p:txBody>
      </p:sp>
      <p:sp>
        <p:nvSpPr>
          <p:cNvPr id="439" name="Google Shape;439;p57"/>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Compare as proporções de dois grupos em módulo</a:t>
            </a:r>
            <a:endParaRPr/>
          </a:p>
          <a:p>
            <a:pPr indent="-342900" lvl="0" marL="457200" rtl="0" algn="l">
              <a:spcBef>
                <a:spcPts val="0"/>
              </a:spcBef>
              <a:spcAft>
                <a:spcPts val="0"/>
              </a:spcAft>
              <a:buSzPts val="1800"/>
              <a:buChar char="●"/>
            </a:pPr>
            <a:r>
              <a:rPr lang="pt-BR"/>
              <a:t>Some das diferenças</a:t>
            </a:r>
            <a:endParaRPr/>
          </a:p>
          <a:p>
            <a:pPr indent="-342900" lvl="0" marL="457200" rtl="0" algn="l">
              <a:spcBef>
                <a:spcPts val="0"/>
              </a:spcBef>
              <a:spcAft>
                <a:spcPts val="0"/>
              </a:spcAft>
              <a:buSzPts val="1800"/>
              <a:buChar char="●"/>
            </a:pPr>
            <a:r>
              <a:rPr lang="pt-BR"/>
              <a:t>Retorne o 0.5 * a soma</a:t>
            </a:r>
            <a:endParaRPr/>
          </a:p>
        </p:txBody>
      </p:sp>
      <p:sp>
        <p:nvSpPr>
          <p:cNvPr id="440" name="Google Shape;440;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441" name="Google Shape;441;p57"/>
          <p:cNvPicPr preferRelativeResize="0"/>
          <p:nvPr/>
        </p:nvPicPr>
        <p:blipFill>
          <a:blip r:embed="rId3">
            <a:alphaModFix/>
          </a:blip>
          <a:stretch>
            <a:fillRect/>
          </a:stretch>
        </p:blipFill>
        <p:spPr>
          <a:xfrm>
            <a:off x="311700" y="2304113"/>
            <a:ext cx="8420100" cy="1304925"/>
          </a:xfrm>
          <a:prstGeom prst="rect">
            <a:avLst/>
          </a:prstGeom>
          <a:noFill/>
          <a:ln>
            <a:noFill/>
          </a:ln>
        </p:spPr>
      </p:pic>
      <p:sp>
        <p:nvSpPr>
          <p:cNvPr id="442" name="Google Shape;442;p57"/>
          <p:cNvSpPr txBox="1"/>
          <p:nvPr/>
        </p:nvSpPr>
        <p:spPr>
          <a:xfrm>
            <a:off x="686450" y="3827075"/>
            <a:ext cx="5416200" cy="6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latin typeface="Consolas"/>
                <a:ea typeface="Consolas"/>
                <a:cs typeface="Consolas"/>
                <a:sym typeface="Consolas"/>
              </a:rPr>
              <a:t>Observe como o caso extremo é 1</a:t>
            </a:r>
            <a:br>
              <a:rPr lang="pt-BR">
                <a:latin typeface="Consolas"/>
                <a:ea typeface="Consolas"/>
                <a:cs typeface="Consolas"/>
                <a:sym typeface="Consolas"/>
              </a:rPr>
            </a:br>
            <a:r>
              <a:rPr lang="pt-BR">
                <a:latin typeface="Consolas"/>
                <a:ea typeface="Consolas"/>
                <a:cs typeface="Consolas"/>
                <a:sym typeface="Consolas"/>
              </a:rPr>
              <a:t>d([0, 1], [1, 0]) = 0.5 * (1 + 1) = 1</a:t>
            </a:r>
            <a:br>
              <a:rPr lang="pt-BR">
                <a:latin typeface="Consolas"/>
                <a:ea typeface="Consolas"/>
                <a:cs typeface="Consolas"/>
                <a:sym typeface="Consolas"/>
              </a:rPr>
            </a:br>
            <a:br>
              <a:rPr lang="pt-BR">
                <a:latin typeface="Consolas"/>
                <a:ea typeface="Consolas"/>
                <a:cs typeface="Consolas"/>
                <a:sym typeface="Consolas"/>
              </a:rPr>
            </a:br>
            <a:r>
              <a:rPr lang="pt-BR">
                <a:latin typeface="Consolas"/>
                <a:ea typeface="Consolas"/>
                <a:cs typeface="Consolas"/>
                <a:sym typeface="Consolas"/>
              </a:rPr>
              <a:t>Caso de igualdade</a:t>
            </a:r>
            <a:br>
              <a:rPr lang="pt-BR">
                <a:latin typeface="Consolas"/>
                <a:ea typeface="Consolas"/>
                <a:cs typeface="Consolas"/>
                <a:sym typeface="Consolas"/>
              </a:rPr>
            </a:br>
            <a:r>
              <a:rPr lang="pt-BR">
                <a:solidFill>
                  <a:schemeClr val="dk1"/>
                </a:solidFill>
                <a:latin typeface="Consolas"/>
                <a:ea typeface="Consolas"/>
                <a:cs typeface="Consolas"/>
                <a:sym typeface="Consolas"/>
              </a:rPr>
              <a:t>d([½, ½], [½, ½]) = 0.5 * (0 + 0) = 0</a:t>
            </a:r>
            <a:endParaRPr>
              <a:latin typeface="Consolas"/>
              <a:ea typeface="Consolas"/>
              <a:cs typeface="Consolas"/>
              <a:sym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58"/>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Total Variation Distance</a:t>
            </a:r>
            <a:endParaRPr/>
          </a:p>
        </p:txBody>
      </p:sp>
      <p:sp>
        <p:nvSpPr>
          <p:cNvPr id="448" name="Google Shape;448;p58"/>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Compare as proporções de dois grupos em módulo</a:t>
            </a:r>
            <a:endParaRPr/>
          </a:p>
          <a:p>
            <a:pPr indent="-342900" lvl="0" marL="457200" rtl="0" algn="l">
              <a:spcBef>
                <a:spcPts val="0"/>
              </a:spcBef>
              <a:spcAft>
                <a:spcPts val="0"/>
              </a:spcAft>
              <a:buSzPts val="1800"/>
              <a:buChar char="●"/>
            </a:pPr>
            <a:r>
              <a:rPr lang="pt-BR"/>
              <a:t>Some das diferenças</a:t>
            </a:r>
            <a:endParaRPr/>
          </a:p>
          <a:p>
            <a:pPr indent="-342900" lvl="0" marL="457200" rtl="0" algn="l">
              <a:spcBef>
                <a:spcPts val="0"/>
              </a:spcBef>
              <a:spcAft>
                <a:spcPts val="0"/>
              </a:spcAft>
              <a:buSzPts val="1800"/>
              <a:buChar char="●"/>
            </a:pPr>
            <a:r>
              <a:rPr lang="pt-BR"/>
              <a:t>Retorne o 0.5 * a soma</a:t>
            </a:r>
            <a:endParaRPr/>
          </a:p>
        </p:txBody>
      </p:sp>
      <p:sp>
        <p:nvSpPr>
          <p:cNvPr id="449" name="Google Shape;449;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450" name="Google Shape;450;p58"/>
          <p:cNvPicPr preferRelativeResize="0"/>
          <p:nvPr/>
        </p:nvPicPr>
        <p:blipFill>
          <a:blip r:embed="rId3">
            <a:alphaModFix/>
          </a:blip>
          <a:stretch>
            <a:fillRect/>
          </a:stretch>
        </p:blipFill>
        <p:spPr>
          <a:xfrm>
            <a:off x="311700" y="2304113"/>
            <a:ext cx="8420100" cy="1304925"/>
          </a:xfrm>
          <a:prstGeom prst="rect">
            <a:avLst/>
          </a:prstGeom>
          <a:noFill/>
          <a:ln>
            <a:noFill/>
          </a:ln>
        </p:spPr>
      </p:pic>
      <p:sp>
        <p:nvSpPr>
          <p:cNvPr id="451" name="Google Shape;451;p58"/>
          <p:cNvSpPr txBox="1"/>
          <p:nvPr/>
        </p:nvSpPr>
        <p:spPr>
          <a:xfrm>
            <a:off x="686450" y="3827075"/>
            <a:ext cx="5416200" cy="6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latin typeface="Consolas"/>
                <a:ea typeface="Consolas"/>
                <a:cs typeface="Consolas"/>
                <a:sym typeface="Consolas"/>
              </a:rPr>
              <a:t>Observe como o caso extremo é 1</a:t>
            </a:r>
            <a:br>
              <a:rPr lang="pt-BR">
                <a:latin typeface="Consolas"/>
                <a:ea typeface="Consolas"/>
                <a:cs typeface="Consolas"/>
                <a:sym typeface="Consolas"/>
              </a:rPr>
            </a:br>
            <a:r>
              <a:rPr lang="pt-BR">
                <a:latin typeface="Consolas"/>
                <a:ea typeface="Consolas"/>
                <a:cs typeface="Consolas"/>
                <a:sym typeface="Consolas"/>
              </a:rPr>
              <a:t>d([0, 1], [1, 0]) = 0.5 * (1 + 1) = 1</a:t>
            </a:r>
            <a:br>
              <a:rPr lang="pt-BR">
                <a:latin typeface="Consolas"/>
                <a:ea typeface="Consolas"/>
                <a:cs typeface="Consolas"/>
                <a:sym typeface="Consolas"/>
              </a:rPr>
            </a:br>
            <a:br>
              <a:rPr lang="pt-BR">
                <a:latin typeface="Consolas"/>
                <a:ea typeface="Consolas"/>
                <a:cs typeface="Consolas"/>
                <a:sym typeface="Consolas"/>
              </a:rPr>
            </a:br>
            <a:r>
              <a:rPr lang="pt-BR">
                <a:latin typeface="Consolas"/>
                <a:ea typeface="Consolas"/>
                <a:cs typeface="Consolas"/>
                <a:sym typeface="Consolas"/>
              </a:rPr>
              <a:t>Caso de igualdade</a:t>
            </a:r>
            <a:br>
              <a:rPr lang="pt-BR">
                <a:latin typeface="Consolas"/>
                <a:ea typeface="Consolas"/>
                <a:cs typeface="Consolas"/>
                <a:sym typeface="Consolas"/>
              </a:rPr>
            </a:br>
            <a:r>
              <a:rPr lang="pt-BR">
                <a:solidFill>
                  <a:schemeClr val="dk1"/>
                </a:solidFill>
                <a:latin typeface="Consolas"/>
                <a:ea typeface="Consolas"/>
                <a:cs typeface="Consolas"/>
                <a:sym typeface="Consolas"/>
              </a:rPr>
              <a:t>d([½, ½], [½, ½]) = 0.5 * (0 + 0) = 0</a:t>
            </a:r>
            <a:endParaRPr>
              <a:latin typeface="Consolas"/>
              <a:ea typeface="Consolas"/>
              <a:cs typeface="Consolas"/>
              <a:sym typeface="Consolas"/>
            </a:endParaRPr>
          </a:p>
        </p:txBody>
      </p:sp>
      <p:sp>
        <p:nvSpPr>
          <p:cNvPr id="452" name="Google Shape;452;p58"/>
          <p:cNvSpPr txBox="1"/>
          <p:nvPr/>
        </p:nvSpPr>
        <p:spPr>
          <a:xfrm rot="-315">
            <a:off x="5035550" y="3961315"/>
            <a:ext cx="3274500" cy="49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200">
                <a:solidFill>
                  <a:srgbClr val="980000"/>
                </a:solidFill>
                <a:latin typeface="Permanent Marker"/>
                <a:ea typeface="Permanent Marker"/>
                <a:cs typeface="Permanent Marker"/>
                <a:sym typeface="Permanent Marker"/>
              </a:rPr>
              <a:t>O TVD É APENAS UMA </a:t>
            </a:r>
            <a:r>
              <a:rPr lang="pt-BR" sz="1200">
                <a:solidFill>
                  <a:srgbClr val="980000"/>
                </a:solidFill>
                <a:latin typeface="Permanent Marker"/>
                <a:ea typeface="Permanent Marker"/>
                <a:cs typeface="Permanent Marker"/>
                <a:sym typeface="Permanent Marker"/>
              </a:rPr>
              <a:t>ESTATÍSTICA</a:t>
            </a:r>
            <a:r>
              <a:rPr lang="pt-BR" sz="1200">
                <a:solidFill>
                  <a:srgbClr val="980000"/>
                </a:solidFill>
                <a:latin typeface="Permanent Marker"/>
                <a:ea typeface="Permanent Marker"/>
                <a:cs typeface="Permanent Marker"/>
                <a:sym typeface="Permanent Marker"/>
              </a:rPr>
              <a:t> QUE COMPARA VETORES. PODEMOS USAR OUTRAS!</a:t>
            </a:r>
            <a:endParaRPr sz="1200">
              <a:solidFill>
                <a:srgbClr val="980000"/>
              </a:solidFill>
              <a:latin typeface="Permanent Marker"/>
              <a:ea typeface="Permanent Marker"/>
              <a:cs typeface="Permanent Marker"/>
              <a:sym typeface="Permanent Marke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59"/>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Total Variation Distance</a:t>
            </a:r>
            <a:endParaRPr/>
          </a:p>
        </p:txBody>
      </p:sp>
      <p:sp>
        <p:nvSpPr>
          <p:cNvPr id="458" name="Google Shape;458;p59"/>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No caso abaixo é de 0.14</a:t>
            </a:r>
            <a:endParaRPr/>
          </a:p>
        </p:txBody>
      </p:sp>
      <p:sp>
        <p:nvSpPr>
          <p:cNvPr id="459" name="Google Shape;459;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460" name="Google Shape;460;p59"/>
          <p:cNvPicPr preferRelativeResize="0"/>
          <p:nvPr/>
        </p:nvPicPr>
        <p:blipFill>
          <a:blip r:embed="rId3">
            <a:alphaModFix/>
          </a:blip>
          <a:stretch>
            <a:fillRect/>
          </a:stretch>
        </p:blipFill>
        <p:spPr>
          <a:xfrm>
            <a:off x="2214025" y="1668725"/>
            <a:ext cx="4715959" cy="328042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60"/>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Comparando com uma amostra</a:t>
            </a:r>
            <a:endParaRPr/>
          </a:p>
        </p:txBody>
      </p:sp>
      <p:sp>
        <p:nvSpPr>
          <p:cNvPr id="466" name="Google Shape;466;p60"/>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Nos dados, a população tem tamanho de 1,423</a:t>
            </a:r>
            <a:endParaRPr/>
          </a:p>
          <a:p>
            <a:pPr indent="-342900" lvl="0" marL="457200" rtl="0" algn="l">
              <a:spcBef>
                <a:spcPts val="0"/>
              </a:spcBef>
              <a:spcAft>
                <a:spcPts val="0"/>
              </a:spcAft>
              <a:buSzPts val="1800"/>
              <a:buChar char="●"/>
            </a:pPr>
            <a:r>
              <a:rPr lang="pt-BR"/>
              <a:t>Vamos gerar uma amostra e comparar</a:t>
            </a:r>
            <a:endParaRPr/>
          </a:p>
        </p:txBody>
      </p:sp>
      <p:sp>
        <p:nvSpPr>
          <p:cNvPr id="467" name="Google Shape;467;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468" name="Google Shape;468;p60"/>
          <p:cNvPicPr preferRelativeResize="0"/>
          <p:nvPr/>
        </p:nvPicPr>
        <p:blipFill>
          <a:blip r:embed="rId3">
            <a:alphaModFix/>
          </a:blip>
          <a:stretch>
            <a:fillRect/>
          </a:stretch>
        </p:blipFill>
        <p:spPr>
          <a:xfrm>
            <a:off x="2265888" y="1874101"/>
            <a:ext cx="4612226" cy="3208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1000"/>
                                        <p:tgtEl>
                                          <p:spTgt spid="4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61"/>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Processo</a:t>
            </a:r>
            <a:endParaRPr/>
          </a:p>
        </p:txBody>
      </p:sp>
      <p:sp>
        <p:nvSpPr>
          <p:cNvPr id="474" name="Google Shape;474;p61"/>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Gerar várias amostras</a:t>
            </a:r>
            <a:endParaRPr/>
          </a:p>
          <a:p>
            <a:pPr indent="-342900" lvl="0" marL="457200" rtl="0" algn="l">
              <a:spcBef>
                <a:spcPts val="0"/>
              </a:spcBef>
              <a:spcAft>
                <a:spcPts val="0"/>
              </a:spcAft>
              <a:buSzPts val="1800"/>
              <a:buChar char="●"/>
            </a:pPr>
            <a:r>
              <a:rPr lang="pt-BR"/>
              <a:t>Guardar o Total Variation Distance</a:t>
            </a:r>
            <a:endParaRPr/>
          </a:p>
          <a:p>
            <a:pPr indent="-342900" lvl="0" marL="457200" rtl="0" algn="l">
              <a:spcBef>
                <a:spcPts val="0"/>
              </a:spcBef>
              <a:spcAft>
                <a:spcPts val="0"/>
              </a:spcAft>
              <a:buSzPts val="1800"/>
              <a:buChar char="●"/>
            </a:pPr>
            <a:r>
              <a:rPr lang="pt-BR"/>
              <a:t>Verificar a chance de 0.14</a:t>
            </a:r>
            <a:endParaRPr/>
          </a:p>
        </p:txBody>
      </p:sp>
      <p:sp>
        <p:nvSpPr>
          <p:cNvPr id="475" name="Google Shape;475;p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62"/>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Vamos fazer 10,000 amostras</a:t>
            </a:r>
            <a:endParaRPr/>
          </a:p>
        </p:txBody>
      </p:sp>
      <p:sp>
        <p:nvSpPr>
          <p:cNvPr id="481" name="Google Shape;481;p62"/>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pt-BR"/>
              <a:t>E computar o TVD.</a:t>
            </a:r>
            <a:endParaRPr/>
          </a:p>
        </p:txBody>
      </p:sp>
      <p:sp>
        <p:nvSpPr>
          <p:cNvPr id="482" name="Google Shape;482;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483" name="Google Shape;483;p62"/>
          <p:cNvPicPr preferRelativeResize="0"/>
          <p:nvPr/>
        </p:nvPicPr>
        <p:blipFill>
          <a:blip r:embed="rId3">
            <a:alphaModFix/>
          </a:blip>
          <a:stretch>
            <a:fillRect/>
          </a:stretch>
        </p:blipFill>
        <p:spPr>
          <a:xfrm>
            <a:off x="1945625" y="1625221"/>
            <a:ext cx="5147124" cy="33576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3"/>
                                        </p:tgtEl>
                                        <p:attrNameLst>
                                          <p:attrName>style.visibility</p:attrName>
                                        </p:attrNameLst>
                                      </p:cBhvr>
                                      <p:to>
                                        <p:strVal val="visible"/>
                                      </p:to>
                                    </p:set>
                                    <p:animEffect filter="fade" transition="in">
                                      <p:cBhvr>
                                        <p:cTn dur="1000"/>
                                        <p:tgtEl>
                                          <p:spTgt spid="4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63"/>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Vamos fazer 10,000 amostras</a:t>
            </a:r>
            <a:endParaRPr/>
          </a:p>
        </p:txBody>
      </p:sp>
      <p:sp>
        <p:nvSpPr>
          <p:cNvPr id="489" name="Google Shape;489;p63"/>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pt-BR"/>
              <a:t>Nos dados, o TVD foi de 0.14. Ponto vermelho.</a:t>
            </a:r>
            <a:endParaRPr/>
          </a:p>
        </p:txBody>
      </p:sp>
      <p:sp>
        <p:nvSpPr>
          <p:cNvPr id="490" name="Google Shape;490;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491" name="Google Shape;491;p63"/>
          <p:cNvPicPr preferRelativeResize="0"/>
          <p:nvPr/>
        </p:nvPicPr>
        <p:blipFill>
          <a:blip r:embed="rId3">
            <a:alphaModFix/>
          </a:blip>
          <a:stretch>
            <a:fillRect/>
          </a:stretch>
        </p:blipFill>
        <p:spPr>
          <a:xfrm>
            <a:off x="1945625" y="1625221"/>
            <a:ext cx="5147124" cy="335769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64"/>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No mundo simulado, é menor.</a:t>
            </a:r>
            <a:endParaRPr/>
          </a:p>
        </p:txBody>
      </p:sp>
      <p:sp>
        <p:nvSpPr>
          <p:cNvPr id="497" name="Google Shape;497;p64"/>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pt-BR">
                <a:solidFill>
                  <a:schemeClr val="dk1"/>
                </a:solidFill>
              </a:rPr>
              <a:t>np.percentile(all_distances, 97.5) ---&gt; 0.12</a:t>
            </a:r>
            <a:endParaRPr b="1">
              <a:solidFill>
                <a:schemeClr val="dk1"/>
              </a:solidFill>
            </a:endParaRPr>
          </a:p>
        </p:txBody>
      </p:sp>
      <p:sp>
        <p:nvSpPr>
          <p:cNvPr id="498" name="Google Shape;498;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499" name="Google Shape;499;p64"/>
          <p:cNvPicPr preferRelativeResize="0"/>
          <p:nvPr/>
        </p:nvPicPr>
        <p:blipFill>
          <a:blip r:embed="rId3">
            <a:alphaModFix/>
          </a:blip>
          <a:stretch>
            <a:fillRect/>
          </a:stretch>
        </p:blipFill>
        <p:spPr>
          <a:xfrm>
            <a:off x="1945625" y="1625221"/>
            <a:ext cx="5147124" cy="335769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65"/>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Neste caso</a:t>
            </a:r>
            <a:endParaRPr/>
          </a:p>
        </p:txBody>
      </p:sp>
      <p:sp>
        <p:nvSpPr>
          <p:cNvPr id="505" name="Google Shape;505;p65"/>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O valor real está além do nosso mundo simulado</a:t>
            </a:r>
            <a:endParaRPr/>
          </a:p>
          <a:p>
            <a:pPr indent="-342900" lvl="0" marL="457200" rtl="0" algn="l">
              <a:spcBef>
                <a:spcPts val="0"/>
              </a:spcBef>
              <a:spcAft>
                <a:spcPts val="0"/>
              </a:spcAft>
              <a:buSzPts val="1800"/>
              <a:buChar char="●"/>
            </a:pPr>
            <a:r>
              <a:rPr lang="pt-BR"/>
              <a:t>Não parece ter sido por chance!</a:t>
            </a:r>
            <a:endParaRPr/>
          </a:p>
        </p:txBody>
      </p:sp>
      <p:sp>
        <p:nvSpPr>
          <p:cNvPr id="506" name="Google Shape;506;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507" name="Google Shape;507;p65"/>
          <p:cNvPicPr preferRelativeResize="0"/>
          <p:nvPr/>
        </p:nvPicPr>
        <p:blipFill>
          <a:blip r:embed="rId3">
            <a:alphaModFix/>
          </a:blip>
          <a:stretch>
            <a:fillRect/>
          </a:stretch>
        </p:blipFill>
        <p:spPr>
          <a:xfrm>
            <a:off x="1945625" y="1625221"/>
            <a:ext cx="5147124" cy="3357699"/>
          </a:xfrm>
          <a:prstGeom prst="rect">
            <a:avLst/>
          </a:prstGeom>
          <a:noFill/>
          <a:ln>
            <a:noFill/>
          </a:ln>
        </p:spPr>
      </p:pic>
      <p:cxnSp>
        <p:nvCxnSpPr>
          <p:cNvPr id="508" name="Google Shape;508;p65"/>
          <p:cNvCxnSpPr/>
          <p:nvPr/>
        </p:nvCxnSpPr>
        <p:spPr>
          <a:xfrm>
            <a:off x="5529025" y="2651675"/>
            <a:ext cx="18900" cy="1965300"/>
          </a:xfrm>
          <a:prstGeom prst="straightConnector1">
            <a:avLst/>
          </a:prstGeom>
          <a:noFill/>
          <a:ln cap="flat" cmpd="sng" w="9525">
            <a:solidFill>
              <a:schemeClr val="dk2"/>
            </a:solidFill>
            <a:prstDash val="solid"/>
            <a:round/>
            <a:headEnd len="med" w="med" type="none"/>
            <a:tailEnd len="med" w="med" type="none"/>
          </a:ln>
        </p:spPr>
      </p:cxnSp>
      <p:sp>
        <p:nvSpPr>
          <p:cNvPr id="509" name="Google Shape;509;p65"/>
          <p:cNvSpPr/>
          <p:nvPr/>
        </p:nvSpPr>
        <p:spPr>
          <a:xfrm>
            <a:off x="5547925" y="2651675"/>
            <a:ext cx="338400" cy="19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6"/>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Hipóteses Nulas</a:t>
            </a:r>
            <a:endParaRPr/>
          </a:p>
        </p:txBody>
      </p:sp>
      <p:sp>
        <p:nvSpPr>
          <p:cNvPr id="515" name="Google Shape;515;p66"/>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Dando nomes</a:t>
            </a:r>
            <a:endParaRPr/>
          </a:p>
          <a:p>
            <a:pPr indent="-342900" lvl="0" marL="457200" rtl="0" algn="l">
              <a:spcBef>
                <a:spcPts val="1600"/>
              </a:spcBef>
              <a:spcAft>
                <a:spcPts val="0"/>
              </a:spcAft>
              <a:buSzPts val="1800"/>
              <a:buChar char="●"/>
            </a:pPr>
            <a:r>
              <a:rPr lang="pt-BR"/>
              <a:t>Quando temos um mundo aleatório, podemos verificar alguma </a:t>
            </a:r>
            <a:r>
              <a:rPr b="1" lang="pt-BR">
                <a:solidFill>
                  <a:schemeClr val="dk1"/>
                </a:solidFill>
              </a:rPr>
              <a:t>estatística de teste</a:t>
            </a:r>
            <a:r>
              <a:rPr b="1" lang="pt-BR"/>
              <a:t> </a:t>
            </a:r>
            <a:r>
              <a:rPr lang="pt-BR"/>
              <a:t>neste mundo.</a:t>
            </a:r>
            <a:endParaRPr/>
          </a:p>
          <a:p>
            <a:pPr indent="-317500" lvl="1" marL="914400" rtl="0" algn="l">
              <a:spcBef>
                <a:spcPts val="0"/>
              </a:spcBef>
              <a:spcAft>
                <a:spcPts val="0"/>
              </a:spcAft>
              <a:buSzPts val="1400"/>
              <a:buChar char="○"/>
            </a:pPr>
            <a:r>
              <a:rPr lang="pt-BR"/>
              <a:t>Note que no exemplo acima, foi a TVD</a:t>
            </a:r>
            <a:endParaRPr/>
          </a:p>
          <a:p>
            <a:pPr indent="-317500" lvl="1" marL="914400" rtl="0" algn="l">
              <a:spcBef>
                <a:spcPts val="0"/>
              </a:spcBef>
              <a:spcAft>
                <a:spcPts val="0"/>
              </a:spcAft>
              <a:buSzPts val="1400"/>
              <a:buChar char="○"/>
            </a:pPr>
            <a:r>
              <a:rPr lang="pt-BR"/>
              <a:t>Antes foi a proporção em um grupo</a:t>
            </a:r>
            <a:endParaRPr/>
          </a:p>
          <a:p>
            <a:pPr indent="-342900" lvl="0" marL="457200" rtl="0" algn="l">
              <a:spcBef>
                <a:spcPts val="0"/>
              </a:spcBef>
              <a:spcAft>
                <a:spcPts val="0"/>
              </a:spcAft>
              <a:buClr>
                <a:schemeClr val="dk1"/>
              </a:buClr>
              <a:buSzPts val="1800"/>
              <a:buChar char="●"/>
            </a:pPr>
            <a:r>
              <a:rPr b="1" lang="pt-BR">
                <a:solidFill>
                  <a:schemeClr val="dk1"/>
                </a:solidFill>
              </a:rPr>
              <a:t>Hipótese Nula: </a:t>
            </a:r>
            <a:r>
              <a:rPr lang="pt-BR"/>
              <a:t>Define um modelo aleatório do mundo. Um valor que esperamos neste caso.</a:t>
            </a:r>
            <a:endParaRPr/>
          </a:p>
          <a:p>
            <a:pPr indent="-342900" lvl="0" marL="457200" rtl="0" algn="l">
              <a:spcBef>
                <a:spcPts val="0"/>
              </a:spcBef>
              <a:spcAft>
                <a:spcPts val="0"/>
              </a:spcAft>
              <a:buClr>
                <a:schemeClr val="dk1"/>
              </a:buClr>
              <a:buSzPts val="1800"/>
              <a:buChar char="●"/>
            </a:pPr>
            <a:r>
              <a:rPr b="1" lang="pt-BR">
                <a:solidFill>
                  <a:schemeClr val="dk1"/>
                </a:solidFill>
              </a:rPr>
              <a:t>Teste: </a:t>
            </a:r>
            <a:r>
              <a:rPr lang="pt-BR"/>
              <a:t>Compara o mundo real ao mundo </a:t>
            </a:r>
            <a:r>
              <a:rPr b="1" lang="pt-BR">
                <a:solidFill>
                  <a:schemeClr val="dk1"/>
                </a:solidFill>
              </a:rPr>
              <a:t>nulo.</a:t>
            </a:r>
            <a:endParaRPr b="1">
              <a:solidFill>
                <a:schemeClr val="dk1"/>
              </a:solidFill>
            </a:endParaRPr>
          </a:p>
        </p:txBody>
      </p:sp>
      <p:sp>
        <p:nvSpPr>
          <p:cNvPr id="516" name="Google Shape;516;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7"/>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Intuição (Voltando para o Teorema Central do Limite)</a:t>
            </a:r>
            <a:endParaRPr/>
          </a:p>
        </p:txBody>
      </p:sp>
      <p:sp>
        <p:nvSpPr>
          <p:cNvPr id="522" name="Google Shape;522;p67"/>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O TCL também mostra um acaso</a:t>
            </a:r>
            <a:endParaRPr/>
          </a:p>
          <a:p>
            <a:pPr indent="-342900" lvl="0" marL="457200" rtl="0" algn="l">
              <a:spcBef>
                <a:spcPts val="0"/>
              </a:spcBef>
              <a:spcAft>
                <a:spcPts val="0"/>
              </a:spcAft>
              <a:buSzPts val="1800"/>
              <a:buChar char="●"/>
            </a:pPr>
            <a:r>
              <a:rPr lang="pt-BR"/>
              <a:t>Acaso de médias</a:t>
            </a:r>
            <a:endParaRPr/>
          </a:p>
        </p:txBody>
      </p:sp>
      <p:pic>
        <p:nvPicPr>
          <p:cNvPr id="523" name="Google Shape;523;p67"/>
          <p:cNvPicPr preferRelativeResize="0"/>
          <p:nvPr/>
        </p:nvPicPr>
        <p:blipFill>
          <a:blip r:embed="rId3">
            <a:alphaModFix/>
          </a:blip>
          <a:stretch>
            <a:fillRect/>
          </a:stretch>
        </p:blipFill>
        <p:spPr>
          <a:xfrm>
            <a:off x="2479144" y="1710175"/>
            <a:ext cx="3825999" cy="2505075"/>
          </a:xfrm>
          <a:prstGeom prst="rect">
            <a:avLst/>
          </a:prstGeom>
          <a:noFill/>
          <a:ln>
            <a:noFill/>
          </a:ln>
        </p:spPr>
      </p:pic>
      <p:sp>
        <p:nvSpPr>
          <p:cNvPr id="524" name="Google Shape;524;p67"/>
          <p:cNvSpPr txBox="1"/>
          <p:nvPr/>
        </p:nvSpPr>
        <p:spPr>
          <a:xfrm>
            <a:off x="2747100" y="2571750"/>
            <a:ext cx="37407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300">
                <a:latin typeface="Comfortaa"/>
                <a:ea typeface="Comfortaa"/>
                <a:cs typeface="Comfortaa"/>
                <a:sym typeface="Comfortaa"/>
              </a:rPr>
              <a:t>95%</a:t>
            </a:r>
            <a:br>
              <a:rPr lang="pt-BR" sz="1300">
                <a:latin typeface="Comfortaa"/>
                <a:ea typeface="Comfortaa"/>
                <a:cs typeface="Comfortaa"/>
                <a:sym typeface="Comfortaa"/>
              </a:rPr>
            </a:br>
            <a:r>
              <a:rPr lang="pt-BR" sz="1300">
                <a:latin typeface="Comfortaa"/>
                <a:ea typeface="Comfortaa"/>
                <a:cs typeface="Comfortaa"/>
                <a:sym typeface="Comfortaa"/>
              </a:rPr>
              <a:t>dos casos</a:t>
            </a:r>
            <a:endParaRPr sz="1300">
              <a:latin typeface="Comfortaa"/>
              <a:ea typeface="Comfortaa"/>
              <a:cs typeface="Comfortaa"/>
              <a:sym typeface="Comfortaa"/>
            </a:endParaRPr>
          </a:p>
          <a:p>
            <a:pPr indent="0" lvl="0" marL="0" rtl="0" algn="ctr">
              <a:spcBef>
                <a:spcPts val="0"/>
              </a:spcBef>
              <a:spcAft>
                <a:spcPts val="0"/>
              </a:spcAft>
              <a:buNone/>
            </a:pPr>
            <a:r>
              <a:rPr lang="pt-BR" sz="1300">
                <a:latin typeface="Comfortaa"/>
                <a:ea typeface="Comfortaa"/>
                <a:cs typeface="Comfortaa"/>
                <a:sym typeface="Comfortaa"/>
              </a:rPr>
              <a:t>na região branca.</a:t>
            </a:r>
            <a:endParaRPr sz="1300">
              <a:latin typeface="Comfortaa"/>
              <a:ea typeface="Comfortaa"/>
              <a:cs typeface="Comfortaa"/>
              <a:sym typeface="Comfortaa"/>
            </a:endParaRPr>
          </a:p>
          <a:p>
            <a:pPr indent="0" lvl="0" marL="0" rtl="0" algn="ctr">
              <a:spcBef>
                <a:spcPts val="0"/>
              </a:spcBef>
              <a:spcAft>
                <a:spcPts val="0"/>
              </a:spcAft>
              <a:buNone/>
            </a:pPr>
            <a:r>
              <a:rPr lang="pt-BR" sz="1300">
                <a:latin typeface="Comfortaa"/>
                <a:ea typeface="Comfortaa"/>
                <a:cs typeface="Comfortaa"/>
                <a:sym typeface="Comfortaa"/>
              </a:rPr>
              <a:t>Aceitamos o acaso.</a:t>
            </a:r>
            <a:endParaRPr sz="1300">
              <a:latin typeface="Comfortaa"/>
              <a:ea typeface="Comfortaa"/>
              <a:cs typeface="Comfortaa"/>
              <a:sym typeface="Comfortaa"/>
            </a:endParaRPr>
          </a:p>
        </p:txBody>
      </p:sp>
      <p:sp>
        <p:nvSpPr>
          <p:cNvPr id="525" name="Google Shape;525;p67"/>
          <p:cNvSpPr txBox="1"/>
          <p:nvPr/>
        </p:nvSpPr>
        <p:spPr>
          <a:xfrm>
            <a:off x="6500825" y="3760200"/>
            <a:ext cx="19500" cy="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900">
              <a:latin typeface="Comfortaa"/>
              <a:ea typeface="Comfortaa"/>
              <a:cs typeface="Comfortaa"/>
              <a:sym typeface="Comfortaa"/>
            </a:endParaRPr>
          </a:p>
        </p:txBody>
      </p:sp>
      <p:sp>
        <p:nvSpPr>
          <p:cNvPr id="526" name="Google Shape;526;p67"/>
          <p:cNvSpPr txBox="1"/>
          <p:nvPr/>
        </p:nvSpPr>
        <p:spPr>
          <a:xfrm>
            <a:off x="6383900" y="3495550"/>
            <a:ext cx="226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900">
                <a:solidFill>
                  <a:schemeClr val="dk1"/>
                </a:solidFill>
                <a:latin typeface="Comfortaa"/>
                <a:ea typeface="Comfortaa"/>
                <a:cs typeface="Comfortaa"/>
                <a:sym typeface="Comfortaa"/>
              </a:rPr>
              <a:t>2.</a:t>
            </a:r>
            <a:r>
              <a:rPr lang="pt-BR" sz="900">
                <a:solidFill>
                  <a:schemeClr val="dk1"/>
                </a:solidFill>
                <a:latin typeface="Comfortaa"/>
                <a:ea typeface="Comfortaa"/>
                <a:cs typeface="Comfortaa"/>
                <a:sym typeface="Comfortaa"/>
              </a:rPr>
              <a:t>5% na rosa da direita, raro de ocorrer</a:t>
            </a:r>
            <a:endParaRPr sz="1800">
              <a:latin typeface="Comfortaa"/>
              <a:ea typeface="Comfortaa"/>
              <a:cs typeface="Comfortaa"/>
              <a:sym typeface="Comfortaa"/>
            </a:endParaRPr>
          </a:p>
        </p:txBody>
      </p:sp>
      <p:sp>
        <p:nvSpPr>
          <p:cNvPr id="527" name="Google Shape;527;p67"/>
          <p:cNvSpPr txBox="1"/>
          <p:nvPr/>
        </p:nvSpPr>
        <p:spPr>
          <a:xfrm>
            <a:off x="847275" y="3401175"/>
            <a:ext cx="226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900">
                <a:solidFill>
                  <a:schemeClr val="dk1"/>
                </a:solidFill>
                <a:latin typeface="Comfortaa"/>
                <a:ea typeface="Comfortaa"/>
                <a:cs typeface="Comfortaa"/>
                <a:sym typeface="Comfortaa"/>
              </a:rPr>
              <a:t>2.5% na rosa da esquerda, raro de ocorrer</a:t>
            </a:r>
            <a:endParaRPr sz="1800">
              <a:latin typeface="Comfortaa"/>
              <a:ea typeface="Comfortaa"/>
              <a:cs typeface="Comfortaa"/>
              <a:sym typeface="Comfortaa"/>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6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a:t>Testes A/B Novamente</a:t>
            </a:r>
            <a:endParaRPr/>
          </a:p>
        </p:txBody>
      </p:sp>
      <p:sp>
        <p:nvSpPr>
          <p:cNvPr id="533" name="Google Shape;533;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sz="1000">
                <a:solidFill>
                  <a:srgbClr val="FFFFFF"/>
                </a:solidFill>
              </a:rPr>
              <a:t>‹#›</a:t>
            </a:fld>
            <a:endParaRPr sz="1000">
              <a:solidFill>
                <a:srgbClr val="FFFFFF"/>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69"/>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Testes A/B [1]. Caso das mães que fumam</a:t>
            </a:r>
            <a:endParaRPr/>
          </a:p>
        </p:txBody>
      </p:sp>
      <p:sp>
        <p:nvSpPr>
          <p:cNvPr id="539" name="Google Shape;539;p69"/>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Em uma amostra de recém nascidos e mães :</a:t>
            </a:r>
            <a:endParaRPr/>
          </a:p>
          <a:p>
            <a:pPr indent="-317500" lvl="1" marL="914400" rtl="0" algn="l">
              <a:spcBef>
                <a:spcPts val="0"/>
              </a:spcBef>
              <a:spcAft>
                <a:spcPts val="0"/>
              </a:spcAft>
              <a:buSzPts val="1400"/>
              <a:buChar char="○"/>
            </a:pPr>
            <a:r>
              <a:rPr lang="pt-BR"/>
              <a:t>(A) Peso dos bebês das mães que fumaram na gravidez </a:t>
            </a:r>
            <a:endParaRPr/>
          </a:p>
          <a:p>
            <a:pPr indent="-317500" lvl="1" marL="914400" rtl="0" algn="l">
              <a:spcBef>
                <a:spcPts val="0"/>
              </a:spcBef>
              <a:spcAft>
                <a:spcPts val="0"/>
              </a:spcAft>
              <a:buSzPts val="1400"/>
              <a:buChar char="○"/>
            </a:pPr>
            <a:r>
              <a:rPr lang="pt-BR"/>
              <a:t>(B) Peso dos bebês das mães que </a:t>
            </a:r>
            <a:r>
              <a:rPr b="1" lang="pt-BR"/>
              <a:t>não</a:t>
            </a:r>
            <a:r>
              <a:rPr lang="pt-BR"/>
              <a:t> fumaram na gravidez </a:t>
            </a:r>
            <a:endParaRPr/>
          </a:p>
          <a:p>
            <a:pPr indent="-342900" lvl="0" marL="457200" rtl="0" algn="l">
              <a:spcBef>
                <a:spcPts val="0"/>
              </a:spcBef>
              <a:spcAft>
                <a:spcPts val="0"/>
              </a:spcAft>
              <a:buSzPts val="1800"/>
              <a:buChar char="●"/>
            </a:pPr>
            <a:r>
              <a:rPr lang="pt-BR"/>
              <a:t>Pergunta: Será que diferença de pesos pode ter ocorrida ao acaso?</a:t>
            </a:r>
            <a:endParaRPr/>
          </a:p>
          <a:p>
            <a:pPr indent="0" lvl="0" marL="0" marR="0" rtl="0" algn="l">
              <a:lnSpc>
                <a:spcPct val="100000"/>
              </a:lnSpc>
              <a:spcBef>
                <a:spcPts val="1600"/>
              </a:spcBef>
              <a:spcAft>
                <a:spcPts val="0"/>
              </a:spcAft>
              <a:buNone/>
            </a:pPr>
            <a:r>
              <a:t/>
            </a:r>
            <a:endParaRPr/>
          </a:p>
        </p:txBody>
      </p:sp>
      <p:sp>
        <p:nvSpPr>
          <p:cNvPr id="540" name="Google Shape;540;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70"/>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Hipóteses</a:t>
            </a:r>
            <a:endParaRPr/>
          </a:p>
        </p:txBody>
      </p:sp>
      <p:sp>
        <p:nvSpPr>
          <p:cNvPr id="546" name="Google Shape;546;p70"/>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H0 -- Nula: </a:t>
            </a:r>
            <a:endParaRPr/>
          </a:p>
          <a:p>
            <a:pPr indent="-317500" lvl="1" marL="914400" rtl="0" algn="l">
              <a:spcBef>
                <a:spcPts val="0"/>
              </a:spcBef>
              <a:spcAft>
                <a:spcPts val="0"/>
              </a:spcAft>
              <a:buSzPts val="1400"/>
              <a:buChar char="○"/>
            </a:pPr>
            <a:r>
              <a:rPr lang="pt-BR"/>
              <a:t>O peso dos bebês médio é o mesmo. Podemos explicar a variação de tais pesos devido a chance de que tal variação ocorre em uma seleção aleatória e uniforme de fumantes/não fumantes.</a:t>
            </a:r>
            <a:endParaRPr/>
          </a:p>
          <a:p>
            <a:pPr indent="0" lvl="0" marL="0" rtl="0" algn="l">
              <a:spcBef>
                <a:spcPts val="1600"/>
              </a:spcBef>
              <a:spcAft>
                <a:spcPts val="1600"/>
              </a:spcAft>
              <a:buNone/>
            </a:pPr>
            <a:r>
              <a:t/>
            </a:r>
            <a:endParaRPr/>
          </a:p>
        </p:txBody>
      </p:sp>
      <p:sp>
        <p:nvSpPr>
          <p:cNvPr id="547" name="Google Shape;547;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71"/>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Hipóteses</a:t>
            </a:r>
            <a:endParaRPr/>
          </a:p>
        </p:txBody>
      </p:sp>
      <p:sp>
        <p:nvSpPr>
          <p:cNvPr id="553" name="Google Shape;553;p71"/>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H0 -- Nula: </a:t>
            </a:r>
            <a:endParaRPr/>
          </a:p>
          <a:p>
            <a:pPr indent="-317500" lvl="1" marL="914400" rtl="0" algn="l">
              <a:spcBef>
                <a:spcPts val="0"/>
              </a:spcBef>
              <a:spcAft>
                <a:spcPts val="0"/>
              </a:spcAft>
              <a:buSzPts val="1400"/>
              <a:buChar char="○"/>
            </a:pPr>
            <a:r>
              <a:rPr lang="pt-BR"/>
              <a:t>Peso Médio BBs de Mães Fumantes == Peso Médio </a:t>
            </a:r>
            <a:r>
              <a:rPr lang="pt-BR">
                <a:solidFill>
                  <a:schemeClr val="dk1"/>
                </a:solidFill>
              </a:rPr>
              <a:t>BBs de Mães </a:t>
            </a:r>
            <a:r>
              <a:rPr lang="pt-BR"/>
              <a:t>Não Fumantes</a:t>
            </a:r>
            <a:endParaRPr/>
          </a:p>
          <a:p>
            <a:pPr indent="0" lvl="0" marL="0" rtl="0" algn="l">
              <a:spcBef>
                <a:spcPts val="1600"/>
              </a:spcBef>
              <a:spcAft>
                <a:spcPts val="1600"/>
              </a:spcAft>
              <a:buNone/>
            </a:pPr>
            <a:r>
              <a:t/>
            </a:r>
            <a:endParaRPr/>
          </a:p>
        </p:txBody>
      </p:sp>
      <p:sp>
        <p:nvSpPr>
          <p:cNvPr id="554" name="Google Shape;554;p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72"/>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Estatística de Teste</a:t>
            </a:r>
            <a:endParaRPr/>
          </a:p>
        </p:txBody>
      </p:sp>
      <p:sp>
        <p:nvSpPr>
          <p:cNvPr id="560" name="Google Shape;560;p72"/>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Grupo A: fumantes</a:t>
            </a:r>
            <a:endParaRPr/>
          </a:p>
          <a:p>
            <a:pPr indent="-342900" lvl="0" marL="457200" rtl="0" algn="l">
              <a:spcBef>
                <a:spcPts val="0"/>
              </a:spcBef>
              <a:spcAft>
                <a:spcPts val="0"/>
              </a:spcAft>
              <a:buSzPts val="1800"/>
              <a:buChar char="●"/>
            </a:pPr>
            <a:r>
              <a:rPr lang="pt-BR"/>
              <a:t>Grupo B: não fumantes</a:t>
            </a:r>
            <a:endParaRPr/>
          </a:p>
          <a:p>
            <a:pPr indent="-342900" lvl="0" marL="457200" rtl="0" algn="l">
              <a:spcBef>
                <a:spcPts val="0"/>
              </a:spcBef>
              <a:spcAft>
                <a:spcPts val="0"/>
              </a:spcAft>
              <a:buSzPts val="1800"/>
              <a:buChar char="●"/>
            </a:pPr>
            <a:r>
              <a:rPr lang="pt-BR"/>
              <a:t>Estatística: Diferença entre as médias</a:t>
            </a:r>
            <a:endParaRPr/>
          </a:p>
          <a:p>
            <a:pPr indent="-317500" lvl="1" marL="914400" rtl="0" algn="l">
              <a:spcBef>
                <a:spcPts val="0"/>
              </a:spcBef>
              <a:spcAft>
                <a:spcPts val="0"/>
              </a:spcAft>
              <a:buSzPts val="1400"/>
              <a:buChar char="○"/>
            </a:pPr>
            <a:r>
              <a:rPr lang="pt-BR"/>
              <a:t>Média grupo B - Média grupo A</a:t>
            </a:r>
            <a:endParaRPr/>
          </a:p>
          <a:p>
            <a:pPr indent="-342900" lvl="0" marL="457200" rtl="0" algn="l">
              <a:spcBef>
                <a:spcPts val="0"/>
              </a:spcBef>
              <a:spcAft>
                <a:spcPts val="0"/>
              </a:spcAft>
              <a:buSzPts val="1800"/>
              <a:buChar char="●"/>
            </a:pPr>
            <a:r>
              <a:rPr lang="pt-BR"/>
              <a:t>Valor-P: Probabilidade de encontrar uma estatística mais extrema do que essa na hipótese nula</a:t>
            </a:r>
            <a:endParaRPr/>
          </a:p>
        </p:txBody>
      </p:sp>
      <p:sp>
        <p:nvSpPr>
          <p:cNvPr id="561" name="Google Shape;561;p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pic>
        <p:nvPicPr>
          <p:cNvPr id="566" name="Google Shape;566;p73"/>
          <p:cNvPicPr preferRelativeResize="0"/>
          <p:nvPr/>
        </p:nvPicPr>
        <p:blipFill>
          <a:blip r:embed="rId3">
            <a:alphaModFix/>
          </a:blip>
          <a:stretch>
            <a:fillRect/>
          </a:stretch>
        </p:blipFill>
        <p:spPr>
          <a:xfrm>
            <a:off x="261600" y="1445025"/>
            <a:ext cx="1485926" cy="1273725"/>
          </a:xfrm>
          <a:prstGeom prst="rect">
            <a:avLst/>
          </a:prstGeom>
          <a:noFill/>
          <a:ln>
            <a:noFill/>
          </a:ln>
        </p:spPr>
      </p:pic>
      <p:pic>
        <p:nvPicPr>
          <p:cNvPr id="567" name="Google Shape;567;p73"/>
          <p:cNvPicPr preferRelativeResize="0"/>
          <p:nvPr/>
        </p:nvPicPr>
        <p:blipFill>
          <a:blip r:embed="rId3">
            <a:alphaModFix/>
          </a:blip>
          <a:stretch>
            <a:fillRect/>
          </a:stretch>
        </p:blipFill>
        <p:spPr>
          <a:xfrm>
            <a:off x="1747531" y="1445025"/>
            <a:ext cx="1485926" cy="1273725"/>
          </a:xfrm>
          <a:prstGeom prst="rect">
            <a:avLst/>
          </a:prstGeom>
          <a:noFill/>
          <a:ln>
            <a:noFill/>
          </a:ln>
        </p:spPr>
      </p:pic>
      <p:pic>
        <p:nvPicPr>
          <p:cNvPr id="568" name="Google Shape;568;p73"/>
          <p:cNvPicPr preferRelativeResize="0"/>
          <p:nvPr/>
        </p:nvPicPr>
        <p:blipFill>
          <a:blip r:embed="rId3">
            <a:alphaModFix/>
          </a:blip>
          <a:stretch>
            <a:fillRect/>
          </a:stretch>
        </p:blipFill>
        <p:spPr>
          <a:xfrm>
            <a:off x="7399697" y="1445025"/>
            <a:ext cx="1485926" cy="1273725"/>
          </a:xfrm>
          <a:prstGeom prst="rect">
            <a:avLst/>
          </a:prstGeom>
          <a:noFill/>
          <a:ln>
            <a:noFill/>
          </a:ln>
        </p:spPr>
      </p:pic>
      <p:pic>
        <p:nvPicPr>
          <p:cNvPr id="569" name="Google Shape;569;p73"/>
          <p:cNvPicPr preferRelativeResize="0"/>
          <p:nvPr/>
        </p:nvPicPr>
        <p:blipFill>
          <a:blip r:embed="rId3">
            <a:alphaModFix/>
          </a:blip>
          <a:stretch>
            <a:fillRect/>
          </a:stretch>
        </p:blipFill>
        <p:spPr>
          <a:xfrm>
            <a:off x="3233461" y="1445025"/>
            <a:ext cx="1485926" cy="1273725"/>
          </a:xfrm>
          <a:prstGeom prst="rect">
            <a:avLst/>
          </a:prstGeom>
          <a:noFill/>
          <a:ln>
            <a:noFill/>
          </a:ln>
        </p:spPr>
      </p:pic>
      <p:sp>
        <p:nvSpPr>
          <p:cNvPr id="570" name="Google Shape;570;p73"/>
          <p:cNvSpPr txBox="1"/>
          <p:nvPr/>
        </p:nvSpPr>
        <p:spPr>
          <a:xfrm>
            <a:off x="6368542" y="1636653"/>
            <a:ext cx="733500" cy="53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pt-BR" sz="3600"/>
              <a:t>...</a:t>
            </a:r>
            <a:endParaRPr sz="3600"/>
          </a:p>
        </p:txBody>
      </p:sp>
      <p:sp>
        <p:nvSpPr>
          <p:cNvPr id="571" name="Google Shape;571;p73"/>
          <p:cNvSpPr txBox="1"/>
          <p:nvPr/>
        </p:nvSpPr>
        <p:spPr>
          <a:xfrm>
            <a:off x="83263" y="2806775"/>
            <a:ext cx="18426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Non-smoker</a:t>
            </a:r>
            <a:endParaRPr sz="1800"/>
          </a:p>
        </p:txBody>
      </p:sp>
      <p:sp>
        <p:nvSpPr>
          <p:cNvPr id="572" name="Google Shape;572;p73"/>
          <p:cNvSpPr txBox="1"/>
          <p:nvPr/>
        </p:nvSpPr>
        <p:spPr>
          <a:xfrm>
            <a:off x="1760588" y="2806763"/>
            <a:ext cx="14598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Non-smoker</a:t>
            </a:r>
            <a:endParaRPr sz="1800"/>
          </a:p>
        </p:txBody>
      </p:sp>
      <p:sp>
        <p:nvSpPr>
          <p:cNvPr id="573" name="Google Shape;573;p73"/>
          <p:cNvSpPr txBox="1"/>
          <p:nvPr/>
        </p:nvSpPr>
        <p:spPr>
          <a:xfrm>
            <a:off x="3055113" y="2806775"/>
            <a:ext cx="18426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Smoker</a:t>
            </a:r>
            <a:endParaRPr sz="1800"/>
          </a:p>
        </p:txBody>
      </p:sp>
      <p:sp>
        <p:nvSpPr>
          <p:cNvPr id="574" name="Google Shape;574;p73"/>
          <p:cNvSpPr txBox="1"/>
          <p:nvPr/>
        </p:nvSpPr>
        <p:spPr>
          <a:xfrm>
            <a:off x="7221363" y="2806775"/>
            <a:ext cx="18426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Smoker</a:t>
            </a:r>
            <a:endParaRPr sz="1800"/>
          </a:p>
        </p:txBody>
      </p:sp>
      <p:sp>
        <p:nvSpPr>
          <p:cNvPr id="575" name="Google Shape;575;p73"/>
          <p:cNvSpPr txBox="1"/>
          <p:nvPr/>
        </p:nvSpPr>
        <p:spPr>
          <a:xfrm>
            <a:off x="524938" y="3258350"/>
            <a:ext cx="9591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120 oz</a:t>
            </a:r>
            <a:endParaRPr sz="1800"/>
          </a:p>
        </p:txBody>
      </p:sp>
      <p:sp>
        <p:nvSpPr>
          <p:cNvPr id="576" name="Google Shape;576;p73"/>
          <p:cNvSpPr txBox="1"/>
          <p:nvPr/>
        </p:nvSpPr>
        <p:spPr>
          <a:xfrm>
            <a:off x="2010913" y="3258338"/>
            <a:ext cx="9591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113 oz</a:t>
            </a:r>
            <a:endParaRPr sz="1800"/>
          </a:p>
        </p:txBody>
      </p:sp>
      <p:sp>
        <p:nvSpPr>
          <p:cNvPr id="577" name="Google Shape;577;p73"/>
          <p:cNvSpPr txBox="1"/>
          <p:nvPr/>
        </p:nvSpPr>
        <p:spPr>
          <a:xfrm>
            <a:off x="3496888" y="3258350"/>
            <a:ext cx="9591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128 oz</a:t>
            </a:r>
            <a:endParaRPr sz="1800"/>
          </a:p>
        </p:txBody>
      </p:sp>
      <p:sp>
        <p:nvSpPr>
          <p:cNvPr id="578" name="Google Shape;578;p73"/>
          <p:cNvSpPr txBox="1"/>
          <p:nvPr/>
        </p:nvSpPr>
        <p:spPr>
          <a:xfrm>
            <a:off x="7663113" y="3258350"/>
            <a:ext cx="9591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108 oz</a:t>
            </a:r>
            <a:endParaRPr sz="1800"/>
          </a:p>
        </p:txBody>
      </p:sp>
      <p:pic>
        <p:nvPicPr>
          <p:cNvPr id="579" name="Google Shape;579;p73"/>
          <p:cNvPicPr preferRelativeResize="0"/>
          <p:nvPr/>
        </p:nvPicPr>
        <p:blipFill>
          <a:blip r:embed="rId3">
            <a:alphaModFix/>
          </a:blip>
          <a:stretch>
            <a:fillRect/>
          </a:stretch>
        </p:blipFill>
        <p:spPr>
          <a:xfrm>
            <a:off x="4719379" y="1445025"/>
            <a:ext cx="1485926" cy="1273725"/>
          </a:xfrm>
          <a:prstGeom prst="rect">
            <a:avLst/>
          </a:prstGeom>
          <a:noFill/>
          <a:ln>
            <a:noFill/>
          </a:ln>
        </p:spPr>
      </p:pic>
      <p:sp>
        <p:nvSpPr>
          <p:cNvPr id="580" name="Google Shape;580;p73"/>
          <p:cNvSpPr txBox="1"/>
          <p:nvPr/>
        </p:nvSpPr>
        <p:spPr>
          <a:xfrm>
            <a:off x="4541038" y="2806775"/>
            <a:ext cx="18426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Non-smoker</a:t>
            </a:r>
            <a:endParaRPr sz="1800"/>
          </a:p>
        </p:txBody>
      </p:sp>
      <p:sp>
        <p:nvSpPr>
          <p:cNvPr id="581" name="Google Shape;581;p73"/>
          <p:cNvSpPr txBox="1"/>
          <p:nvPr/>
        </p:nvSpPr>
        <p:spPr>
          <a:xfrm>
            <a:off x="4982713" y="3258350"/>
            <a:ext cx="9591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136 oz</a:t>
            </a:r>
            <a:endParaRPr sz="1800"/>
          </a:p>
        </p:txBody>
      </p:sp>
      <p:sp>
        <p:nvSpPr>
          <p:cNvPr id="582" name="Google Shape;582;p73"/>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Simulação no modelo nulo</a:t>
            </a:r>
            <a:endParaRPr/>
          </a:p>
        </p:txBody>
      </p:sp>
      <p:sp>
        <p:nvSpPr>
          <p:cNvPr id="583" name="Google Shape;583;p73"/>
          <p:cNvSpPr txBox="1"/>
          <p:nvPr/>
        </p:nvSpPr>
        <p:spPr>
          <a:xfrm>
            <a:off x="7189575" y="4421425"/>
            <a:ext cx="1874400" cy="67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rgbClr val="222222"/>
              </a:solidFill>
              <a:highlight>
                <a:srgbClr val="FFFFFF"/>
              </a:highlight>
            </a:endParaRPr>
          </a:p>
          <a:p>
            <a:pPr indent="0" lvl="0" marL="0" rtl="0" algn="l">
              <a:spcBef>
                <a:spcPts val="0"/>
              </a:spcBef>
              <a:spcAft>
                <a:spcPts val="0"/>
              </a:spcAft>
              <a:buNone/>
            </a:pPr>
            <a:r>
              <a:rPr lang="pt-BR" sz="1200">
                <a:solidFill>
                  <a:srgbClr val="222222"/>
                </a:solidFill>
                <a:highlight>
                  <a:srgbClr val="FFFFFF"/>
                </a:highlight>
              </a:rPr>
              <a:t>Gráfico de</a:t>
            </a:r>
            <a:br>
              <a:rPr lang="pt-BR" sz="1200">
                <a:solidFill>
                  <a:srgbClr val="222222"/>
                </a:solidFill>
                <a:highlight>
                  <a:srgbClr val="FFFFFF"/>
                </a:highlight>
              </a:rPr>
            </a:br>
            <a:r>
              <a:rPr lang="pt-BR" sz="1200">
                <a:solidFill>
                  <a:srgbClr val="222222"/>
                </a:solidFill>
                <a:highlight>
                  <a:srgbClr val="FFFFFF"/>
                </a:highlight>
              </a:rPr>
              <a:t>data8.org </a:t>
            </a:r>
            <a:endParaRPr sz="1200"/>
          </a:p>
        </p:txBody>
      </p:sp>
      <p:sp>
        <p:nvSpPr>
          <p:cNvPr id="584" name="Google Shape;584;p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graphicFrame>
        <p:nvGraphicFramePr>
          <p:cNvPr id="585" name="Google Shape;585;p73"/>
          <p:cNvGraphicFramePr/>
          <p:nvPr/>
        </p:nvGraphicFramePr>
        <p:xfrm>
          <a:off x="2328450" y="4000075"/>
          <a:ext cx="3000000" cy="3000000"/>
        </p:xfrm>
        <a:graphic>
          <a:graphicData uri="http://schemas.openxmlformats.org/drawingml/2006/table">
            <a:tbl>
              <a:tblPr>
                <a:noFill/>
                <a:tableStyleId>{E6F389CA-A1F8-429B-937D-27BCD03C1D14}</a:tableStyleId>
              </a:tblPr>
              <a:tblGrid>
                <a:gridCol w="4040100"/>
              </a:tblGrid>
              <a:tr h="12700">
                <a:tc>
                  <a:txBody>
                    <a:bodyPr/>
                    <a:lstStyle/>
                    <a:p>
                      <a:pPr indent="0" lvl="0" marL="0" rtl="0" algn="l">
                        <a:lnSpc>
                          <a:spcPct val="115000"/>
                        </a:lnSpc>
                        <a:spcBef>
                          <a:spcPts val="0"/>
                        </a:spcBef>
                        <a:spcAft>
                          <a:spcPts val="0"/>
                        </a:spcAft>
                        <a:buNone/>
                      </a:pPr>
                      <a:r>
                        <a:rPr lang="pt-BR" sz="1550">
                          <a:solidFill>
                            <a:srgbClr val="383A42"/>
                          </a:solidFill>
                          <a:highlight>
                            <a:srgbClr val="FAFAFA"/>
                          </a:highlight>
                          <a:latin typeface="Consolas"/>
                          <a:ea typeface="Consolas"/>
                          <a:cs typeface="Consolas"/>
                          <a:sym typeface="Consolas"/>
                        </a:rPr>
                        <a:t>grupos = [</a:t>
                      </a:r>
                      <a:r>
                        <a:rPr lang="pt-BR" sz="1550">
                          <a:solidFill>
                            <a:srgbClr val="50A14F"/>
                          </a:solidFill>
                          <a:highlight>
                            <a:srgbClr val="FAFAFA"/>
                          </a:highlight>
                          <a:latin typeface="Consolas"/>
                          <a:ea typeface="Consolas"/>
                          <a:cs typeface="Consolas"/>
                          <a:sym typeface="Consolas"/>
                        </a:rPr>
                        <a:t>'N'</a:t>
                      </a:r>
                      <a:r>
                        <a:rPr lang="pt-BR" sz="1550">
                          <a:solidFill>
                            <a:srgbClr val="383A42"/>
                          </a:solidFill>
                          <a:highlight>
                            <a:srgbClr val="FAFAFA"/>
                          </a:highlight>
                          <a:latin typeface="Consolas"/>
                          <a:ea typeface="Consolas"/>
                          <a:cs typeface="Consolas"/>
                          <a:sym typeface="Consolas"/>
                        </a:rPr>
                        <a:t>,</a:t>
                      </a:r>
                      <a:r>
                        <a:rPr lang="pt-BR" sz="1550">
                          <a:solidFill>
                            <a:srgbClr val="50A14F"/>
                          </a:solidFill>
                          <a:highlight>
                            <a:srgbClr val="FAFAFA"/>
                          </a:highlight>
                          <a:latin typeface="Consolas"/>
                          <a:ea typeface="Consolas"/>
                          <a:cs typeface="Consolas"/>
                          <a:sym typeface="Consolas"/>
                        </a:rPr>
                        <a:t> 'N'</a:t>
                      </a:r>
                      <a:r>
                        <a:rPr lang="pt-BR" sz="1550">
                          <a:solidFill>
                            <a:srgbClr val="383A42"/>
                          </a:solidFill>
                          <a:highlight>
                            <a:srgbClr val="FAFAFA"/>
                          </a:highlight>
                          <a:latin typeface="Consolas"/>
                          <a:ea typeface="Consolas"/>
                          <a:cs typeface="Consolas"/>
                          <a:sym typeface="Consolas"/>
                        </a:rPr>
                        <a:t>,</a:t>
                      </a:r>
                      <a:r>
                        <a:rPr lang="pt-BR" sz="1550">
                          <a:solidFill>
                            <a:srgbClr val="50A14F"/>
                          </a:solidFill>
                          <a:highlight>
                            <a:srgbClr val="FAFAFA"/>
                          </a:highlight>
                          <a:latin typeface="Consolas"/>
                          <a:ea typeface="Consolas"/>
                          <a:cs typeface="Consolas"/>
                          <a:sym typeface="Consolas"/>
                        </a:rPr>
                        <a:t> 'S'</a:t>
                      </a:r>
                      <a:r>
                        <a:rPr lang="pt-BR" sz="1550">
                          <a:solidFill>
                            <a:srgbClr val="383A42"/>
                          </a:solidFill>
                          <a:highlight>
                            <a:srgbClr val="FAFAFA"/>
                          </a:highlight>
                          <a:latin typeface="Consolas"/>
                          <a:ea typeface="Consolas"/>
                          <a:cs typeface="Consolas"/>
                          <a:sym typeface="Consolas"/>
                        </a:rPr>
                        <a:t>,</a:t>
                      </a:r>
                      <a:r>
                        <a:rPr lang="pt-BR" sz="1550">
                          <a:solidFill>
                            <a:srgbClr val="50A14F"/>
                          </a:solidFill>
                          <a:highlight>
                            <a:srgbClr val="FAFAFA"/>
                          </a:highlight>
                          <a:latin typeface="Consolas"/>
                          <a:ea typeface="Consolas"/>
                          <a:cs typeface="Consolas"/>
                          <a:sym typeface="Consolas"/>
                        </a:rPr>
                        <a:t> 'N' </a:t>
                      </a:r>
                      <a:r>
                        <a:rPr lang="pt-BR" sz="1550">
                          <a:solidFill>
                            <a:srgbClr val="222222"/>
                          </a:solidFill>
                          <a:highlight>
                            <a:srgbClr val="FAFAFA"/>
                          </a:highlight>
                          <a:latin typeface="Consolas"/>
                          <a:ea typeface="Consolas"/>
                          <a:cs typeface="Consolas"/>
                          <a:sym typeface="Consolas"/>
                        </a:rPr>
                        <a:t>…</a:t>
                      </a:r>
                      <a:r>
                        <a:rPr lang="pt-BR" sz="1550">
                          <a:solidFill>
                            <a:srgbClr val="50A14F"/>
                          </a:solidFill>
                          <a:highlight>
                            <a:srgbClr val="FAFAFA"/>
                          </a:highlight>
                          <a:latin typeface="Consolas"/>
                          <a:ea typeface="Consolas"/>
                          <a:cs typeface="Consolas"/>
                          <a:sym typeface="Consolas"/>
                        </a:rPr>
                        <a:t> 'S'</a:t>
                      </a:r>
                      <a:r>
                        <a:rPr lang="pt-BR" sz="1550">
                          <a:solidFill>
                            <a:srgbClr val="383A42"/>
                          </a:solidFill>
                          <a:highlight>
                            <a:srgbClr val="FAFAFA"/>
                          </a:highlight>
                          <a:latin typeface="Consolas"/>
                          <a:ea typeface="Consolas"/>
                          <a:cs typeface="Consolas"/>
                          <a:sym typeface="Consolas"/>
                        </a:rPr>
                        <a:t>]</a:t>
                      </a:r>
                      <a:br>
                        <a:rPr lang="pt-BR" sz="1550">
                          <a:solidFill>
                            <a:srgbClr val="383A42"/>
                          </a:solidFill>
                          <a:highlight>
                            <a:srgbClr val="FAFAFA"/>
                          </a:highlight>
                          <a:latin typeface="Consolas"/>
                          <a:ea typeface="Consolas"/>
                          <a:cs typeface="Consolas"/>
                          <a:sym typeface="Consolas"/>
                        </a:rPr>
                      </a:br>
                      <a:r>
                        <a:rPr lang="pt-BR" sz="1550">
                          <a:solidFill>
                            <a:srgbClr val="383A42"/>
                          </a:solidFill>
                          <a:highlight>
                            <a:srgbClr val="FAFAFA"/>
                          </a:highlight>
                          <a:latin typeface="Consolas"/>
                          <a:ea typeface="Consolas"/>
                          <a:cs typeface="Consolas"/>
                          <a:sym typeface="Consolas"/>
                        </a:rPr>
                        <a:t>data = [</a:t>
                      </a:r>
                      <a:r>
                        <a:rPr lang="pt-BR" sz="1550">
                          <a:solidFill>
                            <a:srgbClr val="986801"/>
                          </a:solidFill>
                          <a:highlight>
                            <a:srgbClr val="FAFAFA"/>
                          </a:highlight>
                          <a:latin typeface="Consolas"/>
                          <a:ea typeface="Consolas"/>
                          <a:cs typeface="Consolas"/>
                          <a:sym typeface="Consolas"/>
                        </a:rPr>
                        <a:t>120</a:t>
                      </a:r>
                      <a:r>
                        <a:rPr lang="pt-BR" sz="1550">
                          <a:solidFill>
                            <a:srgbClr val="383A42"/>
                          </a:solidFill>
                          <a:highlight>
                            <a:srgbClr val="FAFAFA"/>
                          </a:highlight>
                          <a:latin typeface="Consolas"/>
                          <a:ea typeface="Consolas"/>
                          <a:cs typeface="Consolas"/>
                          <a:sym typeface="Consolas"/>
                        </a:rPr>
                        <a:t>, </a:t>
                      </a:r>
                      <a:r>
                        <a:rPr lang="pt-BR" sz="1550">
                          <a:solidFill>
                            <a:srgbClr val="986801"/>
                          </a:solidFill>
                          <a:highlight>
                            <a:srgbClr val="FAFAFA"/>
                          </a:highlight>
                          <a:latin typeface="Consolas"/>
                          <a:ea typeface="Consolas"/>
                          <a:cs typeface="Consolas"/>
                          <a:sym typeface="Consolas"/>
                        </a:rPr>
                        <a:t>113</a:t>
                      </a:r>
                      <a:r>
                        <a:rPr lang="pt-BR" sz="1550">
                          <a:solidFill>
                            <a:srgbClr val="383A42"/>
                          </a:solidFill>
                          <a:highlight>
                            <a:srgbClr val="FAFAFA"/>
                          </a:highlight>
                          <a:latin typeface="Consolas"/>
                          <a:ea typeface="Consolas"/>
                          <a:cs typeface="Consolas"/>
                          <a:sym typeface="Consolas"/>
                        </a:rPr>
                        <a:t>, </a:t>
                      </a:r>
                      <a:r>
                        <a:rPr lang="pt-BR" sz="1550">
                          <a:solidFill>
                            <a:srgbClr val="986801"/>
                          </a:solidFill>
                          <a:highlight>
                            <a:srgbClr val="FAFAFA"/>
                          </a:highlight>
                          <a:latin typeface="Consolas"/>
                          <a:ea typeface="Consolas"/>
                          <a:cs typeface="Consolas"/>
                          <a:sym typeface="Consolas"/>
                        </a:rPr>
                        <a:t>128</a:t>
                      </a:r>
                      <a:r>
                        <a:rPr lang="pt-BR" sz="1550">
                          <a:solidFill>
                            <a:srgbClr val="383A42"/>
                          </a:solidFill>
                          <a:highlight>
                            <a:srgbClr val="FAFAFA"/>
                          </a:highlight>
                          <a:latin typeface="Consolas"/>
                          <a:ea typeface="Consolas"/>
                          <a:cs typeface="Consolas"/>
                          <a:sym typeface="Consolas"/>
                        </a:rPr>
                        <a:t>, </a:t>
                      </a:r>
                      <a:r>
                        <a:rPr lang="pt-BR" sz="1550">
                          <a:solidFill>
                            <a:srgbClr val="986801"/>
                          </a:solidFill>
                          <a:highlight>
                            <a:srgbClr val="FAFAFA"/>
                          </a:highlight>
                          <a:latin typeface="Consolas"/>
                          <a:ea typeface="Consolas"/>
                          <a:cs typeface="Consolas"/>
                          <a:sym typeface="Consolas"/>
                        </a:rPr>
                        <a:t>136</a:t>
                      </a:r>
                      <a:r>
                        <a:rPr lang="pt-BR" sz="1550">
                          <a:solidFill>
                            <a:srgbClr val="383A42"/>
                          </a:solidFill>
                          <a:highlight>
                            <a:srgbClr val="FAFAFA"/>
                          </a:highlight>
                          <a:latin typeface="Consolas"/>
                          <a:ea typeface="Consolas"/>
                          <a:cs typeface="Consolas"/>
                          <a:sym typeface="Consolas"/>
                        </a:rPr>
                        <a:t>, …, </a:t>
                      </a:r>
                      <a:r>
                        <a:rPr lang="pt-BR" sz="1550">
                          <a:solidFill>
                            <a:srgbClr val="986801"/>
                          </a:solidFill>
                          <a:highlight>
                            <a:srgbClr val="FAFAFA"/>
                          </a:highlight>
                          <a:latin typeface="Consolas"/>
                          <a:ea typeface="Consolas"/>
                          <a:cs typeface="Consolas"/>
                          <a:sym typeface="Consolas"/>
                        </a:rPr>
                        <a:t>108</a:t>
                      </a:r>
                      <a:r>
                        <a:rPr lang="pt-BR" sz="1550">
                          <a:solidFill>
                            <a:srgbClr val="383A42"/>
                          </a:solidFill>
                          <a:highlight>
                            <a:srgbClr val="FAFAFA"/>
                          </a:highlight>
                          <a:latin typeface="Consolas"/>
                          <a:ea typeface="Consolas"/>
                          <a:cs typeface="Consolas"/>
                          <a:sym typeface="Consolas"/>
                        </a:rPr>
                        <a:t>]</a:t>
                      </a:r>
                      <a:br>
                        <a:rPr lang="pt-BR" sz="1550">
                          <a:solidFill>
                            <a:srgbClr val="383A42"/>
                          </a:solidFill>
                          <a:highlight>
                            <a:srgbClr val="FAFAFA"/>
                          </a:highlight>
                          <a:latin typeface="Consolas"/>
                          <a:ea typeface="Consolas"/>
                          <a:cs typeface="Consolas"/>
                          <a:sym typeface="Consolas"/>
                        </a:rPr>
                      </a:br>
                      <a:r>
                        <a:rPr lang="pt-BR" sz="1550">
                          <a:solidFill>
                            <a:srgbClr val="383A42"/>
                          </a:solidFill>
                          <a:highlight>
                            <a:srgbClr val="FAFAFA"/>
                          </a:highlight>
                          <a:latin typeface="Consolas"/>
                          <a:ea typeface="Consolas"/>
                          <a:cs typeface="Consolas"/>
                          <a:sym typeface="Consolas"/>
                        </a:rPr>
                        <a:t>np.random.shuffle(</a:t>
                      </a:r>
                      <a:r>
                        <a:rPr lang="pt-BR" sz="1550">
                          <a:solidFill>
                            <a:srgbClr val="383A42"/>
                          </a:solidFill>
                          <a:highlight>
                            <a:srgbClr val="FAFAFA"/>
                          </a:highlight>
                          <a:latin typeface="Consolas"/>
                          <a:ea typeface="Consolas"/>
                          <a:cs typeface="Consolas"/>
                          <a:sym typeface="Consolas"/>
                        </a:rPr>
                        <a:t>grupos</a:t>
                      </a:r>
                      <a:r>
                        <a:rPr lang="pt-BR" sz="1550">
                          <a:solidFill>
                            <a:srgbClr val="383A42"/>
                          </a:solidFill>
                          <a:highlight>
                            <a:srgbClr val="FAFAFA"/>
                          </a:highlight>
                          <a:latin typeface="Consolas"/>
                          <a:ea typeface="Consolas"/>
                          <a:cs typeface="Consolas"/>
                          <a:sym typeface="Consolas"/>
                        </a:rPr>
                        <a:t>)</a:t>
                      </a:r>
                      <a:endParaRPr sz="1550">
                        <a:latin typeface="Courier New"/>
                        <a:ea typeface="Courier New"/>
                        <a:cs typeface="Courier New"/>
                        <a:sym typeface="Courier New"/>
                      </a:endParaRPr>
                    </a:p>
                  </a:txBody>
                  <a:tcPr marT="63500" marB="63500" marR="63500" marL="63500">
                    <a:solidFill>
                      <a:srgbClr val="FAFAFA"/>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1000"/>
                                        <p:tgtEl>
                                          <p:spTgt spid="571"/>
                                        </p:tgtEl>
                                        <p:attrNameLst>
                                          <p:attrName>ppt_x</p:attrName>
                                        </p:attrNameLst>
                                      </p:cBhvr>
                                      <p:tavLst>
                                        <p:tav fmla="" tm="0">
                                          <p:val>
                                            <p:strVal val="#ppt_x"/>
                                          </p:val>
                                        </p:tav>
                                        <p:tav fmla="" tm="100000">
                                          <p:val>
                                            <p:strVal val="#ppt_x+1"/>
                                          </p:val>
                                        </p:tav>
                                      </p:tavLst>
                                    </p:anim>
                                    <p:set>
                                      <p:cBhvr>
                                        <p:cTn dur="1" fill="hold">
                                          <p:stCondLst>
                                            <p:cond delay="1000"/>
                                          </p:stCondLst>
                                        </p:cTn>
                                        <p:tgtEl>
                                          <p:spTgt spid="571"/>
                                        </p:tgtEl>
                                        <p:attrNameLst>
                                          <p:attrName>style.visibility</p:attrName>
                                        </p:attrNameLst>
                                      </p:cBhvr>
                                      <p:to>
                                        <p:strVal val="hidden"/>
                                      </p:to>
                                    </p:set>
                                  </p:childTnLst>
                                </p:cTn>
                              </p:par>
                              <p:par>
                                <p:cTn fill="hold" nodeType="withEffect" presetClass="exit" presetID="2" presetSubtype="2">
                                  <p:stCondLst>
                                    <p:cond delay="0"/>
                                  </p:stCondLst>
                                  <p:childTnLst>
                                    <p:anim calcmode="lin" valueType="num">
                                      <p:cBhvr additive="base">
                                        <p:cTn dur="1000"/>
                                        <p:tgtEl>
                                          <p:spTgt spid="572"/>
                                        </p:tgtEl>
                                        <p:attrNameLst>
                                          <p:attrName>ppt_x</p:attrName>
                                        </p:attrNameLst>
                                      </p:cBhvr>
                                      <p:tavLst>
                                        <p:tav fmla="" tm="0">
                                          <p:val>
                                            <p:strVal val="#ppt_x"/>
                                          </p:val>
                                        </p:tav>
                                        <p:tav fmla="" tm="100000">
                                          <p:val>
                                            <p:strVal val="#ppt_x+1"/>
                                          </p:val>
                                        </p:tav>
                                      </p:tavLst>
                                    </p:anim>
                                    <p:set>
                                      <p:cBhvr>
                                        <p:cTn dur="1" fill="hold">
                                          <p:stCondLst>
                                            <p:cond delay="1000"/>
                                          </p:stCondLst>
                                        </p:cTn>
                                        <p:tgtEl>
                                          <p:spTgt spid="572"/>
                                        </p:tgtEl>
                                        <p:attrNameLst>
                                          <p:attrName>style.visibility</p:attrName>
                                        </p:attrNameLst>
                                      </p:cBhvr>
                                      <p:to>
                                        <p:strVal val="hidden"/>
                                      </p:to>
                                    </p:set>
                                  </p:childTnLst>
                                </p:cTn>
                              </p:par>
                              <p:par>
                                <p:cTn fill="hold" nodeType="withEffect" presetClass="exit" presetID="2" presetSubtype="8">
                                  <p:stCondLst>
                                    <p:cond delay="0"/>
                                  </p:stCondLst>
                                  <p:childTnLst>
                                    <p:anim calcmode="lin" valueType="num">
                                      <p:cBhvr additive="base">
                                        <p:cTn dur="1000"/>
                                        <p:tgtEl>
                                          <p:spTgt spid="573"/>
                                        </p:tgtEl>
                                        <p:attrNameLst>
                                          <p:attrName>ppt_x</p:attrName>
                                        </p:attrNameLst>
                                      </p:cBhvr>
                                      <p:tavLst>
                                        <p:tav fmla="" tm="0">
                                          <p:val>
                                            <p:strVal val="#ppt_x"/>
                                          </p:val>
                                        </p:tav>
                                        <p:tav fmla="" tm="100000">
                                          <p:val>
                                            <p:strVal val="#ppt_x-1"/>
                                          </p:val>
                                        </p:tav>
                                      </p:tavLst>
                                    </p:anim>
                                    <p:set>
                                      <p:cBhvr>
                                        <p:cTn dur="1" fill="hold">
                                          <p:stCondLst>
                                            <p:cond delay="1000"/>
                                          </p:stCondLst>
                                        </p:cTn>
                                        <p:tgtEl>
                                          <p:spTgt spid="573"/>
                                        </p:tgtEl>
                                        <p:attrNameLst>
                                          <p:attrName>style.visibility</p:attrName>
                                        </p:attrNameLst>
                                      </p:cBhvr>
                                      <p:to>
                                        <p:strVal val="hidden"/>
                                      </p:to>
                                    </p:set>
                                  </p:childTnLst>
                                </p:cTn>
                              </p:par>
                              <p:par>
                                <p:cTn fill="hold" nodeType="withEffect" presetClass="exit" presetID="2" presetSubtype="8">
                                  <p:stCondLst>
                                    <p:cond delay="0"/>
                                  </p:stCondLst>
                                  <p:childTnLst>
                                    <p:anim calcmode="lin" valueType="num">
                                      <p:cBhvr additive="base">
                                        <p:cTn dur="1000"/>
                                        <p:tgtEl>
                                          <p:spTgt spid="574"/>
                                        </p:tgtEl>
                                        <p:attrNameLst>
                                          <p:attrName>ppt_x</p:attrName>
                                        </p:attrNameLst>
                                      </p:cBhvr>
                                      <p:tavLst>
                                        <p:tav fmla="" tm="0">
                                          <p:val>
                                            <p:strVal val="#ppt_x"/>
                                          </p:val>
                                        </p:tav>
                                        <p:tav fmla="" tm="100000">
                                          <p:val>
                                            <p:strVal val="#ppt_x-1"/>
                                          </p:val>
                                        </p:tav>
                                      </p:tavLst>
                                    </p:anim>
                                    <p:set>
                                      <p:cBhvr>
                                        <p:cTn dur="1" fill="hold">
                                          <p:stCondLst>
                                            <p:cond delay="1000"/>
                                          </p:stCondLst>
                                        </p:cTn>
                                        <p:tgtEl>
                                          <p:spTgt spid="574"/>
                                        </p:tgtEl>
                                        <p:attrNameLst>
                                          <p:attrName>style.visibility</p:attrName>
                                        </p:attrNameLst>
                                      </p:cBhvr>
                                      <p:to>
                                        <p:strVal val="hidden"/>
                                      </p:to>
                                    </p:set>
                                  </p:childTnLst>
                                </p:cTn>
                              </p:par>
                              <p:par>
                                <p:cTn fill="hold" nodeType="withEffect" presetClass="exit" presetID="2" presetSubtype="2">
                                  <p:stCondLst>
                                    <p:cond delay="0"/>
                                  </p:stCondLst>
                                  <p:childTnLst>
                                    <p:anim calcmode="lin" valueType="num">
                                      <p:cBhvr additive="base">
                                        <p:cTn dur="1000"/>
                                        <p:tgtEl>
                                          <p:spTgt spid="580"/>
                                        </p:tgtEl>
                                        <p:attrNameLst>
                                          <p:attrName>ppt_x</p:attrName>
                                        </p:attrNameLst>
                                      </p:cBhvr>
                                      <p:tavLst>
                                        <p:tav fmla="" tm="0">
                                          <p:val>
                                            <p:strVal val="#ppt_x"/>
                                          </p:val>
                                        </p:tav>
                                        <p:tav fmla="" tm="100000">
                                          <p:val>
                                            <p:strVal val="#ppt_x+1"/>
                                          </p:val>
                                        </p:tav>
                                      </p:tavLst>
                                    </p:anim>
                                    <p:set>
                                      <p:cBhvr>
                                        <p:cTn dur="1" fill="hold">
                                          <p:stCondLst>
                                            <p:cond delay="1000"/>
                                          </p:stCondLst>
                                        </p:cTn>
                                        <p:tgtEl>
                                          <p:spTgt spid="58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pic>
        <p:nvPicPr>
          <p:cNvPr id="590" name="Google Shape;590;p74"/>
          <p:cNvPicPr preferRelativeResize="0"/>
          <p:nvPr/>
        </p:nvPicPr>
        <p:blipFill>
          <a:blip r:embed="rId3">
            <a:alphaModFix/>
          </a:blip>
          <a:stretch>
            <a:fillRect/>
          </a:stretch>
        </p:blipFill>
        <p:spPr>
          <a:xfrm>
            <a:off x="261600" y="1445025"/>
            <a:ext cx="1485926" cy="1273725"/>
          </a:xfrm>
          <a:prstGeom prst="rect">
            <a:avLst/>
          </a:prstGeom>
          <a:noFill/>
          <a:ln>
            <a:noFill/>
          </a:ln>
        </p:spPr>
      </p:pic>
      <p:pic>
        <p:nvPicPr>
          <p:cNvPr id="591" name="Google Shape;591;p74"/>
          <p:cNvPicPr preferRelativeResize="0"/>
          <p:nvPr/>
        </p:nvPicPr>
        <p:blipFill>
          <a:blip r:embed="rId3">
            <a:alphaModFix/>
          </a:blip>
          <a:stretch>
            <a:fillRect/>
          </a:stretch>
        </p:blipFill>
        <p:spPr>
          <a:xfrm>
            <a:off x="1747531" y="1445025"/>
            <a:ext cx="1485926" cy="1273725"/>
          </a:xfrm>
          <a:prstGeom prst="rect">
            <a:avLst/>
          </a:prstGeom>
          <a:noFill/>
          <a:ln>
            <a:noFill/>
          </a:ln>
        </p:spPr>
      </p:pic>
      <p:pic>
        <p:nvPicPr>
          <p:cNvPr id="592" name="Google Shape;592;p74"/>
          <p:cNvPicPr preferRelativeResize="0"/>
          <p:nvPr/>
        </p:nvPicPr>
        <p:blipFill>
          <a:blip r:embed="rId3">
            <a:alphaModFix/>
          </a:blip>
          <a:stretch>
            <a:fillRect/>
          </a:stretch>
        </p:blipFill>
        <p:spPr>
          <a:xfrm>
            <a:off x="7399697" y="1445025"/>
            <a:ext cx="1485926" cy="1273725"/>
          </a:xfrm>
          <a:prstGeom prst="rect">
            <a:avLst/>
          </a:prstGeom>
          <a:noFill/>
          <a:ln>
            <a:noFill/>
          </a:ln>
        </p:spPr>
      </p:pic>
      <p:pic>
        <p:nvPicPr>
          <p:cNvPr id="593" name="Google Shape;593;p74"/>
          <p:cNvPicPr preferRelativeResize="0"/>
          <p:nvPr/>
        </p:nvPicPr>
        <p:blipFill>
          <a:blip r:embed="rId3">
            <a:alphaModFix/>
          </a:blip>
          <a:stretch>
            <a:fillRect/>
          </a:stretch>
        </p:blipFill>
        <p:spPr>
          <a:xfrm>
            <a:off x="3233461" y="1445025"/>
            <a:ext cx="1485926" cy="1273725"/>
          </a:xfrm>
          <a:prstGeom prst="rect">
            <a:avLst/>
          </a:prstGeom>
          <a:noFill/>
          <a:ln>
            <a:noFill/>
          </a:ln>
        </p:spPr>
      </p:pic>
      <p:sp>
        <p:nvSpPr>
          <p:cNvPr id="594" name="Google Shape;594;p74"/>
          <p:cNvSpPr txBox="1"/>
          <p:nvPr/>
        </p:nvSpPr>
        <p:spPr>
          <a:xfrm>
            <a:off x="6368542" y="1636653"/>
            <a:ext cx="733500" cy="53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pt-BR" sz="3600"/>
              <a:t>...</a:t>
            </a:r>
            <a:endParaRPr sz="3600"/>
          </a:p>
        </p:txBody>
      </p:sp>
      <p:sp>
        <p:nvSpPr>
          <p:cNvPr id="595" name="Google Shape;595;p74"/>
          <p:cNvSpPr txBox="1"/>
          <p:nvPr/>
        </p:nvSpPr>
        <p:spPr>
          <a:xfrm>
            <a:off x="1569163" y="2806775"/>
            <a:ext cx="18426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Non-smoker</a:t>
            </a:r>
            <a:endParaRPr sz="1800"/>
          </a:p>
        </p:txBody>
      </p:sp>
      <p:sp>
        <p:nvSpPr>
          <p:cNvPr id="596" name="Google Shape;596;p74"/>
          <p:cNvSpPr txBox="1"/>
          <p:nvPr/>
        </p:nvSpPr>
        <p:spPr>
          <a:xfrm>
            <a:off x="3246538" y="2806763"/>
            <a:ext cx="14598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Non-smoker</a:t>
            </a:r>
            <a:endParaRPr sz="1800"/>
          </a:p>
        </p:txBody>
      </p:sp>
      <p:sp>
        <p:nvSpPr>
          <p:cNvPr id="597" name="Google Shape;597;p74"/>
          <p:cNvSpPr txBox="1"/>
          <p:nvPr/>
        </p:nvSpPr>
        <p:spPr>
          <a:xfrm>
            <a:off x="83250" y="2806775"/>
            <a:ext cx="18426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Smoker</a:t>
            </a:r>
            <a:endParaRPr sz="1800"/>
          </a:p>
        </p:txBody>
      </p:sp>
      <p:sp>
        <p:nvSpPr>
          <p:cNvPr id="598" name="Google Shape;598;p74"/>
          <p:cNvSpPr txBox="1"/>
          <p:nvPr/>
        </p:nvSpPr>
        <p:spPr>
          <a:xfrm>
            <a:off x="4540963" y="2806775"/>
            <a:ext cx="18426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Smoker</a:t>
            </a:r>
            <a:endParaRPr sz="1800"/>
          </a:p>
        </p:txBody>
      </p:sp>
      <p:sp>
        <p:nvSpPr>
          <p:cNvPr id="599" name="Google Shape;599;p74"/>
          <p:cNvSpPr txBox="1"/>
          <p:nvPr/>
        </p:nvSpPr>
        <p:spPr>
          <a:xfrm>
            <a:off x="524938" y="3258350"/>
            <a:ext cx="9591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120 oz</a:t>
            </a:r>
            <a:endParaRPr sz="1800"/>
          </a:p>
        </p:txBody>
      </p:sp>
      <p:sp>
        <p:nvSpPr>
          <p:cNvPr id="600" name="Google Shape;600;p74"/>
          <p:cNvSpPr txBox="1"/>
          <p:nvPr/>
        </p:nvSpPr>
        <p:spPr>
          <a:xfrm>
            <a:off x="2010913" y="3258338"/>
            <a:ext cx="9591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113 oz</a:t>
            </a:r>
            <a:endParaRPr sz="1800"/>
          </a:p>
        </p:txBody>
      </p:sp>
      <p:sp>
        <p:nvSpPr>
          <p:cNvPr id="601" name="Google Shape;601;p74"/>
          <p:cNvSpPr txBox="1"/>
          <p:nvPr/>
        </p:nvSpPr>
        <p:spPr>
          <a:xfrm>
            <a:off x="3496888" y="3258350"/>
            <a:ext cx="9591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128 oz</a:t>
            </a:r>
            <a:endParaRPr sz="1800"/>
          </a:p>
        </p:txBody>
      </p:sp>
      <p:sp>
        <p:nvSpPr>
          <p:cNvPr id="602" name="Google Shape;602;p74"/>
          <p:cNvSpPr txBox="1"/>
          <p:nvPr/>
        </p:nvSpPr>
        <p:spPr>
          <a:xfrm>
            <a:off x="7663113" y="3258350"/>
            <a:ext cx="9591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108 oz</a:t>
            </a:r>
            <a:endParaRPr sz="1800"/>
          </a:p>
        </p:txBody>
      </p:sp>
      <p:pic>
        <p:nvPicPr>
          <p:cNvPr id="603" name="Google Shape;603;p74"/>
          <p:cNvPicPr preferRelativeResize="0"/>
          <p:nvPr/>
        </p:nvPicPr>
        <p:blipFill>
          <a:blip r:embed="rId3">
            <a:alphaModFix/>
          </a:blip>
          <a:stretch>
            <a:fillRect/>
          </a:stretch>
        </p:blipFill>
        <p:spPr>
          <a:xfrm>
            <a:off x="4719379" y="1445025"/>
            <a:ext cx="1485926" cy="1273725"/>
          </a:xfrm>
          <a:prstGeom prst="rect">
            <a:avLst/>
          </a:prstGeom>
          <a:noFill/>
          <a:ln>
            <a:noFill/>
          </a:ln>
        </p:spPr>
      </p:pic>
      <p:sp>
        <p:nvSpPr>
          <p:cNvPr id="604" name="Google Shape;604;p74"/>
          <p:cNvSpPr txBox="1"/>
          <p:nvPr/>
        </p:nvSpPr>
        <p:spPr>
          <a:xfrm>
            <a:off x="7221350" y="2806775"/>
            <a:ext cx="18426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Non-smoker</a:t>
            </a:r>
            <a:endParaRPr sz="1800"/>
          </a:p>
        </p:txBody>
      </p:sp>
      <p:sp>
        <p:nvSpPr>
          <p:cNvPr id="605" name="Google Shape;605;p74"/>
          <p:cNvSpPr txBox="1"/>
          <p:nvPr/>
        </p:nvSpPr>
        <p:spPr>
          <a:xfrm>
            <a:off x="4982713" y="3258350"/>
            <a:ext cx="9591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136 oz</a:t>
            </a:r>
            <a:endParaRPr sz="1800"/>
          </a:p>
        </p:txBody>
      </p:sp>
      <p:sp>
        <p:nvSpPr>
          <p:cNvPr id="606" name="Google Shape;606;p74"/>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Simulação no modelo nulo</a:t>
            </a:r>
            <a:endParaRPr/>
          </a:p>
        </p:txBody>
      </p:sp>
      <p:sp>
        <p:nvSpPr>
          <p:cNvPr id="607" name="Google Shape;607;p74"/>
          <p:cNvSpPr txBox="1"/>
          <p:nvPr/>
        </p:nvSpPr>
        <p:spPr>
          <a:xfrm>
            <a:off x="7189575" y="4421425"/>
            <a:ext cx="1874400" cy="67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rgbClr val="222222"/>
              </a:solidFill>
              <a:highlight>
                <a:srgbClr val="FFFFFF"/>
              </a:highlight>
            </a:endParaRPr>
          </a:p>
          <a:p>
            <a:pPr indent="0" lvl="0" marL="0" rtl="0" algn="l">
              <a:spcBef>
                <a:spcPts val="0"/>
              </a:spcBef>
              <a:spcAft>
                <a:spcPts val="0"/>
              </a:spcAft>
              <a:buNone/>
            </a:pPr>
            <a:r>
              <a:rPr lang="pt-BR" sz="1200">
                <a:solidFill>
                  <a:srgbClr val="222222"/>
                </a:solidFill>
                <a:highlight>
                  <a:srgbClr val="FFFFFF"/>
                </a:highlight>
              </a:rPr>
              <a:t>Gráfico de</a:t>
            </a:r>
            <a:br>
              <a:rPr lang="pt-BR" sz="1200">
                <a:solidFill>
                  <a:srgbClr val="222222"/>
                </a:solidFill>
                <a:highlight>
                  <a:srgbClr val="FFFFFF"/>
                </a:highlight>
              </a:rPr>
            </a:br>
            <a:r>
              <a:rPr lang="pt-BR" sz="1200">
                <a:solidFill>
                  <a:srgbClr val="222222"/>
                </a:solidFill>
                <a:highlight>
                  <a:srgbClr val="FFFFFF"/>
                </a:highlight>
              </a:rPr>
              <a:t>data8.org </a:t>
            </a:r>
            <a:endParaRPr sz="1200"/>
          </a:p>
        </p:txBody>
      </p:sp>
      <p:sp>
        <p:nvSpPr>
          <p:cNvPr id="608" name="Google Shape;608;p7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graphicFrame>
        <p:nvGraphicFramePr>
          <p:cNvPr id="609" name="Google Shape;609;p74"/>
          <p:cNvGraphicFramePr/>
          <p:nvPr/>
        </p:nvGraphicFramePr>
        <p:xfrm>
          <a:off x="2328450" y="4000075"/>
          <a:ext cx="3000000" cy="3000000"/>
        </p:xfrm>
        <a:graphic>
          <a:graphicData uri="http://schemas.openxmlformats.org/drawingml/2006/table">
            <a:tbl>
              <a:tblPr>
                <a:noFill/>
                <a:tableStyleId>{E6F389CA-A1F8-429B-937D-27BCD03C1D14}</a:tableStyleId>
              </a:tblPr>
              <a:tblGrid>
                <a:gridCol w="4040100"/>
              </a:tblGrid>
              <a:tr h="12700">
                <a:tc>
                  <a:txBody>
                    <a:bodyPr/>
                    <a:lstStyle/>
                    <a:p>
                      <a:pPr indent="0" lvl="0" marL="0" rtl="0" algn="l">
                        <a:lnSpc>
                          <a:spcPct val="115000"/>
                        </a:lnSpc>
                        <a:spcBef>
                          <a:spcPts val="0"/>
                        </a:spcBef>
                        <a:spcAft>
                          <a:spcPts val="0"/>
                        </a:spcAft>
                        <a:buNone/>
                      </a:pPr>
                      <a:r>
                        <a:rPr lang="pt-BR" sz="1550">
                          <a:solidFill>
                            <a:srgbClr val="383A42"/>
                          </a:solidFill>
                          <a:highlight>
                            <a:srgbClr val="FAFAFA"/>
                          </a:highlight>
                          <a:latin typeface="Consolas"/>
                          <a:ea typeface="Consolas"/>
                          <a:cs typeface="Consolas"/>
                          <a:sym typeface="Consolas"/>
                        </a:rPr>
                        <a:t>grupos = [</a:t>
                      </a:r>
                      <a:r>
                        <a:rPr lang="pt-BR" sz="1550">
                          <a:solidFill>
                            <a:srgbClr val="50A14F"/>
                          </a:solidFill>
                          <a:highlight>
                            <a:srgbClr val="FAFAFA"/>
                          </a:highlight>
                          <a:latin typeface="Consolas"/>
                          <a:ea typeface="Consolas"/>
                          <a:cs typeface="Consolas"/>
                          <a:sym typeface="Consolas"/>
                        </a:rPr>
                        <a:t>'N'</a:t>
                      </a:r>
                      <a:r>
                        <a:rPr lang="pt-BR" sz="1550">
                          <a:solidFill>
                            <a:srgbClr val="383A42"/>
                          </a:solidFill>
                          <a:highlight>
                            <a:srgbClr val="FAFAFA"/>
                          </a:highlight>
                          <a:latin typeface="Consolas"/>
                          <a:ea typeface="Consolas"/>
                          <a:cs typeface="Consolas"/>
                          <a:sym typeface="Consolas"/>
                        </a:rPr>
                        <a:t>,</a:t>
                      </a:r>
                      <a:r>
                        <a:rPr lang="pt-BR" sz="1550">
                          <a:solidFill>
                            <a:srgbClr val="50A14F"/>
                          </a:solidFill>
                          <a:highlight>
                            <a:srgbClr val="FAFAFA"/>
                          </a:highlight>
                          <a:latin typeface="Consolas"/>
                          <a:ea typeface="Consolas"/>
                          <a:cs typeface="Consolas"/>
                          <a:sym typeface="Consolas"/>
                        </a:rPr>
                        <a:t> 'N'</a:t>
                      </a:r>
                      <a:r>
                        <a:rPr lang="pt-BR" sz="1550">
                          <a:solidFill>
                            <a:srgbClr val="383A42"/>
                          </a:solidFill>
                          <a:highlight>
                            <a:srgbClr val="FAFAFA"/>
                          </a:highlight>
                          <a:latin typeface="Consolas"/>
                          <a:ea typeface="Consolas"/>
                          <a:cs typeface="Consolas"/>
                          <a:sym typeface="Consolas"/>
                        </a:rPr>
                        <a:t>,</a:t>
                      </a:r>
                      <a:r>
                        <a:rPr lang="pt-BR" sz="1550">
                          <a:solidFill>
                            <a:srgbClr val="50A14F"/>
                          </a:solidFill>
                          <a:highlight>
                            <a:srgbClr val="FAFAFA"/>
                          </a:highlight>
                          <a:latin typeface="Consolas"/>
                          <a:ea typeface="Consolas"/>
                          <a:cs typeface="Consolas"/>
                          <a:sym typeface="Consolas"/>
                        </a:rPr>
                        <a:t> 'S'</a:t>
                      </a:r>
                      <a:r>
                        <a:rPr lang="pt-BR" sz="1550">
                          <a:solidFill>
                            <a:srgbClr val="383A42"/>
                          </a:solidFill>
                          <a:highlight>
                            <a:srgbClr val="FAFAFA"/>
                          </a:highlight>
                          <a:latin typeface="Consolas"/>
                          <a:ea typeface="Consolas"/>
                          <a:cs typeface="Consolas"/>
                          <a:sym typeface="Consolas"/>
                        </a:rPr>
                        <a:t>,</a:t>
                      </a:r>
                      <a:r>
                        <a:rPr lang="pt-BR" sz="1550">
                          <a:solidFill>
                            <a:srgbClr val="50A14F"/>
                          </a:solidFill>
                          <a:highlight>
                            <a:srgbClr val="FAFAFA"/>
                          </a:highlight>
                          <a:latin typeface="Consolas"/>
                          <a:ea typeface="Consolas"/>
                          <a:cs typeface="Consolas"/>
                          <a:sym typeface="Consolas"/>
                        </a:rPr>
                        <a:t> 'N' </a:t>
                      </a:r>
                      <a:r>
                        <a:rPr lang="pt-BR" sz="1550">
                          <a:solidFill>
                            <a:srgbClr val="222222"/>
                          </a:solidFill>
                          <a:highlight>
                            <a:srgbClr val="FAFAFA"/>
                          </a:highlight>
                          <a:latin typeface="Consolas"/>
                          <a:ea typeface="Consolas"/>
                          <a:cs typeface="Consolas"/>
                          <a:sym typeface="Consolas"/>
                        </a:rPr>
                        <a:t>…</a:t>
                      </a:r>
                      <a:r>
                        <a:rPr lang="pt-BR" sz="1550">
                          <a:solidFill>
                            <a:srgbClr val="50A14F"/>
                          </a:solidFill>
                          <a:highlight>
                            <a:srgbClr val="FAFAFA"/>
                          </a:highlight>
                          <a:latin typeface="Consolas"/>
                          <a:ea typeface="Consolas"/>
                          <a:cs typeface="Consolas"/>
                          <a:sym typeface="Consolas"/>
                        </a:rPr>
                        <a:t> 'S'</a:t>
                      </a:r>
                      <a:r>
                        <a:rPr lang="pt-BR" sz="1550">
                          <a:solidFill>
                            <a:srgbClr val="383A42"/>
                          </a:solidFill>
                          <a:highlight>
                            <a:srgbClr val="FAFAFA"/>
                          </a:highlight>
                          <a:latin typeface="Consolas"/>
                          <a:ea typeface="Consolas"/>
                          <a:cs typeface="Consolas"/>
                          <a:sym typeface="Consolas"/>
                        </a:rPr>
                        <a:t>]</a:t>
                      </a:r>
                      <a:br>
                        <a:rPr lang="pt-BR" sz="1550">
                          <a:solidFill>
                            <a:srgbClr val="383A42"/>
                          </a:solidFill>
                          <a:highlight>
                            <a:srgbClr val="FAFAFA"/>
                          </a:highlight>
                          <a:latin typeface="Consolas"/>
                          <a:ea typeface="Consolas"/>
                          <a:cs typeface="Consolas"/>
                          <a:sym typeface="Consolas"/>
                        </a:rPr>
                      </a:br>
                      <a:r>
                        <a:rPr lang="pt-BR" sz="1550">
                          <a:solidFill>
                            <a:srgbClr val="383A42"/>
                          </a:solidFill>
                          <a:highlight>
                            <a:srgbClr val="FAFAFA"/>
                          </a:highlight>
                          <a:latin typeface="Consolas"/>
                          <a:ea typeface="Consolas"/>
                          <a:cs typeface="Consolas"/>
                          <a:sym typeface="Consolas"/>
                        </a:rPr>
                        <a:t>data = [</a:t>
                      </a:r>
                      <a:r>
                        <a:rPr lang="pt-BR" sz="1550">
                          <a:solidFill>
                            <a:srgbClr val="986801"/>
                          </a:solidFill>
                          <a:highlight>
                            <a:srgbClr val="FAFAFA"/>
                          </a:highlight>
                          <a:latin typeface="Consolas"/>
                          <a:ea typeface="Consolas"/>
                          <a:cs typeface="Consolas"/>
                          <a:sym typeface="Consolas"/>
                        </a:rPr>
                        <a:t>120</a:t>
                      </a:r>
                      <a:r>
                        <a:rPr lang="pt-BR" sz="1550">
                          <a:solidFill>
                            <a:srgbClr val="383A42"/>
                          </a:solidFill>
                          <a:highlight>
                            <a:srgbClr val="FAFAFA"/>
                          </a:highlight>
                          <a:latin typeface="Consolas"/>
                          <a:ea typeface="Consolas"/>
                          <a:cs typeface="Consolas"/>
                          <a:sym typeface="Consolas"/>
                        </a:rPr>
                        <a:t>, </a:t>
                      </a:r>
                      <a:r>
                        <a:rPr lang="pt-BR" sz="1550">
                          <a:solidFill>
                            <a:srgbClr val="986801"/>
                          </a:solidFill>
                          <a:highlight>
                            <a:srgbClr val="FAFAFA"/>
                          </a:highlight>
                          <a:latin typeface="Consolas"/>
                          <a:ea typeface="Consolas"/>
                          <a:cs typeface="Consolas"/>
                          <a:sym typeface="Consolas"/>
                        </a:rPr>
                        <a:t>113</a:t>
                      </a:r>
                      <a:r>
                        <a:rPr lang="pt-BR" sz="1550">
                          <a:solidFill>
                            <a:srgbClr val="383A42"/>
                          </a:solidFill>
                          <a:highlight>
                            <a:srgbClr val="FAFAFA"/>
                          </a:highlight>
                          <a:latin typeface="Consolas"/>
                          <a:ea typeface="Consolas"/>
                          <a:cs typeface="Consolas"/>
                          <a:sym typeface="Consolas"/>
                        </a:rPr>
                        <a:t>, </a:t>
                      </a:r>
                      <a:r>
                        <a:rPr lang="pt-BR" sz="1550">
                          <a:solidFill>
                            <a:srgbClr val="986801"/>
                          </a:solidFill>
                          <a:highlight>
                            <a:srgbClr val="FAFAFA"/>
                          </a:highlight>
                          <a:latin typeface="Consolas"/>
                          <a:ea typeface="Consolas"/>
                          <a:cs typeface="Consolas"/>
                          <a:sym typeface="Consolas"/>
                        </a:rPr>
                        <a:t>128</a:t>
                      </a:r>
                      <a:r>
                        <a:rPr lang="pt-BR" sz="1550">
                          <a:solidFill>
                            <a:srgbClr val="383A42"/>
                          </a:solidFill>
                          <a:highlight>
                            <a:srgbClr val="FAFAFA"/>
                          </a:highlight>
                          <a:latin typeface="Consolas"/>
                          <a:ea typeface="Consolas"/>
                          <a:cs typeface="Consolas"/>
                          <a:sym typeface="Consolas"/>
                        </a:rPr>
                        <a:t>, </a:t>
                      </a:r>
                      <a:r>
                        <a:rPr lang="pt-BR" sz="1550">
                          <a:solidFill>
                            <a:srgbClr val="986801"/>
                          </a:solidFill>
                          <a:highlight>
                            <a:srgbClr val="FAFAFA"/>
                          </a:highlight>
                          <a:latin typeface="Consolas"/>
                          <a:ea typeface="Consolas"/>
                          <a:cs typeface="Consolas"/>
                          <a:sym typeface="Consolas"/>
                        </a:rPr>
                        <a:t>136</a:t>
                      </a:r>
                      <a:r>
                        <a:rPr lang="pt-BR" sz="1550">
                          <a:solidFill>
                            <a:srgbClr val="383A42"/>
                          </a:solidFill>
                          <a:highlight>
                            <a:srgbClr val="FAFAFA"/>
                          </a:highlight>
                          <a:latin typeface="Consolas"/>
                          <a:ea typeface="Consolas"/>
                          <a:cs typeface="Consolas"/>
                          <a:sym typeface="Consolas"/>
                        </a:rPr>
                        <a:t>, …, </a:t>
                      </a:r>
                      <a:r>
                        <a:rPr lang="pt-BR" sz="1550">
                          <a:solidFill>
                            <a:srgbClr val="986801"/>
                          </a:solidFill>
                          <a:highlight>
                            <a:srgbClr val="FAFAFA"/>
                          </a:highlight>
                          <a:latin typeface="Consolas"/>
                          <a:ea typeface="Consolas"/>
                          <a:cs typeface="Consolas"/>
                          <a:sym typeface="Consolas"/>
                        </a:rPr>
                        <a:t>108</a:t>
                      </a:r>
                      <a:r>
                        <a:rPr lang="pt-BR" sz="1550">
                          <a:solidFill>
                            <a:srgbClr val="383A42"/>
                          </a:solidFill>
                          <a:highlight>
                            <a:srgbClr val="FAFAFA"/>
                          </a:highlight>
                          <a:latin typeface="Consolas"/>
                          <a:ea typeface="Consolas"/>
                          <a:cs typeface="Consolas"/>
                          <a:sym typeface="Consolas"/>
                        </a:rPr>
                        <a:t>]</a:t>
                      </a:r>
                      <a:br>
                        <a:rPr lang="pt-BR" sz="1550">
                          <a:solidFill>
                            <a:srgbClr val="383A42"/>
                          </a:solidFill>
                          <a:highlight>
                            <a:srgbClr val="FAFAFA"/>
                          </a:highlight>
                          <a:latin typeface="Consolas"/>
                          <a:ea typeface="Consolas"/>
                          <a:cs typeface="Consolas"/>
                          <a:sym typeface="Consolas"/>
                        </a:rPr>
                      </a:br>
                      <a:r>
                        <a:rPr lang="pt-BR" sz="1550">
                          <a:solidFill>
                            <a:srgbClr val="383A42"/>
                          </a:solidFill>
                          <a:highlight>
                            <a:srgbClr val="FAFAFA"/>
                          </a:highlight>
                          <a:latin typeface="Consolas"/>
                          <a:ea typeface="Consolas"/>
                          <a:cs typeface="Consolas"/>
                          <a:sym typeface="Consolas"/>
                        </a:rPr>
                        <a:t>np.random.shuffle(grupos)</a:t>
                      </a:r>
                      <a:endParaRPr sz="1550">
                        <a:latin typeface="Courier New"/>
                        <a:ea typeface="Courier New"/>
                        <a:cs typeface="Courier New"/>
                        <a:sym typeface="Courier New"/>
                      </a:endParaRPr>
                    </a:p>
                  </a:txBody>
                  <a:tcPr marT="63500" marB="63500" marR="63500" marL="63500">
                    <a:solidFill>
                      <a:srgbClr val="FAFAFA"/>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95"/>
                                        </p:tgtEl>
                                        <p:attrNameLst>
                                          <p:attrName>style.visibility</p:attrName>
                                        </p:attrNameLst>
                                      </p:cBhvr>
                                      <p:to>
                                        <p:strVal val="visible"/>
                                      </p:to>
                                    </p:set>
                                    <p:anim calcmode="lin" valueType="num">
                                      <p:cBhvr additive="base">
                                        <p:cTn dur="1000"/>
                                        <p:tgtEl>
                                          <p:spTgt spid="59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596"/>
                                        </p:tgtEl>
                                        <p:attrNameLst>
                                          <p:attrName>style.visibility</p:attrName>
                                        </p:attrNameLst>
                                      </p:cBhvr>
                                      <p:to>
                                        <p:strVal val="visible"/>
                                      </p:to>
                                    </p:set>
                                    <p:anim calcmode="lin" valueType="num">
                                      <p:cBhvr additive="base">
                                        <p:cTn dur="1000"/>
                                        <p:tgtEl>
                                          <p:spTgt spid="59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597"/>
                                        </p:tgtEl>
                                        <p:attrNameLst>
                                          <p:attrName>style.visibility</p:attrName>
                                        </p:attrNameLst>
                                      </p:cBhvr>
                                      <p:to>
                                        <p:strVal val="visible"/>
                                      </p:to>
                                    </p:set>
                                    <p:anim calcmode="lin" valueType="num">
                                      <p:cBhvr additive="base">
                                        <p:cTn dur="1000"/>
                                        <p:tgtEl>
                                          <p:spTgt spid="59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598"/>
                                        </p:tgtEl>
                                        <p:attrNameLst>
                                          <p:attrName>style.visibility</p:attrName>
                                        </p:attrNameLst>
                                      </p:cBhvr>
                                      <p:to>
                                        <p:strVal val="visible"/>
                                      </p:to>
                                    </p:set>
                                    <p:anim calcmode="lin" valueType="num">
                                      <p:cBhvr additive="base">
                                        <p:cTn dur="1000"/>
                                        <p:tgtEl>
                                          <p:spTgt spid="59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604"/>
                                        </p:tgtEl>
                                        <p:attrNameLst>
                                          <p:attrName>style.visibility</p:attrName>
                                        </p:attrNameLst>
                                      </p:cBhvr>
                                      <p:to>
                                        <p:strVal val="visible"/>
                                      </p:to>
                                    </p:set>
                                    <p:anim calcmode="lin" valueType="num">
                                      <p:cBhvr additive="base">
                                        <p:cTn dur="1000"/>
                                        <p:tgtEl>
                                          <p:spTgt spid="60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pic>
        <p:nvPicPr>
          <p:cNvPr id="614" name="Google Shape;614;p75"/>
          <p:cNvPicPr preferRelativeResize="0"/>
          <p:nvPr/>
        </p:nvPicPr>
        <p:blipFill>
          <a:blip r:embed="rId3">
            <a:alphaModFix/>
          </a:blip>
          <a:stretch>
            <a:fillRect/>
          </a:stretch>
        </p:blipFill>
        <p:spPr>
          <a:xfrm>
            <a:off x="261600" y="1445025"/>
            <a:ext cx="1485926" cy="1273725"/>
          </a:xfrm>
          <a:prstGeom prst="rect">
            <a:avLst/>
          </a:prstGeom>
          <a:noFill/>
          <a:ln>
            <a:noFill/>
          </a:ln>
        </p:spPr>
      </p:pic>
      <p:pic>
        <p:nvPicPr>
          <p:cNvPr id="615" name="Google Shape;615;p75"/>
          <p:cNvPicPr preferRelativeResize="0"/>
          <p:nvPr/>
        </p:nvPicPr>
        <p:blipFill>
          <a:blip r:embed="rId3">
            <a:alphaModFix/>
          </a:blip>
          <a:stretch>
            <a:fillRect/>
          </a:stretch>
        </p:blipFill>
        <p:spPr>
          <a:xfrm>
            <a:off x="1747531" y="1445025"/>
            <a:ext cx="1485926" cy="1273725"/>
          </a:xfrm>
          <a:prstGeom prst="rect">
            <a:avLst/>
          </a:prstGeom>
          <a:noFill/>
          <a:ln>
            <a:noFill/>
          </a:ln>
        </p:spPr>
      </p:pic>
      <p:pic>
        <p:nvPicPr>
          <p:cNvPr id="616" name="Google Shape;616;p75"/>
          <p:cNvPicPr preferRelativeResize="0"/>
          <p:nvPr/>
        </p:nvPicPr>
        <p:blipFill>
          <a:blip r:embed="rId3">
            <a:alphaModFix/>
          </a:blip>
          <a:stretch>
            <a:fillRect/>
          </a:stretch>
        </p:blipFill>
        <p:spPr>
          <a:xfrm>
            <a:off x="7399697" y="1445025"/>
            <a:ext cx="1485926" cy="1273725"/>
          </a:xfrm>
          <a:prstGeom prst="rect">
            <a:avLst/>
          </a:prstGeom>
          <a:noFill/>
          <a:ln>
            <a:noFill/>
          </a:ln>
        </p:spPr>
      </p:pic>
      <p:pic>
        <p:nvPicPr>
          <p:cNvPr id="617" name="Google Shape;617;p75"/>
          <p:cNvPicPr preferRelativeResize="0"/>
          <p:nvPr/>
        </p:nvPicPr>
        <p:blipFill>
          <a:blip r:embed="rId3">
            <a:alphaModFix/>
          </a:blip>
          <a:stretch>
            <a:fillRect/>
          </a:stretch>
        </p:blipFill>
        <p:spPr>
          <a:xfrm>
            <a:off x="3233461" y="1445025"/>
            <a:ext cx="1485926" cy="1273725"/>
          </a:xfrm>
          <a:prstGeom prst="rect">
            <a:avLst/>
          </a:prstGeom>
          <a:noFill/>
          <a:ln>
            <a:noFill/>
          </a:ln>
        </p:spPr>
      </p:pic>
      <p:sp>
        <p:nvSpPr>
          <p:cNvPr id="618" name="Google Shape;618;p75"/>
          <p:cNvSpPr txBox="1"/>
          <p:nvPr/>
        </p:nvSpPr>
        <p:spPr>
          <a:xfrm>
            <a:off x="6368542" y="1636653"/>
            <a:ext cx="733500" cy="53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pt-BR" sz="3600"/>
              <a:t>...</a:t>
            </a:r>
            <a:endParaRPr sz="3600"/>
          </a:p>
        </p:txBody>
      </p:sp>
      <p:sp>
        <p:nvSpPr>
          <p:cNvPr id="619" name="Google Shape;619;p75"/>
          <p:cNvSpPr txBox="1"/>
          <p:nvPr/>
        </p:nvSpPr>
        <p:spPr>
          <a:xfrm>
            <a:off x="1569163" y="2806775"/>
            <a:ext cx="18426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Non-smoker</a:t>
            </a:r>
            <a:endParaRPr sz="1800"/>
          </a:p>
        </p:txBody>
      </p:sp>
      <p:sp>
        <p:nvSpPr>
          <p:cNvPr id="620" name="Google Shape;620;p75"/>
          <p:cNvSpPr txBox="1"/>
          <p:nvPr/>
        </p:nvSpPr>
        <p:spPr>
          <a:xfrm>
            <a:off x="3246538" y="2806763"/>
            <a:ext cx="14598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Non-smoker</a:t>
            </a:r>
            <a:endParaRPr sz="1800"/>
          </a:p>
        </p:txBody>
      </p:sp>
      <p:sp>
        <p:nvSpPr>
          <p:cNvPr id="621" name="Google Shape;621;p75"/>
          <p:cNvSpPr txBox="1"/>
          <p:nvPr/>
        </p:nvSpPr>
        <p:spPr>
          <a:xfrm>
            <a:off x="83250" y="2806775"/>
            <a:ext cx="18426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Smoker</a:t>
            </a:r>
            <a:endParaRPr sz="1800"/>
          </a:p>
        </p:txBody>
      </p:sp>
      <p:sp>
        <p:nvSpPr>
          <p:cNvPr id="622" name="Google Shape;622;p75"/>
          <p:cNvSpPr txBox="1"/>
          <p:nvPr/>
        </p:nvSpPr>
        <p:spPr>
          <a:xfrm>
            <a:off x="4540963" y="2806775"/>
            <a:ext cx="18426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Smoker</a:t>
            </a:r>
            <a:endParaRPr sz="1800"/>
          </a:p>
        </p:txBody>
      </p:sp>
      <p:sp>
        <p:nvSpPr>
          <p:cNvPr id="623" name="Google Shape;623;p75"/>
          <p:cNvSpPr txBox="1"/>
          <p:nvPr/>
        </p:nvSpPr>
        <p:spPr>
          <a:xfrm>
            <a:off x="524938" y="3258350"/>
            <a:ext cx="9591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120 oz</a:t>
            </a:r>
            <a:endParaRPr sz="1800"/>
          </a:p>
        </p:txBody>
      </p:sp>
      <p:sp>
        <p:nvSpPr>
          <p:cNvPr id="624" name="Google Shape;624;p75"/>
          <p:cNvSpPr txBox="1"/>
          <p:nvPr/>
        </p:nvSpPr>
        <p:spPr>
          <a:xfrm>
            <a:off x="2010913" y="3258338"/>
            <a:ext cx="9591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113 oz</a:t>
            </a:r>
            <a:endParaRPr sz="1800"/>
          </a:p>
        </p:txBody>
      </p:sp>
      <p:sp>
        <p:nvSpPr>
          <p:cNvPr id="625" name="Google Shape;625;p75"/>
          <p:cNvSpPr txBox="1"/>
          <p:nvPr/>
        </p:nvSpPr>
        <p:spPr>
          <a:xfrm>
            <a:off x="3496888" y="3258350"/>
            <a:ext cx="9591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128 oz</a:t>
            </a:r>
            <a:endParaRPr sz="1800"/>
          </a:p>
        </p:txBody>
      </p:sp>
      <p:sp>
        <p:nvSpPr>
          <p:cNvPr id="626" name="Google Shape;626;p75"/>
          <p:cNvSpPr txBox="1"/>
          <p:nvPr/>
        </p:nvSpPr>
        <p:spPr>
          <a:xfrm>
            <a:off x="7663113" y="3258350"/>
            <a:ext cx="9591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108 oz</a:t>
            </a:r>
            <a:endParaRPr sz="1800"/>
          </a:p>
        </p:txBody>
      </p:sp>
      <p:pic>
        <p:nvPicPr>
          <p:cNvPr id="627" name="Google Shape;627;p75"/>
          <p:cNvPicPr preferRelativeResize="0"/>
          <p:nvPr/>
        </p:nvPicPr>
        <p:blipFill>
          <a:blip r:embed="rId3">
            <a:alphaModFix/>
          </a:blip>
          <a:stretch>
            <a:fillRect/>
          </a:stretch>
        </p:blipFill>
        <p:spPr>
          <a:xfrm>
            <a:off x="4719379" y="1445025"/>
            <a:ext cx="1485926" cy="1273725"/>
          </a:xfrm>
          <a:prstGeom prst="rect">
            <a:avLst/>
          </a:prstGeom>
          <a:noFill/>
          <a:ln>
            <a:noFill/>
          </a:ln>
        </p:spPr>
      </p:pic>
      <p:sp>
        <p:nvSpPr>
          <p:cNvPr id="628" name="Google Shape;628;p75"/>
          <p:cNvSpPr txBox="1"/>
          <p:nvPr/>
        </p:nvSpPr>
        <p:spPr>
          <a:xfrm>
            <a:off x="7221350" y="2806775"/>
            <a:ext cx="18426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Non-smoker</a:t>
            </a:r>
            <a:endParaRPr sz="1800"/>
          </a:p>
        </p:txBody>
      </p:sp>
      <p:sp>
        <p:nvSpPr>
          <p:cNvPr id="629" name="Google Shape;629;p75"/>
          <p:cNvSpPr txBox="1"/>
          <p:nvPr/>
        </p:nvSpPr>
        <p:spPr>
          <a:xfrm>
            <a:off x="4982713" y="3258350"/>
            <a:ext cx="9591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sz="1800"/>
              <a:t>136 oz</a:t>
            </a:r>
            <a:endParaRPr sz="1800"/>
          </a:p>
        </p:txBody>
      </p:sp>
      <p:sp>
        <p:nvSpPr>
          <p:cNvPr id="630" name="Google Shape;630;p75"/>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Simulação no modelo nulo</a:t>
            </a:r>
            <a:endParaRPr/>
          </a:p>
        </p:txBody>
      </p:sp>
      <p:sp>
        <p:nvSpPr>
          <p:cNvPr id="631" name="Google Shape;631;p75"/>
          <p:cNvSpPr txBox="1"/>
          <p:nvPr/>
        </p:nvSpPr>
        <p:spPr>
          <a:xfrm>
            <a:off x="7189575" y="4421425"/>
            <a:ext cx="1874400" cy="67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rgbClr val="222222"/>
              </a:solidFill>
              <a:highlight>
                <a:srgbClr val="FFFFFF"/>
              </a:highlight>
            </a:endParaRPr>
          </a:p>
          <a:p>
            <a:pPr indent="0" lvl="0" marL="0" rtl="0" algn="l">
              <a:spcBef>
                <a:spcPts val="0"/>
              </a:spcBef>
              <a:spcAft>
                <a:spcPts val="0"/>
              </a:spcAft>
              <a:buNone/>
            </a:pPr>
            <a:r>
              <a:rPr lang="pt-BR" sz="1200">
                <a:solidFill>
                  <a:srgbClr val="222222"/>
                </a:solidFill>
                <a:highlight>
                  <a:srgbClr val="FFFFFF"/>
                </a:highlight>
              </a:rPr>
              <a:t>Gráfico de</a:t>
            </a:r>
            <a:br>
              <a:rPr lang="pt-BR" sz="1200">
                <a:solidFill>
                  <a:srgbClr val="222222"/>
                </a:solidFill>
                <a:highlight>
                  <a:srgbClr val="FFFFFF"/>
                </a:highlight>
              </a:rPr>
            </a:br>
            <a:r>
              <a:rPr lang="pt-BR" sz="1200">
                <a:solidFill>
                  <a:srgbClr val="222222"/>
                </a:solidFill>
                <a:highlight>
                  <a:srgbClr val="FFFFFF"/>
                </a:highlight>
              </a:rPr>
              <a:t>data8.org </a:t>
            </a:r>
            <a:endParaRPr sz="1200"/>
          </a:p>
        </p:txBody>
      </p:sp>
      <p:sp>
        <p:nvSpPr>
          <p:cNvPr id="632" name="Google Shape;632;p7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graphicFrame>
        <p:nvGraphicFramePr>
          <p:cNvPr id="633" name="Google Shape;633;p75"/>
          <p:cNvGraphicFramePr/>
          <p:nvPr/>
        </p:nvGraphicFramePr>
        <p:xfrm>
          <a:off x="2372100" y="3630050"/>
          <a:ext cx="3000000" cy="3000000"/>
        </p:xfrm>
        <a:graphic>
          <a:graphicData uri="http://schemas.openxmlformats.org/drawingml/2006/table">
            <a:tbl>
              <a:tblPr>
                <a:noFill/>
                <a:tableStyleId>{E6F389CA-A1F8-429B-937D-27BCD03C1D14}</a:tableStyleId>
              </a:tblPr>
              <a:tblGrid>
                <a:gridCol w="4040100"/>
              </a:tblGrid>
              <a:tr h="12700">
                <a:tc>
                  <a:txBody>
                    <a:bodyPr/>
                    <a:lstStyle/>
                    <a:p>
                      <a:pPr indent="0" lvl="0" marL="0" rtl="0" algn="l">
                        <a:lnSpc>
                          <a:spcPct val="115000"/>
                        </a:lnSpc>
                        <a:spcBef>
                          <a:spcPts val="0"/>
                        </a:spcBef>
                        <a:spcAft>
                          <a:spcPts val="0"/>
                        </a:spcAft>
                        <a:buNone/>
                      </a:pPr>
                      <a:r>
                        <a:rPr lang="pt-BR" sz="1550">
                          <a:solidFill>
                            <a:srgbClr val="383A42"/>
                          </a:solidFill>
                          <a:highlight>
                            <a:srgbClr val="FAFAFA"/>
                          </a:highlight>
                          <a:latin typeface="Consolas"/>
                          <a:ea typeface="Consolas"/>
                          <a:cs typeface="Consolas"/>
                          <a:sym typeface="Consolas"/>
                        </a:rPr>
                        <a:t>grupos = [</a:t>
                      </a:r>
                      <a:r>
                        <a:rPr lang="pt-BR" sz="1550">
                          <a:solidFill>
                            <a:srgbClr val="50A14F"/>
                          </a:solidFill>
                          <a:highlight>
                            <a:srgbClr val="FAFAFA"/>
                          </a:highlight>
                          <a:latin typeface="Consolas"/>
                          <a:ea typeface="Consolas"/>
                          <a:cs typeface="Consolas"/>
                          <a:sym typeface="Consolas"/>
                        </a:rPr>
                        <a:t>'</a:t>
                      </a:r>
                      <a:r>
                        <a:rPr lang="pt-BR" sz="1550">
                          <a:solidFill>
                            <a:srgbClr val="50A14F"/>
                          </a:solidFill>
                          <a:highlight>
                            <a:srgbClr val="FAFAFA"/>
                          </a:highlight>
                          <a:latin typeface="Consolas"/>
                          <a:ea typeface="Consolas"/>
                          <a:cs typeface="Consolas"/>
                          <a:sym typeface="Consolas"/>
                        </a:rPr>
                        <a:t>N</a:t>
                      </a:r>
                      <a:r>
                        <a:rPr lang="pt-BR" sz="1550">
                          <a:solidFill>
                            <a:srgbClr val="50A14F"/>
                          </a:solidFill>
                          <a:highlight>
                            <a:srgbClr val="FAFAFA"/>
                          </a:highlight>
                          <a:latin typeface="Consolas"/>
                          <a:ea typeface="Consolas"/>
                          <a:cs typeface="Consolas"/>
                          <a:sym typeface="Consolas"/>
                        </a:rPr>
                        <a:t>'</a:t>
                      </a:r>
                      <a:r>
                        <a:rPr lang="pt-BR" sz="1550">
                          <a:solidFill>
                            <a:srgbClr val="383A42"/>
                          </a:solidFill>
                          <a:highlight>
                            <a:srgbClr val="FAFAFA"/>
                          </a:highlight>
                          <a:latin typeface="Consolas"/>
                          <a:ea typeface="Consolas"/>
                          <a:cs typeface="Consolas"/>
                          <a:sym typeface="Consolas"/>
                        </a:rPr>
                        <a:t>,</a:t>
                      </a:r>
                      <a:r>
                        <a:rPr lang="pt-BR" sz="1550">
                          <a:solidFill>
                            <a:srgbClr val="50A14F"/>
                          </a:solidFill>
                          <a:highlight>
                            <a:srgbClr val="FAFAFA"/>
                          </a:highlight>
                          <a:latin typeface="Consolas"/>
                          <a:ea typeface="Consolas"/>
                          <a:cs typeface="Consolas"/>
                          <a:sym typeface="Consolas"/>
                        </a:rPr>
                        <a:t> 'N'</a:t>
                      </a:r>
                      <a:r>
                        <a:rPr lang="pt-BR" sz="1550">
                          <a:solidFill>
                            <a:srgbClr val="383A42"/>
                          </a:solidFill>
                          <a:highlight>
                            <a:srgbClr val="FAFAFA"/>
                          </a:highlight>
                          <a:latin typeface="Consolas"/>
                          <a:ea typeface="Consolas"/>
                          <a:cs typeface="Consolas"/>
                          <a:sym typeface="Consolas"/>
                        </a:rPr>
                        <a:t>,</a:t>
                      </a:r>
                      <a:r>
                        <a:rPr lang="pt-BR" sz="1550">
                          <a:solidFill>
                            <a:srgbClr val="50A14F"/>
                          </a:solidFill>
                          <a:highlight>
                            <a:srgbClr val="FAFAFA"/>
                          </a:highlight>
                          <a:latin typeface="Consolas"/>
                          <a:ea typeface="Consolas"/>
                          <a:cs typeface="Consolas"/>
                          <a:sym typeface="Consolas"/>
                        </a:rPr>
                        <a:t> 'S'</a:t>
                      </a:r>
                      <a:r>
                        <a:rPr lang="pt-BR" sz="1550">
                          <a:solidFill>
                            <a:srgbClr val="383A42"/>
                          </a:solidFill>
                          <a:highlight>
                            <a:srgbClr val="FAFAFA"/>
                          </a:highlight>
                          <a:latin typeface="Consolas"/>
                          <a:ea typeface="Consolas"/>
                          <a:cs typeface="Consolas"/>
                          <a:sym typeface="Consolas"/>
                        </a:rPr>
                        <a:t>,</a:t>
                      </a:r>
                      <a:r>
                        <a:rPr lang="pt-BR" sz="1550">
                          <a:solidFill>
                            <a:srgbClr val="50A14F"/>
                          </a:solidFill>
                          <a:highlight>
                            <a:srgbClr val="FAFAFA"/>
                          </a:highlight>
                          <a:latin typeface="Consolas"/>
                          <a:ea typeface="Consolas"/>
                          <a:cs typeface="Consolas"/>
                          <a:sym typeface="Consolas"/>
                        </a:rPr>
                        <a:t> 'N' </a:t>
                      </a:r>
                      <a:r>
                        <a:rPr lang="pt-BR" sz="1550">
                          <a:solidFill>
                            <a:srgbClr val="222222"/>
                          </a:solidFill>
                          <a:highlight>
                            <a:srgbClr val="FAFAFA"/>
                          </a:highlight>
                          <a:latin typeface="Consolas"/>
                          <a:ea typeface="Consolas"/>
                          <a:cs typeface="Consolas"/>
                          <a:sym typeface="Consolas"/>
                        </a:rPr>
                        <a:t>…</a:t>
                      </a:r>
                      <a:r>
                        <a:rPr lang="pt-BR" sz="1550">
                          <a:solidFill>
                            <a:srgbClr val="50A14F"/>
                          </a:solidFill>
                          <a:highlight>
                            <a:srgbClr val="FAFAFA"/>
                          </a:highlight>
                          <a:latin typeface="Consolas"/>
                          <a:ea typeface="Consolas"/>
                          <a:cs typeface="Consolas"/>
                          <a:sym typeface="Consolas"/>
                        </a:rPr>
                        <a:t> 'S'</a:t>
                      </a:r>
                      <a:r>
                        <a:rPr lang="pt-BR" sz="1550">
                          <a:solidFill>
                            <a:srgbClr val="383A42"/>
                          </a:solidFill>
                          <a:highlight>
                            <a:srgbClr val="FAFAFA"/>
                          </a:highlight>
                          <a:latin typeface="Consolas"/>
                          <a:ea typeface="Consolas"/>
                          <a:cs typeface="Consolas"/>
                          <a:sym typeface="Consolas"/>
                        </a:rPr>
                        <a:t>]</a:t>
                      </a:r>
                      <a:br>
                        <a:rPr lang="pt-BR" sz="1550">
                          <a:solidFill>
                            <a:srgbClr val="383A42"/>
                          </a:solidFill>
                          <a:highlight>
                            <a:srgbClr val="FAFAFA"/>
                          </a:highlight>
                          <a:latin typeface="Consolas"/>
                          <a:ea typeface="Consolas"/>
                          <a:cs typeface="Consolas"/>
                          <a:sym typeface="Consolas"/>
                        </a:rPr>
                      </a:br>
                      <a:r>
                        <a:rPr lang="pt-BR" sz="1550">
                          <a:solidFill>
                            <a:srgbClr val="383A42"/>
                          </a:solidFill>
                          <a:highlight>
                            <a:srgbClr val="FAFAFA"/>
                          </a:highlight>
                          <a:latin typeface="Consolas"/>
                          <a:ea typeface="Consolas"/>
                          <a:cs typeface="Consolas"/>
                          <a:sym typeface="Consolas"/>
                        </a:rPr>
                        <a:t>data = [</a:t>
                      </a:r>
                      <a:r>
                        <a:rPr lang="pt-BR" sz="1550">
                          <a:solidFill>
                            <a:srgbClr val="986801"/>
                          </a:solidFill>
                          <a:highlight>
                            <a:srgbClr val="FAFAFA"/>
                          </a:highlight>
                          <a:latin typeface="Consolas"/>
                          <a:ea typeface="Consolas"/>
                          <a:cs typeface="Consolas"/>
                          <a:sym typeface="Consolas"/>
                        </a:rPr>
                        <a:t>120</a:t>
                      </a:r>
                      <a:r>
                        <a:rPr lang="pt-BR" sz="1550">
                          <a:solidFill>
                            <a:srgbClr val="383A42"/>
                          </a:solidFill>
                          <a:highlight>
                            <a:srgbClr val="FAFAFA"/>
                          </a:highlight>
                          <a:latin typeface="Consolas"/>
                          <a:ea typeface="Consolas"/>
                          <a:cs typeface="Consolas"/>
                          <a:sym typeface="Consolas"/>
                        </a:rPr>
                        <a:t>, </a:t>
                      </a:r>
                      <a:r>
                        <a:rPr lang="pt-BR" sz="1550">
                          <a:solidFill>
                            <a:srgbClr val="986801"/>
                          </a:solidFill>
                          <a:highlight>
                            <a:srgbClr val="FAFAFA"/>
                          </a:highlight>
                          <a:latin typeface="Consolas"/>
                          <a:ea typeface="Consolas"/>
                          <a:cs typeface="Consolas"/>
                          <a:sym typeface="Consolas"/>
                        </a:rPr>
                        <a:t>113</a:t>
                      </a:r>
                      <a:r>
                        <a:rPr lang="pt-BR" sz="1550">
                          <a:solidFill>
                            <a:srgbClr val="383A42"/>
                          </a:solidFill>
                          <a:highlight>
                            <a:srgbClr val="FAFAFA"/>
                          </a:highlight>
                          <a:latin typeface="Consolas"/>
                          <a:ea typeface="Consolas"/>
                          <a:cs typeface="Consolas"/>
                          <a:sym typeface="Consolas"/>
                        </a:rPr>
                        <a:t>, </a:t>
                      </a:r>
                      <a:r>
                        <a:rPr lang="pt-BR" sz="1550">
                          <a:solidFill>
                            <a:srgbClr val="986801"/>
                          </a:solidFill>
                          <a:highlight>
                            <a:srgbClr val="FAFAFA"/>
                          </a:highlight>
                          <a:latin typeface="Consolas"/>
                          <a:ea typeface="Consolas"/>
                          <a:cs typeface="Consolas"/>
                          <a:sym typeface="Consolas"/>
                        </a:rPr>
                        <a:t>128</a:t>
                      </a:r>
                      <a:r>
                        <a:rPr lang="pt-BR" sz="1550">
                          <a:solidFill>
                            <a:srgbClr val="383A42"/>
                          </a:solidFill>
                          <a:highlight>
                            <a:srgbClr val="FAFAFA"/>
                          </a:highlight>
                          <a:latin typeface="Consolas"/>
                          <a:ea typeface="Consolas"/>
                          <a:cs typeface="Consolas"/>
                          <a:sym typeface="Consolas"/>
                        </a:rPr>
                        <a:t>, </a:t>
                      </a:r>
                      <a:r>
                        <a:rPr lang="pt-BR" sz="1550">
                          <a:solidFill>
                            <a:srgbClr val="986801"/>
                          </a:solidFill>
                          <a:highlight>
                            <a:srgbClr val="FAFAFA"/>
                          </a:highlight>
                          <a:latin typeface="Consolas"/>
                          <a:ea typeface="Consolas"/>
                          <a:cs typeface="Consolas"/>
                          <a:sym typeface="Consolas"/>
                        </a:rPr>
                        <a:t>136</a:t>
                      </a:r>
                      <a:r>
                        <a:rPr lang="pt-BR" sz="1550">
                          <a:solidFill>
                            <a:srgbClr val="383A42"/>
                          </a:solidFill>
                          <a:highlight>
                            <a:srgbClr val="FAFAFA"/>
                          </a:highlight>
                          <a:latin typeface="Consolas"/>
                          <a:ea typeface="Consolas"/>
                          <a:cs typeface="Consolas"/>
                          <a:sym typeface="Consolas"/>
                        </a:rPr>
                        <a:t>, …, </a:t>
                      </a:r>
                      <a:r>
                        <a:rPr lang="pt-BR" sz="1550">
                          <a:solidFill>
                            <a:srgbClr val="986801"/>
                          </a:solidFill>
                          <a:highlight>
                            <a:srgbClr val="FAFAFA"/>
                          </a:highlight>
                          <a:latin typeface="Consolas"/>
                          <a:ea typeface="Consolas"/>
                          <a:cs typeface="Consolas"/>
                          <a:sym typeface="Consolas"/>
                        </a:rPr>
                        <a:t>108</a:t>
                      </a:r>
                      <a:r>
                        <a:rPr lang="pt-BR" sz="1550">
                          <a:solidFill>
                            <a:srgbClr val="383A42"/>
                          </a:solidFill>
                          <a:highlight>
                            <a:srgbClr val="FAFAFA"/>
                          </a:highlight>
                          <a:latin typeface="Consolas"/>
                          <a:ea typeface="Consolas"/>
                          <a:cs typeface="Consolas"/>
                          <a:sym typeface="Consolas"/>
                        </a:rPr>
                        <a:t>]</a:t>
                      </a:r>
                      <a:br>
                        <a:rPr lang="pt-BR" sz="1550">
                          <a:solidFill>
                            <a:srgbClr val="383A42"/>
                          </a:solidFill>
                          <a:highlight>
                            <a:srgbClr val="FAFAFA"/>
                          </a:highlight>
                          <a:latin typeface="Consolas"/>
                          <a:ea typeface="Consolas"/>
                          <a:cs typeface="Consolas"/>
                          <a:sym typeface="Consolas"/>
                        </a:rPr>
                      </a:br>
                      <a:r>
                        <a:rPr lang="pt-BR" sz="1550">
                          <a:solidFill>
                            <a:srgbClr val="383A42"/>
                          </a:solidFill>
                          <a:highlight>
                            <a:srgbClr val="FAFAFA"/>
                          </a:highlight>
                          <a:latin typeface="Consolas"/>
                          <a:ea typeface="Consolas"/>
                          <a:cs typeface="Consolas"/>
                          <a:sym typeface="Consolas"/>
                        </a:rPr>
                        <a:t>np.random.shuffle(grupos)</a:t>
                      </a:r>
                      <a:br>
                        <a:rPr lang="pt-BR" sz="1550">
                          <a:solidFill>
                            <a:srgbClr val="383A42"/>
                          </a:solidFill>
                          <a:highlight>
                            <a:srgbClr val="FAFAFA"/>
                          </a:highlight>
                          <a:latin typeface="Consolas"/>
                          <a:ea typeface="Consolas"/>
                          <a:cs typeface="Consolas"/>
                          <a:sym typeface="Consolas"/>
                        </a:rPr>
                      </a:br>
                      <a:r>
                        <a:rPr lang="pt-BR" sz="1550">
                          <a:solidFill>
                            <a:srgbClr val="383A42"/>
                          </a:solidFill>
                          <a:highlight>
                            <a:srgbClr val="FAFAFA"/>
                          </a:highlight>
                          <a:latin typeface="Consolas"/>
                          <a:ea typeface="Consolas"/>
                          <a:cs typeface="Consolas"/>
                          <a:sym typeface="Consolas"/>
                        </a:rPr>
                        <a:t>print(</a:t>
                      </a:r>
                      <a:r>
                        <a:rPr lang="pt-BR" sz="1550">
                          <a:solidFill>
                            <a:srgbClr val="383A42"/>
                          </a:solidFill>
                          <a:highlight>
                            <a:srgbClr val="FAFAFA"/>
                          </a:highlight>
                          <a:latin typeface="Consolas"/>
                          <a:ea typeface="Consolas"/>
                          <a:cs typeface="Consolas"/>
                          <a:sym typeface="Consolas"/>
                        </a:rPr>
                        <a:t>grupos)</a:t>
                      </a:r>
                      <a:br>
                        <a:rPr lang="pt-BR" sz="1550">
                          <a:solidFill>
                            <a:srgbClr val="383A42"/>
                          </a:solidFill>
                          <a:highlight>
                            <a:srgbClr val="FAFAFA"/>
                          </a:highlight>
                          <a:latin typeface="Consolas"/>
                          <a:ea typeface="Consolas"/>
                          <a:cs typeface="Consolas"/>
                          <a:sym typeface="Consolas"/>
                        </a:rPr>
                      </a:br>
                      <a:r>
                        <a:rPr lang="pt-BR" sz="1550">
                          <a:solidFill>
                            <a:srgbClr val="666666"/>
                          </a:solidFill>
                          <a:highlight>
                            <a:srgbClr val="FAFAFA"/>
                          </a:highlight>
                          <a:latin typeface="Consolas"/>
                          <a:ea typeface="Consolas"/>
                          <a:cs typeface="Consolas"/>
                          <a:sym typeface="Consolas"/>
                        </a:rPr>
                        <a:t>['S'</a:t>
                      </a:r>
                      <a:r>
                        <a:rPr lang="pt-BR" sz="1550">
                          <a:solidFill>
                            <a:srgbClr val="666666"/>
                          </a:solidFill>
                          <a:highlight>
                            <a:srgbClr val="FAFAFA"/>
                          </a:highlight>
                          <a:latin typeface="Consolas"/>
                          <a:ea typeface="Consolas"/>
                          <a:cs typeface="Consolas"/>
                          <a:sym typeface="Consolas"/>
                        </a:rPr>
                        <a:t>,</a:t>
                      </a:r>
                      <a:r>
                        <a:rPr lang="pt-BR" sz="1550">
                          <a:solidFill>
                            <a:srgbClr val="666666"/>
                          </a:solidFill>
                          <a:highlight>
                            <a:srgbClr val="FAFAFA"/>
                          </a:highlight>
                          <a:latin typeface="Consolas"/>
                          <a:ea typeface="Consolas"/>
                          <a:cs typeface="Consolas"/>
                          <a:sym typeface="Consolas"/>
                        </a:rPr>
                        <a:t> 'N'</a:t>
                      </a:r>
                      <a:r>
                        <a:rPr lang="pt-BR" sz="1550">
                          <a:solidFill>
                            <a:srgbClr val="666666"/>
                          </a:solidFill>
                          <a:highlight>
                            <a:srgbClr val="FAFAFA"/>
                          </a:highlight>
                          <a:latin typeface="Consolas"/>
                          <a:ea typeface="Consolas"/>
                          <a:cs typeface="Consolas"/>
                          <a:sym typeface="Consolas"/>
                        </a:rPr>
                        <a:t>,</a:t>
                      </a:r>
                      <a:r>
                        <a:rPr lang="pt-BR" sz="1550">
                          <a:solidFill>
                            <a:srgbClr val="666666"/>
                          </a:solidFill>
                          <a:highlight>
                            <a:srgbClr val="FAFAFA"/>
                          </a:highlight>
                          <a:latin typeface="Consolas"/>
                          <a:ea typeface="Consolas"/>
                          <a:cs typeface="Consolas"/>
                          <a:sym typeface="Consolas"/>
                        </a:rPr>
                        <a:t> 'N'</a:t>
                      </a:r>
                      <a:r>
                        <a:rPr lang="pt-BR" sz="1550">
                          <a:solidFill>
                            <a:srgbClr val="666666"/>
                          </a:solidFill>
                          <a:highlight>
                            <a:srgbClr val="FAFAFA"/>
                          </a:highlight>
                          <a:latin typeface="Consolas"/>
                          <a:ea typeface="Consolas"/>
                          <a:cs typeface="Consolas"/>
                          <a:sym typeface="Consolas"/>
                        </a:rPr>
                        <a:t>,</a:t>
                      </a:r>
                      <a:r>
                        <a:rPr lang="pt-BR" sz="1550">
                          <a:solidFill>
                            <a:srgbClr val="666666"/>
                          </a:solidFill>
                          <a:highlight>
                            <a:srgbClr val="FAFAFA"/>
                          </a:highlight>
                          <a:latin typeface="Consolas"/>
                          <a:ea typeface="Consolas"/>
                          <a:cs typeface="Consolas"/>
                          <a:sym typeface="Consolas"/>
                        </a:rPr>
                        <a:t> 'S' … 'N'</a:t>
                      </a:r>
                      <a:r>
                        <a:rPr lang="pt-BR" sz="1550">
                          <a:solidFill>
                            <a:srgbClr val="666666"/>
                          </a:solidFill>
                          <a:highlight>
                            <a:srgbClr val="FAFAFA"/>
                          </a:highlight>
                          <a:latin typeface="Consolas"/>
                          <a:ea typeface="Consolas"/>
                          <a:cs typeface="Consolas"/>
                          <a:sym typeface="Consolas"/>
                        </a:rPr>
                        <a:t>]</a:t>
                      </a:r>
                      <a:endParaRPr sz="1550">
                        <a:solidFill>
                          <a:srgbClr val="666666"/>
                        </a:solidFill>
                        <a:latin typeface="Courier New"/>
                        <a:ea typeface="Courier New"/>
                        <a:cs typeface="Courier New"/>
                        <a:sym typeface="Courier New"/>
                      </a:endParaRPr>
                    </a:p>
                  </a:txBody>
                  <a:tcPr marT="63500" marB="63500" marR="63500" marL="63500">
                    <a:solidFill>
                      <a:srgbClr val="FAFAFA"/>
                    </a:solidFill>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76"/>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Se o modelo nulo for verdade:</a:t>
            </a:r>
            <a:br>
              <a:rPr lang="pt-BR"/>
            </a:br>
            <a:r>
              <a:rPr lang="pt-BR"/>
              <a:t>A diferença dos pesos é igual assumindo a hipótese nula</a:t>
            </a:r>
            <a:endParaRPr/>
          </a:p>
          <a:p>
            <a:pPr indent="-342900" lvl="0" marL="457200" rtl="0" algn="l">
              <a:spcBef>
                <a:spcPts val="0"/>
              </a:spcBef>
              <a:spcAft>
                <a:spcPts val="0"/>
              </a:spcAft>
              <a:buSzPts val="1800"/>
              <a:buChar char="●"/>
            </a:pPr>
            <a:r>
              <a:rPr lang="pt-BR"/>
              <a:t>Se for falso (alternativa): A diferença de pesos observadas em várias permutações tem valores ainda mais extremos do que aqueles que eu observo</a:t>
            </a:r>
            <a:endParaRPr/>
          </a:p>
          <a:p>
            <a:pPr indent="-317500" lvl="1" marL="914400" rtl="0" algn="l">
              <a:spcBef>
                <a:spcPts val="0"/>
              </a:spcBef>
              <a:spcAft>
                <a:spcPts val="0"/>
              </a:spcAft>
              <a:buSzPts val="1400"/>
              <a:buChar char="○"/>
            </a:pPr>
            <a:r>
              <a:rPr lang="pt-BR"/>
              <a:t>Mais extremos do que:</a:t>
            </a:r>
            <a:endParaRPr/>
          </a:p>
          <a:p>
            <a:pPr indent="-317500" lvl="2" marL="1371600" rtl="0" algn="l">
              <a:spcBef>
                <a:spcPts val="0"/>
              </a:spcBef>
              <a:spcAft>
                <a:spcPts val="0"/>
              </a:spcAft>
              <a:buSzPts val="1400"/>
              <a:buChar char="■"/>
            </a:pPr>
            <a:r>
              <a:rPr lang="pt-BR"/>
              <a:t>Média grupo B - Média grupo A</a:t>
            </a:r>
            <a:endParaRPr/>
          </a:p>
          <a:p>
            <a:pPr indent="-317500" lvl="1" marL="914400" rtl="0" algn="l">
              <a:spcBef>
                <a:spcPts val="0"/>
              </a:spcBef>
              <a:spcAft>
                <a:spcPts val="0"/>
              </a:spcAft>
              <a:buSzPts val="1400"/>
              <a:buChar char="○"/>
            </a:pPr>
            <a:r>
              <a:rPr lang="pt-BR"/>
              <a:t>Note que podemos pensar em outras alternativas:</a:t>
            </a:r>
            <a:endParaRPr/>
          </a:p>
          <a:p>
            <a:pPr indent="-317500" lvl="2" marL="1371600" rtl="0" algn="l">
              <a:spcBef>
                <a:spcPts val="0"/>
              </a:spcBef>
              <a:spcAft>
                <a:spcPts val="0"/>
              </a:spcAft>
              <a:buSzPts val="1400"/>
              <a:buChar char="■"/>
            </a:pPr>
            <a:r>
              <a:rPr lang="pt-BR" sz="1400"/>
              <a:t>Média grupo </a:t>
            </a:r>
            <a:r>
              <a:rPr lang="pt-BR"/>
              <a:t>A</a:t>
            </a:r>
            <a:r>
              <a:rPr lang="pt-BR" sz="1400"/>
              <a:t> - Média grupo </a:t>
            </a:r>
            <a:r>
              <a:rPr lang="pt-BR"/>
              <a:t>B</a:t>
            </a:r>
            <a:endParaRPr/>
          </a:p>
          <a:p>
            <a:pPr indent="-317500" lvl="2" marL="1371600" rtl="0" algn="l">
              <a:spcBef>
                <a:spcPts val="0"/>
              </a:spcBef>
              <a:spcAft>
                <a:spcPts val="0"/>
              </a:spcAft>
              <a:buSzPts val="1400"/>
              <a:buChar char="■"/>
            </a:pPr>
            <a:r>
              <a:rPr lang="pt-BR"/>
              <a:t>Média grupo A != Média grupo B</a:t>
            </a:r>
            <a:endParaRPr/>
          </a:p>
          <a:p>
            <a:pPr indent="-342900" lvl="0" marL="457200" rtl="0" algn="l">
              <a:spcBef>
                <a:spcPts val="0"/>
              </a:spcBef>
              <a:spcAft>
                <a:spcPts val="0"/>
              </a:spcAft>
              <a:buSzPts val="1800"/>
              <a:buChar char="●"/>
            </a:pPr>
            <a:r>
              <a:rPr lang="pt-BR"/>
              <a:t>Cada uma muda a cauda que estamos testando</a:t>
            </a:r>
            <a:endParaRPr/>
          </a:p>
        </p:txBody>
      </p:sp>
      <p:sp>
        <p:nvSpPr>
          <p:cNvPr id="639" name="Google Shape;639;p76"/>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Simulação no modelo nulo</a:t>
            </a:r>
            <a:endParaRPr/>
          </a:p>
        </p:txBody>
      </p:sp>
      <p:sp>
        <p:nvSpPr>
          <p:cNvPr id="640" name="Google Shape;640;p7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77"/>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Simulação no modelo nulo</a:t>
            </a:r>
            <a:endParaRPr/>
          </a:p>
        </p:txBody>
      </p:sp>
      <p:sp>
        <p:nvSpPr>
          <p:cNvPr id="646" name="Google Shape;646;p7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647" name="Google Shape;647;p77"/>
          <p:cNvSpPr txBox="1"/>
          <p:nvPr/>
        </p:nvSpPr>
        <p:spPr>
          <a:xfrm>
            <a:off x="4418325" y="596175"/>
            <a:ext cx="3000000" cy="3040500"/>
          </a:xfrm>
          <a:prstGeom prst="rect">
            <a:avLst/>
          </a:prstGeom>
          <a:noFill/>
          <a:ln>
            <a:noFill/>
          </a:ln>
        </p:spPr>
        <p:txBody>
          <a:bodyPr anchorCtr="0" anchor="t" bIns="91425" lIns="91425" spcFirstLastPara="1" rIns="91425" wrap="square" tIns="91425">
            <a:noAutofit/>
          </a:bodyPr>
          <a:lstStyle/>
          <a:p>
            <a:pPr indent="0" lvl="0" marL="114300" marR="114300" rtl="0" algn="l">
              <a:lnSpc>
                <a:spcPct val="115000"/>
              </a:lnSpc>
              <a:spcBef>
                <a:spcPts val="0"/>
              </a:spcBef>
              <a:spcAft>
                <a:spcPts val="0"/>
              </a:spcAft>
              <a:buNone/>
            </a:pPr>
            <a:r>
              <a:rPr lang="pt-BR" sz="1100">
                <a:solidFill>
                  <a:schemeClr val="dk1"/>
                </a:solidFill>
                <a:highlight>
                  <a:srgbClr val="FFFFFF"/>
                </a:highlight>
                <a:latin typeface="Consolas"/>
                <a:ea typeface="Consolas"/>
                <a:cs typeface="Consolas"/>
                <a:sym typeface="Consolas"/>
              </a:rPr>
              <a:t>Valor-P de quase zero</a:t>
            </a:r>
            <a:endParaRPr sz="1100">
              <a:solidFill>
                <a:schemeClr val="dk1"/>
              </a:solidFill>
              <a:highlight>
                <a:srgbClr val="FFFFFF"/>
              </a:highlight>
              <a:latin typeface="Consolas"/>
              <a:ea typeface="Consolas"/>
              <a:cs typeface="Consolas"/>
              <a:sym typeface="Consolas"/>
            </a:endParaRPr>
          </a:p>
          <a:p>
            <a:pPr indent="0" lvl="0" marL="114300" marR="114300" rtl="0" algn="l">
              <a:lnSpc>
                <a:spcPct val="115000"/>
              </a:lnSpc>
              <a:spcBef>
                <a:spcPts val="1800"/>
              </a:spcBef>
              <a:spcAft>
                <a:spcPts val="0"/>
              </a:spcAft>
              <a:buNone/>
            </a:pPr>
            <a:r>
              <a:rPr lang="pt-BR" sz="1100">
                <a:solidFill>
                  <a:schemeClr val="dk1"/>
                </a:solidFill>
                <a:highlight>
                  <a:srgbClr val="FFFFFF"/>
                </a:highlight>
                <a:latin typeface="Consolas"/>
                <a:ea typeface="Consolas"/>
                <a:cs typeface="Consolas"/>
                <a:sym typeface="Consolas"/>
              </a:rPr>
              <a:t>É bem raro o acaso explicar meus dados!</a:t>
            </a:r>
            <a:endParaRPr sz="1100">
              <a:solidFill>
                <a:schemeClr val="dk1"/>
              </a:solidFill>
              <a:highlight>
                <a:srgbClr val="FFFFFF"/>
              </a:highlight>
              <a:latin typeface="Consolas"/>
              <a:ea typeface="Consolas"/>
              <a:cs typeface="Consolas"/>
              <a:sym typeface="Consolas"/>
            </a:endParaRPr>
          </a:p>
          <a:p>
            <a:pPr indent="0" lvl="0" marL="0" rtl="0" algn="l">
              <a:lnSpc>
                <a:spcPct val="115000"/>
              </a:lnSpc>
              <a:spcBef>
                <a:spcPts val="1800"/>
              </a:spcBef>
              <a:spcAft>
                <a:spcPts val="900"/>
              </a:spcAft>
              <a:buNone/>
            </a:pPr>
            <a:r>
              <a:t/>
            </a:r>
            <a:endParaRPr sz="1200">
              <a:solidFill>
                <a:schemeClr val="dk1"/>
              </a:solidFill>
              <a:highlight>
                <a:srgbClr val="FFFFFF"/>
              </a:highlight>
              <a:latin typeface="Roboto"/>
              <a:ea typeface="Roboto"/>
              <a:cs typeface="Roboto"/>
              <a:sym typeface="Roboto"/>
            </a:endParaRPr>
          </a:p>
        </p:txBody>
      </p:sp>
      <p:pic>
        <p:nvPicPr>
          <p:cNvPr id="648" name="Google Shape;648;p77"/>
          <p:cNvPicPr preferRelativeResize="0"/>
          <p:nvPr/>
        </p:nvPicPr>
        <p:blipFill>
          <a:blip r:embed="rId3">
            <a:alphaModFix/>
          </a:blip>
          <a:stretch>
            <a:fillRect/>
          </a:stretch>
        </p:blipFill>
        <p:spPr>
          <a:xfrm>
            <a:off x="1661100" y="1579825"/>
            <a:ext cx="5281325" cy="338147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p78"/>
          <p:cNvPicPr preferRelativeResize="0"/>
          <p:nvPr/>
        </p:nvPicPr>
        <p:blipFill>
          <a:blip r:embed="rId3">
            <a:alphaModFix/>
          </a:blip>
          <a:stretch>
            <a:fillRect/>
          </a:stretch>
        </p:blipFill>
        <p:spPr>
          <a:xfrm>
            <a:off x="4469365" y="2461997"/>
            <a:ext cx="3675295" cy="2353189"/>
          </a:xfrm>
          <a:prstGeom prst="rect">
            <a:avLst/>
          </a:prstGeom>
          <a:noFill/>
          <a:ln>
            <a:noFill/>
          </a:ln>
        </p:spPr>
      </p:pic>
      <p:sp>
        <p:nvSpPr>
          <p:cNvPr id="654" name="Google Shape;654;p78"/>
          <p:cNvSpPr txBox="1"/>
          <p:nvPr/>
        </p:nvSpPr>
        <p:spPr>
          <a:xfrm>
            <a:off x="5662861" y="4778662"/>
            <a:ext cx="3017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latin typeface="Comfortaa"/>
                <a:ea typeface="Comfortaa"/>
                <a:cs typeface="Comfortaa"/>
                <a:sym typeface="Comfortaa"/>
              </a:rPr>
              <a:t>Permutação</a:t>
            </a:r>
            <a:endParaRPr sz="1800">
              <a:latin typeface="Comfortaa"/>
              <a:ea typeface="Comfortaa"/>
              <a:cs typeface="Comfortaa"/>
              <a:sym typeface="Comfortaa"/>
            </a:endParaRPr>
          </a:p>
        </p:txBody>
      </p:sp>
      <p:pic>
        <p:nvPicPr>
          <p:cNvPr id="655" name="Google Shape;655;p78"/>
          <p:cNvPicPr preferRelativeResize="0"/>
          <p:nvPr/>
        </p:nvPicPr>
        <p:blipFill>
          <a:blip r:embed="rId4">
            <a:alphaModFix/>
          </a:blip>
          <a:stretch>
            <a:fillRect/>
          </a:stretch>
        </p:blipFill>
        <p:spPr>
          <a:xfrm>
            <a:off x="519125" y="2551810"/>
            <a:ext cx="3406930" cy="2263370"/>
          </a:xfrm>
          <a:prstGeom prst="rect">
            <a:avLst/>
          </a:prstGeom>
          <a:noFill/>
          <a:ln>
            <a:noFill/>
          </a:ln>
        </p:spPr>
      </p:pic>
      <p:sp>
        <p:nvSpPr>
          <p:cNvPr id="656" name="Google Shape;656;p78"/>
          <p:cNvSpPr txBox="1"/>
          <p:nvPr/>
        </p:nvSpPr>
        <p:spPr>
          <a:xfrm>
            <a:off x="1001690" y="4710677"/>
            <a:ext cx="3017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latin typeface="Comfortaa"/>
                <a:ea typeface="Comfortaa"/>
                <a:cs typeface="Comfortaa"/>
                <a:sym typeface="Comfortaa"/>
              </a:rPr>
              <a:t>Bootstrap</a:t>
            </a:r>
            <a:endParaRPr sz="1800">
              <a:latin typeface="Comfortaa"/>
              <a:ea typeface="Comfortaa"/>
              <a:cs typeface="Comfortaa"/>
              <a:sym typeface="Comfortaa"/>
            </a:endParaRPr>
          </a:p>
        </p:txBody>
      </p:sp>
      <p:sp>
        <p:nvSpPr>
          <p:cNvPr id="657" name="Google Shape;657;p78"/>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Comparando a Permutação e o Bootstrap</a:t>
            </a:r>
            <a:endParaRPr/>
          </a:p>
        </p:txBody>
      </p:sp>
      <p:sp>
        <p:nvSpPr>
          <p:cNvPr id="658" name="Google Shape;658;p78"/>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No Bootstrap, se o zero for explicado pelo acaso → não rejeitar</a:t>
            </a:r>
            <a:endParaRPr/>
          </a:p>
          <a:p>
            <a:pPr indent="-317500" lvl="1" marL="914400" rtl="0" algn="l">
              <a:spcBef>
                <a:spcPts val="0"/>
              </a:spcBef>
              <a:spcAft>
                <a:spcPts val="0"/>
              </a:spcAft>
              <a:buSzPts val="1400"/>
              <a:buChar char="○"/>
            </a:pPr>
            <a:r>
              <a:rPr lang="pt-BR">
                <a:highlight>
                  <a:srgbClr val="FFF2CC"/>
                </a:highlight>
              </a:rPr>
              <a:t>O bootstrap está computando o IC da diferença, se não tem o zero indica diferença</a:t>
            </a:r>
            <a:endParaRPr>
              <a:highlight>
                <a:srgbClr val="FFF2CC"/>
              </a:highlight>
            </a:endParaRPr>
          </a:p>
          <a:p>
            <a:pPr indent="-342900" lvl="0" marL="457200" rtl="0" algn="l">
              <a:spcBef>
                <a:spcPts val="0"/>
              </a:spcBef>
              <a:spcAft>
                <a:spcPts val="0"/>
              </a:spcAft>
              <a:buSzPts val="1800"/>
              <a:buChar char="●"/>
            </a:pPr>
            <a:r>
              <a:rPr lang="pt-BR"/>
              <a:t>Na permutação é o contrário.</a:t>
            </a:r>
            <a:endParaRPr/>
          </a:p>
          <a:p>
            <a:pPr indent="-317500" lvl="1" marL="914400" rtl="0" algn="l">
              <a:spcBef>
                <a:spcPts val="0"/>
              </a:spcBef>
              <a:spcAft>
                <a:spcPts val="0"/>
              </a:spcAft>
              <a:buSzPts val="1400"/>
              <a:buChar char="○"/>
            </a:pPr>
            <a:r>
              <a:rPr lang="pt-BR">
                <a:highlight>
                  <a:srgbClr val="D9D2E9"/>
                </a:highlight>
              </a:rPr>
              <a:t>A permutação está dizendo que a associação entre fumar e peso vem do caso</a:t>
            </a:r>
            <a:endParaRPr>
              <a:highlight>
                <a:srgbClr val="D9D2E9"/>
              </a:highlight>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pic>
        <p:nvPicPr>
          <p:cNvPr id="663" name="Google Shape;663;p79"/>
          <p:cNvPicPr preferRelativeResize="0"/>
          <p:nvPr/>
        </p:nvPicPr>
        <p:blipFill>
          <a:blip r:embed="rId3">
            <a:alphaModFix/>
          </a:blip>
          <a:stretch>
            <a:fillRect/>
          </a:stretch>
        </p:blipFill>
        <p:spPr>
          <a:xfrm>
            <a:off x="4469365" y="2461997"/>
            <a:ext cx="3675295" cy="2353189"/>
          </a:xfrm>
          <a:prstGeom prst="rect">
            <a:avLst/>
          </a:prstGeom>
          <a:noFill/>
          <a:ln>
            <a:noFill/>
          </a:ln>
        </p:spPr>
      </p:pic>
      <p:sp>
        <p:nvSpPr>
          <p:cNvPr id="664" name="Google Shape;664;p79"/>
          <p:cNvSpPr txBox="1"/>
          <p:nvPr/>
        </p:nvSpPr>
        <p:spPr>
          <a:xfrm>
            <a:off x="5662861" y="4778662"/>
            <a:ext cx="3017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latin typeface="Comfortaa"/>
                <a:ea typeface="Comfortaa"/>
                <a:cs typeface="Comfortaa"/>
                <a:sym typeface="Comfortaa"/>
              </a:rPr>
              <a:t>Permutação</a:t>
            </a:r>
            <a:endParaRPr sz="1800">
              <a:latin typeface="Comfortaa"/>
              <a:ea typeface="Comfortaa"/>
              <a:cs typeface="Comfortaa"/>
              <a:sym typeface="Comfortaa"/>
            </a:endParaRPr>
          </a:p>
        </p:txBody>
      </p:sp>
      <p:pic>
        <p:nvPicPr>
          <p:cNvPr id="665" name="Google Shape;665;p79"/>
          <p:cNvPicPr preferRelativeResize="0"/>
          <p:nvPr/>
        </p:nvPicPr>
        <p:blipFill>
          <a:blip r:embed="rId4">
            <a:alphaModFix/>
          </a:blip>
          <a:stretch>
            <a:fillRect/>
          </a:stretch>
        </p:blipFill>
        <p:spPr>
          <a:xfrm>
            <a:off x="519125" y="2551810"/>
            <a:ext cx="3406930" cy="2263370"/>
          </a:xfrm>
          <a:prstGeom prst="rect">
            <a:avLst/>
          </a:prstGeom>
          <a:noFill/>
          <a:ln>
            <a:noFill/>
          </a:ln>
        </p:spPr>
      </p:pic>
      <p:sp>
        <p:nvSpPr>
          <p:cNvPr id="666" name="Google Shape;666;p79"/>
          <p:cNvSpPr txBox="1"/>
          <p:nvPr/>
        </p:nvSpPr>
        <p:spPr>
          <a:xfrm>
            <a:off x="1001690" y="4710677"/>
            <a:ext cx="3017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latin typeface="Comfortaa"/>
                <a:ea typeface="Comfortaa"/>
                <a:cs typeface="Comfortaa"/>
                <a:sym typeface="Comfortaa"/>
              </a:rPr>
              <a:t>Bootstrap</a:t>
            </a:r>
            <a:endParaRPr sz="1800">
              <a:latin typeface="Comfortaa"/>
              <a:ea typeface="Comfortaa"/>
              <a:cs typeface="Comfortaa"/>
              <a:sym typeface="Comfortaa"/>
            </a:endParaRPr>
          </a:p>
        </p:txBody>
      </p:sp>
      <p:sp>
        <p:nvSpPr>
          <p:cNvPr id="667" name="Google Shape;667;p79"/>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Comparando a Permutação e o Bootstrap</a:t>
            </a:r>
            <a:endParaRPr/>
          </a:p>
        </p:txBody>
      </p:sp>
      <p:sp>
        <p:nvSpPr>
          <p:cNvPr id="668" name="Google Shape;668;p79"/>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A mensagem aqui é você pensar no seu modelo nulo</a:t>
            </a:r>
            <a:endParaRPr/>
          </a:p>
          <a:p>
            <a:pPr indent="-342900" lvl="0" marL="457200" rtl="0" algn="l">
              <a:spcBef>
                <a:spcPts val="0"/>
              </a:spcBef>
              <a:spcAft>
                <a:spcPts val="0"/>
              </a:spcAft>
              <a:buSzPts val="1800"/>
              <a:buChar char="●"/>
            </a:pPr>
            <a:r>
              <a:rPr lang="pt-BR"/>
              <a:t>Interpretar o resultado com base no mesmo</a:t>
            </a:r>
            <a:endParaRPr/>
          </a:p>
          <a:p>
            <a:pPr indent="-342900" lvl="0" marL="457200" rtl="0" algn="l">
              <a:spcBef>
                <a:spcPts val="0"/>
              </a:spcBef>
              <a:spcAft>
                <a:spcPts val="0"/>
              </a:spcAft>
              <a:buSzPts val="1800"/>
              <a:buChar char="●"/>
            </a:pPr>
            <a:r>
              <a:rPr lang="pt-BR"/>
              <a:t>Podemos ter mais de um modelo para o mesmo problema</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80"/>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Testes A/B (2)</a:t>
            </a:r>
            <a:endParaRPr/>
          </a:p>
        </p:txBody>
      </p:sp>
      <p:sp>
        <p:nvSpPr>
          <p:cNvPr id="674" name="Google Shape;674;p80"/>
          <p:cNvSpPr txBox="1"/>
          <p:nvPr>
            <p:ph idx="1" type="body"/>
          </p:nvPr>
        </p:nvSpPr>
        <p:spPr>
          <a:xfrm>
            <a:off x="311700" y="1039300"/>
            <a:ext cx="8520600" cy="34164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pt-BR"/>
              <a:t>Estamos simulando de uma população</a:t>
            </a:r>
            <a:endParaRPr/>
          </a:p>
          <a:p>
            <a:pPr indent="-342900" lvl="0" marL="457200" marR="0" rtl="0" algn="l">
              <a:lnSpc>
                <a:spcPct val="115000"/>
              </a:lnSpc>
              <a:spcBef>
                <a:spcPts val="0"/>
              </a:spcBef>
              <a:spcAft>
                <a:spcPts val="0"/>
              </a:spcAft>
              <a:buSzPts val="1800"/>
              <a:buChar char="●"/>
            </a:pPr>
            <a:r>
              <a:rPr lang="pt-BR"/>
              <a:t>Vamos voltar para o caso de testes A/B</a:t>
            </a:r>
            <a:endParaRPr/>
          </a:p>
          <a:p>
            <a:pPr indent="-342900" lvl="0" marL="457200" marR="0" rtl="0" algn="l">
              <a:lnSpc>
                <a:spcPct val="115000"/>
              </a:lnSpc>
              <a:spcBef>
                <a:spcPts val="0"/>
              </a:spcBef>
              <a:spcAft>
                <a:spcPts val="0"/>
              </a:spcAft>
              <a:buSzPts val="1800"/>
              <a:buChar char="●"/>
            </a:pPr>
            <a:r>
              <a:rPr lang="pt-BR"/>
              <a:t>Comparar dois salários médios</a:t>
            </a:r>
            <a:endParaRPr/>
          </a:p>
        </p:txBody>
      </p:sp>
      <p:sp>
        <p:nvSpPr>
          <p:cNvPr id="675" name="Google Shape;675;p8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676" name="Google Shape;676;p80"/>
          <p:cNvPicPr preferRelativeResize="0"/>
          <p:nvPr/>
        </p:nvPicPr>
        <p:blipFill>
          <a:blip r:embed="rId3">
            <a:alphaModFix/>
          </a:blip>
          <a:stretch>
            <a:fillRect/>
          </a:stretch>
        </p:blipFill>
        <p:spPr>
          <a:xfrm>
            <a:off x="2251188" y="2634063"/>
            <a:ext cx="1905000" cy="1590675"/>
          </a:xfrm>
          <a:prstGeom prst="rect">
            <a:avLst/>
          </a:prstGeom>
          <a:noFill/>
          <a:ln>
            <a:noFill/>
          </a:ln>
        </p:spPr>
      </p:pic>
      <p:pic>
        <p:nvPicPr>
          <p:cNvPr id="677" name="Google Shape;677;p80"/>
          <p:cNvPicPr preferRelativeResize="0"/>
          <p:nvPr/>
        </p:nvPicPr>
        <p:blipFill>
          <a:blip r:embed="rId4">
            <a:alphaModFix/>
          </a:blip>
          <a:stretch>
            <a:fillRect/>
          </a:stretch>
        </p:blipFill>
        <p:spPr>
          <a:xfrm>
            <a:off x="4505263" y="2235638"/>
            <a:ext cx="2387550" cy="23875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81"/>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Testes A/B (2)</a:t>
            </a:r>
            <a:endParaRPr/>
          </a:p>
        </p:txBody>
      </p:sp>
      <p:sp>
        <p:nvSpPr>
          <p:cNvPr id="683" name="Google Shape;683;p81"/>
          <p:cNvSpPr txBox="1"/>
          <p:nvPr>
            <p:ph idx="1" type="body"/>
          </p:nvPr>
        </p:nvSpPr>
        <p:spPr>
          <a:xfrm>
            <a:off x="311700" y="1039300"/>
            <a:ext cx="8520600" cy="34164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pt-BR"/>
              <a:t>Estamos simulando de uma população</a:t>
            </a:r>
            <a:endParaRPr/>
          </a:p>
          <a:p>
            <a:pPr indent="-342900" lvl="0" marL="457200" marR="0" rtl="0" algn="l">
              <a:lnSpc>
                <a:spcPct val="115000"/>
              </a:lnSpc>
              <a:spcBef>
                <a:spcPts val="0"/>
              </a:spcBef>
              <a:spcAft>
                <a:spcPts val="0"/>
              </a:spcAft>
              <a:buSzPts val="1800"/>
              <a:buChar char="●"/>
            </a:pPr>
            <a:r>
              <a:rPr lang="pt-BR"/>
              <a:t>Vamos voltar para o caso de testes A/B</a:t>
            </a:r>
            <a:endParaRPr/>
          </a:p>
          <a:p>
            <a:pPr indent="-342900" lvl="0" marL="457200" marR="0" rtl="0" algn="l">
              <a:lnSpc>
                <a:spcPct val="115000"/>
              </a:lnSpc>
              <a:spcBef>
                <a:spcPts val="0"/>
              </a:spcBef>
              <a:spcAft>
                <a:spcPts val="0"/>
              </a:spcAft>
              <a:buSzPts val="1800"/>
              <a:buChar char="●"/>
            </a:pPr>
            <a:r>
              <a:rPr lang="pt-BR"/>
              <a:t>Como criar um modelo </a:t>
            </a:r>
            <a:r>
              <a:rPr b="1" lang="pt-BR">
                <a:solidFill>
                  <a:schemeClr val="dk1"/>
                </a:solidFill>
              </a:rPr>
              <a:t>nulo?</a:t>
            </a:r>
            <a:endParaRPr b="1">
              <a:solidFill>
                <a:schemeClr val="dk1"/>
              </a:solidFill>
            </a:endParaRPr>
          </a:p>
        </p:txBody>
      </p:sp>
      <p:sp>
        <p:nvSpPr>
          <p:cNvPr id="684" name="Google Shape;684;p8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685" name="Google Shape;685;p81"/>
          <p:cNvPicPr preferRelativeResize="0"/>
          <p:nvPr/>
        </p:nvPicPr>
        <p:blipFill>
          <a:blip r:embed="rId3">
            <a:alphaModFix/>
          </a:blip>
          <a:stretch>
            <a:fillRect/>
          </a:stretch>
        </p:blipFill>
        <p:spPr>
          <a:xfrm>
            <a:off x="2251188" y="2634063"/>
            <a:ext cx="1905000" cy="1590675"/>
          </a:xfrm>
          <a:prstGeom prst="rect">
            <a:avLst/>
          </a:prstGeom>
          <a:noFill/>
          <a:ln>
            <a:noFill/>
          </a:ln>
        </p:spPr>
      </p:pic>
      <p:pic>
        <p:nvPicPr>
          <p:cNvPr id="686" name="Google Shape;686;p81"/>
          <p:cNvPicPr preferRelativeResize="0"/>
          <p:nvPr/>
        </p:nvPicPr>
        <p:blipFill>
          <a:blip r:embed="rId4">
            <a:alphaModFix/>
          </a:blip>
          <a:stretch>
            <a:fillRect/>
          </a:stretch>
        </p:blipFill>
        <p:spPr>
          <a:xfrm>
            <a:off x="4505263" y="2235638"/>
            <a:ext cx="2387550" cy="238755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82"/>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Testes A/B (2)</a:t>
            </a:r>
            <a:endParaRPr/>
          </a:p>
        </p:txBody>
      </p:sp>
      <p:sp>
        <p:nvSpPr>
          <p:cNvPr id="692" name="Google Shape;692;p82"/>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Serve para comparar dois grupos</a:t>
            </a:r>
            <a:endParaRPr/>
          </a:p>
          <a:p>
            <a:pPr indent="-342900" lvl="0" marL="457200" rtl="0" algn="l">
              <a:spcBef>
                <a:spcPts val="1600"/>
              </a:spcBef>
              <a:spcAft>
                <a:spcPts val="0"/>
              </a:spcAft>
              <a:buSzPts val="1800"/>
              <a:buAutoNum type="arabicPeriod"/>
            </a:pPr>
            <a:r>
              <a:rPr lang="pt-BR"/>
              <a:t>Trocar pessoas do grupo A para o grupo B</a:t>
            </a:r>
            <a:endParaRPr/>
          </a:p>
          <a:p>
            <a:pPr indent="-342900" lvl="0" marL="457200" rtl="0" algn="l">
              <a:spcBef>
                <a:spcPts val="0"/>
              </a:spcBef>
              <a:spcAft>
                <a:spcPts val="0"/>
              </a:spcAft>
              <a:buSzPts val="1800"/>
              <a:buAutoNum type="arabicPeriod"/>
            </a:pPr>
            <a:r>
              <a:rPr lang="pt-BR"/>
              <a:t>Computar alguma estatística</a:t>
            </a:r>
            <a:endParaRPr/>
          </a:p>
          <a:p>
            <a:pPr indent="-342900" lvl="0" marL="457200" rtl="0" algn="l">
              <a:spcBef>
                <a:spcPts val="0"/>
              </a:spcBef>
              <a:spcAft>
                <a:spcPts val="0"/>
              </a:spcAft>
              <a:buSzPts val="1800"/>
              <a:buAutoNum type="arabicPeriod"/>
            </a:pPr>
            <a:r>
              <a:rPr lang="pt-BR"/>
              <a:t>Repetir muitas vezes</a:t>
            </a:r>
            <a:endParaRPr/>
          </a:p>
        </p:txBody>
      </p:sp>
      <p:sp>
        <p:nvSpPr>
          <p:cNvPr id="693" name="Google Shape;693;p8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83"/>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Teste de Permutação em Texto</a:t>
            </a:r>
            <a:endParaRPr/>
          </a:p>
        </p:txBody>
      </p:sp>
      <p:sp>
        <p:nvSpPr>
          <p:cNvPr id="699" name="Google Shape;699;p83"/>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pt-BR"/>
              <a:t>Ao assumir que fazer parte de um grupo/time é um fator uniformemente aleatório (por isso fazemos as trocas), vamos mensurar as diferenças de salários no mundo aleatório. </a:t>
            </a:r>
            <a:r>
              <a:rPr b="1" lang="pt-BR">
                <a:solidFill>
                  <a:schemeClr val="dk1"/>
                </a:solidFill>
              </a:rPr>
              <a:t>Então, a hipótese nula é de seleção uniforme!</a:t>
            </a:r>
            <a:r>
              <a:rPr lang="pt-BR"/>
              <a:t> </a:t>
            </a:r>
            <a:r>
              <a:rPr b="1" lang="pt-BR">
                <a:solidFill>
                  <a:schemeClr val="dk1"/>
                </a:solidFill>
              </a:rPr>
              <a:t>Caso a chance desta diferença ser superior ao valor real for acima do que 5%, </a:t>
            </a:r>
            <a:r>
              <a:rPr lang="pt-BR"/>
              <a:t>o mundo aleatório é factível.</a:t>
            </a:r>
            <a:endParaRPr/>
          </a:p>
        </p:txBody>
      </p:sp>
      <p:sp>
        <p:nvSpPr>
          <p:cNvPr id="700" name="Google Shape;700;p8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84"/>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Hipótese</a:t>
            </a:r>
            <a:endParaRPr/>
          </a:p>
        </p:txBody>
      </p:sp>
      <p:sp>
        <p:nvSpPr>
          <p:cNvPr id="706" name="Google Shape;706;p84"/>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H0: Hipótese Nula</a:t>
            </a:r>
            <a:br>
              <a:rPr lang="pt-BR"/>
            </a:br>
            <a:r>
              <a:rPr lang="pt-BR"/>
              <a:t>	Salário Médio Cleveland = Salário Médio Houston</a:t>
            </a:r>
            <a:endParaRPr/>
          </a:p>
          <a:p>
            <a:pPr indent="0" lvl="0" marL="0" rtl="0" algn="l">
              <a:spcBef>
                <a:spcPts val="1600"/>
              </a:spcBef>
              <a:spcAft>
                <a:spcPts val="1600"/>
              </a:spcAft>
              <a:buNone/>
            </a:pPr>
            <a:r>
              <a:rPr lang="pt-BR"/>
              <a:t>Se forem iguais, os salários não dependem de jogadores particulares.</a:t>
            </a:r>
            <a:endParaRPr/>
          </a:p>
        </p:txBody>
      </p:sp>
      <p:sp>
        <p:nvSpPr>
          <p:cNvPr id="707" name="Google Shape;707;p8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85"/>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Dados</a:t>
            </a:r>
            <a:endParaRPr/>
          </a:p>
        </p:txBody>
      </p:sp>
      <p:sp>
        <p:nvSpPr>
          <p:cNvPr id="713" name="Google Shape;713;p85"/>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O código tem um</a:t>
            </a:r>
            <a:br>
              <a:rPr lang="pt-BR"/>
            </a:br>
            <a:r>
              <a:rPr lang="pt-BR"/>
              <a:t>pouco de magia</a:t>
            </a:r>
            <a:br>
              <a:rPr lang="pt-BR"/>
            </a:br>
            <a:r>
              <a:rPr lang="pt-BR"/>
              <a:t>Pandas para filtrar</a:t>
            </a:r>
            <a:br>
              <a:rPr lang="pt-BR"/>
            </a:br>
            <a:endParaRPr/>
          </a:p>
          <a:p>
            <a:pPr indent="-342900" lvl="0" marL="457200" rtl="0" algn="l">
              <a:spcBef>
                <a:spcPts val="0"/>
              </a:spcBef>
              <a:spcAft>
                <a:spcPts val="0"/>
              </a:spcAft>
              <a:buSzPts val="1800"/>
              <a:buChar char="●"/>
            </a:pPr>
            <a:r>
              <a:rPr lang="pt-BR"/>
              <a:t>Resumindo, estou</a:t>
            </a:r>
            <a:br>
              <a:rPr lang="pt-BR"/>
            </a:br>
            <a:r>
              <a:rPr lang="pt-BR"/>
              <a:t>apenas pegando</a:t>
            </a:r>
            <a:br>
              <a:rPr lang="pt-BR"/>
            </a:br>
            <a:r>
              <a:rPr lang="pt-BR"/>
              <a:t>os dois times de</a:t>
            </a:r>
            <a:br>
              <a:rPr lang="pt-BR"/>
            </a:br>
            <a:r>
              <a:rPr lang="pt-BR"/>
              <a:t>interesse</a:t>
            </a:r>
            <a:endParaRPr/>
          </a:p>
        </p:txBody>
      </p:sp>
      <p:sp>
        <p:nvSpPr>
          <p:cNvPr id="714" name="Google Shape;714;p8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715" name="Google Shape;715;p85"/>
          <p:cNvPicPr preferRelativeResize="0"/>
          <p:nvPr/>
        </p:nvPicPr>
        <p:blipFill>
          <a:blip r:embed="rId3">
            <a:alphaModFix/>
          </a:blip>
          <a:stretch>
            <a:fillRect/>
          </a:stretch>
        </p:blipFill>
        <p:spPr>
          <a:xfrm>
            <a:off x="3065863" y="0"/>
            <a:ext cx="6078126" cy="461972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86"/>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Qual é o problema?</a:t>
            </a:r>
            <a:endParaRPr/>
          </a:p>
        </p:txBody>
      </p:sp>
      <p:sp>
        <p:nvSpPr>
          <p:cNvPr id="721" name="Google Shape;721;p86"/>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Comparar dois salários médios.</a:t>
            </a:r>
            <a:endParaRPr/>
          </a:p>
        </p:txBody>
      </p:sp>
      <p:sp>
        <p:nvSpPr>
          <p:cNvPr id="722" name="Google Shape;722;p8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723" name="Google Shape;723;p86"/>
          <p:cNvPicPr preferRelativeResize="0"/>
          <p:nvPr/>
        </p:nvPicPr>
        <p:blipFill>
          <a:blip r:embed="rId3">
            <a:alphaModFix/>
          </a:blip>
          <a:stretch>
            <a:fillRect/>
          </a:stretch>
        </p:blipFill>
        <p:spPr>
          <a:xfrm>
            <a:off x="825200" y="1852097"/>
            <a:ext cx="1376850" cy="1149650"/>
          </a:xfrm>
          <a:prstGeom prst="rect">
            <a:avLst/>
          </a:prstGeom>
          <a:noFill/>
          <a:ln>
            <a:noFill/>
          </a:ln>
        </p:spPr>
      </p:pic>
      <p:pic>
        <p:nvPicPr>
          <p:cNvPr id="724" name="Google Shape;724;p86"/>
          <p:cNvPicPr preferRelativeResize="0"/>
          <p:nvPr/>
        </p:nvPicPr>
        <p:blipFill>
          <a:blip r:embed="rId4">
            <a:alphaModFix/>
          </a:blip>
          <a:stretch>
            <a:fillRect/>
          </a:stretch>
        </p:blipFill>
        <p:spPr>
          <a:xfrm>
            <a:off x="7455450" y="1852100"/>
            <a:ext cx="1376850" cy="1376850"/>
          </a:xfrm>
          <a:prstGeom prst="rect">
            <a:avLst/>
          </a:prstGeom>
          <a:noFill/>
          <a:ln>
            <a:noFill/>
          </a:ln>
        </p:spPr>
      </p:pic>
      <p:pic>
        <p:nvPicPr>
          <p:cNvPr id="725" name="Google Shape;725;p86"/>
          <p:cNvPicPr preferRelativeResize="0"/>
          <p:nvPr/>
        </p:nvPicPr>
        <p:blipFill>
          <a:blip r:embed="rId5">
            <a:alphaModFix/>
          </a:blip>
          <a:stretch>
            <a:fillRect/>
          </a:stretch>
        </p:blipFill>
        <p:spPr>
          <a:xfrm>
            <a:off x="1752850" y="3228950"/>
            <a:ext cx="904750" cy="904750"/>
          </a:xfrm>
          <a:prstGeom prst="rect">
            <a:avLst/>
          </a:prstGeom>
          <a:noFill/>
          <a:ln>
            <a:noFill/>
          </a:ln>
        </p:spPr>
      </p:pic>
      <p:pic>
        <p:nvPicPr>
          <p:cNvPr id="726" name="Google Shape;726;p86"/>
          <p:cNvPicPr preferRelativeResize="0"/>
          <p:nvPr/>
        </p:nvPicPr>
        <p:blipFill>
          <a:blip r:embed="rId6">
            <a:alphaModFix/>
          </a:blip>
          <a:stretch>
            <a:fillRect/>
          </a:stretch>
        </p:blipFill>
        <p:spPr>
          <a:xfrm>
            <a:off x="2380925" y="2119626"/>
            <a:ext cx="1161075" cy="841800"/>
          </a:xfrm>
          <a:prstGeom prst="rect">
            <a:avLst/>
          </a:prstGeom>
          <a:noFill/>
          <a:ln>
            <a:noFill/>
          </a:ln>
        </p:spPr>
      </p:pic>
      <p:pic>
        <p:nvPicPr>
          <p:cNvPr id="727" name="Google Shape;727;p86"/>
          <p:cNvPicPr preferRelativeResize="0"/>
          <p:nvPr/>
        </p:nvPicPr>
        <p:blipFill>
          <a:blip r:embed="rId7">
            <a:alphaModFix/>
          </a:blip>
          <a:stretch>
            <a:fillRect/>
          </a:stretch>
        </p:blipFill>
        <p:spPr>
          <a:xfrm>
            <a:off x="311700" y="3077425"/>
            <a:ext cx="1245768" cy="904750"/>
          </a:xfrm>
          <a:prstGeom prst="rect">
            <a:avLst/>
          </a:prstGeom>
          <a:noFill/>
          <a:ln>
            <a:noFill/>
          </a:ln>
        </p:spPr>
      </p:pic>
      <p:pic>
        <p:nvPicPr>
          <p:cNvPr id="728" name="Google Shape;728;p86"/>
          <p:cNvPicPr preferRelativeResize="0"/>
          <p:nvPr/>
        </p:nvPicPr>
        <p:blipFill>
          <a:blip r:embed="rId8">
            <a:alphaModFix/>
          </a:blip>
          <a:stretch>
            <a:fillRect/>
          </a:stretch>
        </p:blipFill>
        <p:spPr>
          <a:xfrm>
            <a:off x="6209672" y="1973260"/>
            <a:ext cx="1245775" cy="907328"/>
          </a:xfrm>
          <a:prstGeom prst="rect">
            <a:avLst/>
          </a:prstGeom>
          <a:noFill/>
          <a:ln>
            <a:noFill/>
          </a:ln>
        </p:spPr>
      </p:pic>
      <p:pic>
        <p:nvPicPr>
          <p:cNvPr id="729" name="Google Shape;729;p86"/>
          <p:cNvPicPr preferRelativeResize="0"/>
          <p:nvPr/>
        </p:nvPicPr>
        <p:blipFill>
          <a:blip r:embed="rId9">
            <a:alphaModFix/>
          </a:blip>
          <a:stretch>
            <a:fillRect/>
          </a:stretch>
        </p:blipFill>
        <p:spPr>
          <a:xfrm>
            <a:off x="7320650" y="3344856"/>
            <a:ext cx="1376850" cy="998220"/>
          </a:xfrm>
          <a:prstGeom prst="rect">
            <a:avLst/>
          </a:prstGeom>
          <a:noFill/>
          <a:ln>
            <a:noFill/>
          </a:ln>
        </p:spPr>
      </p:pic>
      <p:pic>
        <p:nvPicPr>
          <p:cNvPr id="730" name="Google Shape;730;p86"/>
          <p:cNvPicPr preferRelativeResize="0"/>
          <p:nvPr/>
        </p:nvPicPr>
        <p:blipFill>
          <a:blip r:embed="rId10">
            <a:alphaModFix/>
          </a:blip>
          <a:stretch>
            <a:fillRect/>
          </a:stretch>
        </p:blipFill>
        <p:spPr>
          <a:xfrm>
            <a:off x="5703450" y="3137487"/>
            <a:ext cx="1498250" cy="1087675"/>
          </a:xfrm>
          <a:prstGeom prst="rect">
            <a:avLst/>
          </a:prstGeom>
          <a:noFill/>
          <a:ln>
            <a:noFill/>
          </a:ln>
        </p:spPr>
      </p:pic>
      <p:sp>
        <p:nvSpPr>
          <p:cNvPr id="731" name="Google Shape;731;p86"/>
          <p:cNvSpPr txBox="1"/>
          <p:nvPr/>
        </p:nvSpPr>
        <p:spPr>
          <a:xfrm>
            <a:off x="2852975" y="3394950"/>
            <a:ext cx="1376700" cy="572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t-BR" sz="1800">
                <a:solidFill>
                  <a:schemeClr val="dk1"/>
                </a:solidFill>
                <a:latin typeface="Consolas"/>
                <a:ea typeface="Consolas"/>
                <a:cs typeface="Consolas"/>
                <a:sym typeface="Consolas"/>
              </a:rPr>
              <a:t> $ 10.23M</a:t>
            </a:r>
            <a:endParaRPr b="1" sz="1800">
              <a:solidFill>
                <a:schemeClr val="dk1"/>
              </a:solidFill>
              <a:latin typeface="Consolas"/>
              <a:ea typeface="Consolas"/>
              <a:cs typeface="Consolas"/>
              <a:sym typeface="Consolas"/>
            </a:endParaRPr>
          </a:p>
        </p:txBody>
      </p:sp>
      <p:sp>
        <p:nvSpPr>
          <p:cNvPr id="732" name="Google Shape;732;p86"/>
          <p:cNvSpPr txBox="1"/>
          <p:nvPr/>
        </p:nvSpPr>
        <p:spPr>
          <a:xfrm>
            <a:off x="6078750" y="1155738"/>
            <a:ext cx="1376700" cy="572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t-BR" sz="1800">
                <a:solidFill>
                  <a:srgbClr val="FF0000"/>
                </a:solidFill>
                <a:latin typeface="Consolas"/>
                <a:ea typeface="Consolas"/>
                <a:cs typeface="Consolas"/>
                <a:sym typeface="Consolas"/>
              </a:rPr>
              <a:t> $ 7.10M</a:t>
            </a:r>
            <a:endParaRPr b="1" sz="1800">
              <a:solidFill>
                <a:srgbClr val="FF0000"/>
              </a:solidFill>
              <a:latin typeface="Consolas"/>
              <a:ea typeface="Consolas"/>
              <a:cs typeface="Consolas"/>
              <a:sym typeface="Consola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87"/>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Vamos iniciar</a:t>
            </a:r>
            <a:endParaRPr/>
          </a:p>
        </p:txBody>
      </p:sp>
      <p:sp>
        <p:nvSpPr>
          <p:cNvPr id="738" name="Google Shape;738;p87"/>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Primeira permutação</a:t>
            </a:r>
            <a:endParaRPr/>
          </a:p>
        </p:txBody>
      </p:sp>
      <p:sp>
        <p:nvSpPr>
          <p:cNvPr id="739" name="Google Shape;739;p8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740" name="Google Shape;740;p87"/>
          <p:cNvPicPr preferRelativeResize="0"/>
          <p:nvPr/>
        </p:nvPicPr>
        <p:blipFill>
          <a:blip r:embed="rId3">
            <a:alphaModFix/>
          </a:blip>
          <a:stretch>
            <a:fillRect/>
          </a:stretch>
        </p:blipFill>
        <p:spPr>
          <a:xfrm>
            <a:off x="825200" y="1852097"/>
            <a:ext cx="1376850" cy="1149650"/>
          </a:xfrm>
          <a:prstGeom prst="rect">
            <a:avLst/>
          </a:prstGeom>
          <a:noFill/>
          <a:ln>
            <a:noFill/>
          </a:ln>
        </p:spPr>
      </p:pic>
      <p:pic>
        <p:nvPicPr>
          <p:cNvPr id="741" name="Google Shape;741;p87"/>
          <p:cNvPicPr preferRelativeResize="0"/>
          <p:nvPr/>
        </p:nvPicPr>
        <p:blipFill>
          <a:blip r:embed="rId4">
            <a:alphaModFix/>
          </a:blip>
          <a:stretch>
            <a:fillRect/>
          </a:stretch>
        </p:blipFill>
        <p:spPr>
          <a:xfrm>
            <a:off x="7455450" y="1852100"/>
            <a:ext cx="1376850" cy="1376850"/>
          </a:xfrm>
          <a:prstGeom prst="rect">
            <a:avLst/>
          </a:prstGeom>
          <a:noFill/>
          <a:ln>
            <a:noFill/>
          </a:ln>
        </p:spPr>
      </p:pic>
      <p:pic>
        <p:nvPicPr>
          <p:cNvPr id="742" name="Google Shape;742;p87"/>
          <p:cNvPicPr preferRelativeResize="0"/>
          <p:nvPr/>
        </p:nvPicPr>
        <p:blipFill>
          <a:blip r:embed="rId5">
            <a:alphaModFix/>
          </a:blip>
          <a:stretch>
            <a:fillRect/>
          </a:stretch>
        </p:blipFill>
        <p:spPr>
          <a:xfrm>
            <a:off x="1752850" y="3228950"/>
            <a:ext cx="904750" cy="904750"/>
          </a:xfrm>
          <a:prstGeom prst="rect">
            <a:avLst/>
          </a:prstGeom>
          <a:noFill/>
          <a:ln>
            <a:noFill/>
          </a:ln>
        </p:spPr>
      </p:pic>
      <p:pic>
        <p:nvPicPr>
          <p:cNvPr id="743" name="Google Shape;743;p87"/>
          <p:cNvPicPr preferRelativeResize="0"/>
          <p:nvPr/>
        </p:nvPicPr>
        <p:blipFill>
          <a:blip r:embed="rId6">
            <a:alphaModFix/>
          </a:blip>
          <a:stretch>
            <a:fillRect/>
          </a:stretch>
        </p:blipFill>
        <p:spPr>
          <a:xfrm>
            <a:off x="2380925" y="2119626"/>
            <a:ext cx="1161075" cy="841800"/>
          </a:xfrm>
          <a:prstGeom prst="rect">
            <a:avLst/>
          </a:prstGeom>
          <a:noFill/>
          <a:ln>
            <a:noFill/>
          </a:ln>
        </p:spPr>
      </p:pic>
      <p:pic>
        <p:nvPicPr>
          <p:cNvPr id="744" name="Google Shape;744;p87"/>
          <p:cNvPicPr preferRelativeResize="0"/>
          <p:nvPr/>
        </p:nvPicPr>
        <p:blipFill>
          <a:blip r:embed="rId7">
            <a:alphaModFix/>
          </a:blip>
          <a:stretch>
            <a:fillRect/>
          </a:stretch>
        </p:blipFill>
        <p:spPr>
          <a:xfrm>
            <a:off x="311700" y="3077425"/>
            <a:ext cx="1245768" cy="904750"/>
          </a:xfrm>
          <a:prstGeom prst="rect">
            <a:avLst/>
          </a:prstGeom>
          <a:noFill/>
          <a:ln>
            <a:noFill/>
          </a:ln>
        </p:spPr>
      </p:pic>
      <p:pic>
        <p:nvPicPr>
          <p:cNvPr id="745" name="Google Shape;745;p87"/>
          <p:cNvPicPr preferRelativeResize="0"/>
          <p:nvPr/>
        </p:nvPicPr>
        <p:blipFill>
          <a:blip r:embed="rId8">
            <a:alphaModFix/>
          </a:blip>
          <a:stretch>
            <a:fillRect/>
          </a:stretch>
        </p:blipFill>
        <p:spPr>
          <a:xfrm>
            <a:off x="6209672" y="1973260"/>
            <a:ext cx="1245775" cy="907328"/>
          </a:xfrm>
          <a:prstGeom prst="rect">
            <a:avLst/>
          </a:prstGeom>
          <a:noFill/>
          <a:ln>
            <a:noFill/>
          </a:ln>
        </p:spPr>
      </p:pic>
      <p:pic>
        <p:nvPicPr>
          <p:cNvPr id="746" name="Google Shape;746;p87"/>
          <p:cNvPicPr preferRelativeResize="0"/>
          <p:nvPr/>
        </p:nvPicPr>
        <p:blipFill>
          <a:blip r:embed="rId9">
            <a:alphaModFix/>
          </a:blip>
          <a:stretch>
            <a:fillRect/>
          </a:stretch>
        </p:blipFill>
        <p:spPr>
          <a:xfrm>
            <a:off x="7320650" y="3344856"/>
            <a:ext cx="1376850" cy="998220"/>
          </a:xfrm>
          <a:prstGeom prst="rect">
            <a:avLst/>
          </a:prstGeom>
          <a:noFill/>
          <a:ln>
            <a:noFill/>
          </a:ln>
        </p:spPr>
      </p:pic>
      <p:pic>
        <p:nvPicPr>
          <p:cNvPr id="747" name="Google Shape;747;p87"/>
          <p:cNvPicPr preferRelativeResize="0"/>
          <p:nvPr/>
        </p:nvPicPr>
        <p:blipFill>
          <a:blip r:embed="rId10">
            <a:alphaModFix/>
          </a:blip>
          <a:stretch>
            <a:fillRect/>
          </a:stretch>
        </p:blipFill>
        <p:spPr>
          <a:xfrm>
            <a:off x="5703450" y="3137487"/>
            <a:ext cx="1498250" cy="1087675"/>
          </a:xfrm>
          <a:prstGeom prst="rect">
            <a:avLst/>
          </a:prstGeom>
          <a:noFill/>
          <a:ln>
            <a:noFill/>
          </a:ln>
        </p:spPr>
      </p:pic>
      <p:sp>
        <p:nvSpPr>
          <p:cNvPr id="748" name="Google Shape;748;p87"/>
          <p:cNvSpPr txBox="1"/>
          <p:nvPr/>
        </p:nvSpPr>
        <p:spPr>
          <a:xfrm>
            <a:off x="2852975" y="3394950"/>
            <a:ext cx="1376700" cy="572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t-BR" sz="1800">
                <a:solidFill>
                  <a:schemeClr val="dk1"/>
                </a:solidFill>
                <a:latin typeface="Consolas"/>
                <a:ea typeface="Consolas"/>
                <a:cs typeface="Consolas"/>
                <a:sym typeface="Consolas"/>
              </a:rPr>
              <a:t> $ 10.23M</a:t>
            </a:r>
            <a:endParaRPr b="1" sz="1800">
              <a:solidFill>
                <a:schemeClr val="dk1"/>
              </a:solidFill>
              <a:latin typeface="Consolas"/>
              <a:ea typeface="Consolas"/>
              <a:cs typeface="Consolas"/>
              <a:sym typeface="Consolas"/>
            </a:endParaRPr>
          </a:p>
        </p:txBody>
      </p:sp>
      <p:sp>
        <p:nvSpPr>
          <p:cNvPr id="749" name="Google Shape;749;p87"/>
          <p:cNvSpPr txBox="1"/>
          <p:nvPr/>
        </p:nvSpPr>
        <p:spPr>
          <a:xfrm>
            <a:off x="6078750" y="1155738"/>
            <a:ext cx="1376700" cy="572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t-BR" sz="1800">
                <a:solidFill>
                  <a:srgbClr val="FF0000"/>
                </a:solidFill>
                <a:latin typeface="Consolas"/>
                <a:ea typeface="Consolas"/>
                <a:cs typeface="Consolas"/>
                <a:sym typeface="Consolas"/>
              </a:rPr>
              <a:t> $ 7.10M</a:t>
            </a:r>
            <a:endParaRPr b="1" sz="1800">
              <a:solidFill>
                <a:srgbClr val="FF0000"/>
              </a:solidFill>
              <a:latin typeface="Consolas"/>
              <a:ea typeface="Consolas"/>
              <a:cs typeface="Consolas"/>
              <a:sym typeface="Consola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8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755" name="Google Shape;755;p88"/>
          <p:cNvPicPr preferRelativeResize="0"/>
          <p:nvPr/>
        </p:nvPicPr>
        <p:blipFill>
          <a:blip r:embed="rId3">
            <a:alphaModFix/>
          </a:blip>
          <a:stretch>
            <a:fillRect/>
          </a:stretch>
        </p:blipFill>
        <p:spPr>
          <a:xfrm>
            <a:off x="825200" y="1852097"/>
            <a:ext cx="1376850" cy="1149650"/>
          </a:xfrm>
          <a:prstGeom prst="rect">
            <a:avLst/>
          </a:prstGeom>
          <a:noFill/>
          <a:ln>
            <a:noFill/>
          </a:ln>
        </p:spPr>
      </p:pic>
      <p:pic>
        <p:nvPicPr>
          <p:cNvPr id="756" name="Google Shape;756;p88"/>
          <p:cNvPicPr preferRelativeResize="0"/>
          <p:nvPr/>
        </p:nvPicPr>
        <p:blipFill>
          <a:blip r:embed="rId4">
            <a:alphaModFix/>
          </a:blip>
          <a:stretch>
            <a:fillRect/>
          </a:stretch>
        </p:blipFill>
        <p:spPr>
          <a:xfrm>
            <a:off x="7455450" y="1852100"/>
            <a:ext cx="1376850" cy="1376850"/>
          </a:xfrm>
          <a:prstGeom prst="rect">
            <a:avLst/>
          </a:prstGeom>
          <a:noFill/>
          <a:ln>
            <a:noFill/>
          </a:ln>
        </p:spPr>
      </p:pic>
      <p:pic>
        <p:nvPicPr>
          <p:cNvPr id="757" name="Google Shape;757;p88"/>
          <p:cNvPicPr preferRelativeResize="0"/>
          <p:nvPr/>
        </p:nvPicPr>
        <p:blipFill>
          <a:blip r:embed="rId5">
            <a:alphaModFix/>
          </a:blip>
          <a:stretch>
            <a:fillRect/>
          </a:stretch>
        </p:blipFill>
        <p:spPr>
          <a:xfrm>
            <a:off x="1752850" y="3228950"/>
            <a:ext cx="904750" cy="904750"/>
          </a:xfrm>
          <a:prstGeom prst="rect">
            <a:avLst/>
          </a:prstGeom>
          <a:noFill/>
          <a:ln>
            <a:noFill/>
          </a:ln>
        </p:spPr>
      </p:pic>
      <p:pic>
        <p:nvPicPr>
          <p:cNvPr id="758" name="Google Shape;758;p88"/>
          <p:cNvPicPr preferRelativeResize="0"/>
          <p:nvPr/>
        </p:nvPicPr>
        <p:blipFill>
          <a:blip r:embed="rId6">
            <a:alphaModFix/>
          </a:blip>
          <a:stretch>
            <a:fillRect/>
          </a:stretch>
        </p:blipFill>
        <p:spPr>
          <a:xfrm>
            <a:off x="7563338" y="1021201"/>
            <a:ext cx="1161075" cy="841800"/>
          </a:xfrm>
          <a:prstGeom prst="rect">
            <a:avLst/>
          </a:prstGeom>
          <a:noFill/>
          <a:ln>
            <a:noFill/>
          </a:ln>
        </p:spPr>
      </p:pic>
      <p:pic>
        <p:nvPicPr>
          <p:cNvPr id="759" name="Google Shape;759;p88"/>
          <p:cNvPicPr preferRelativeResize="0"/>
          <p:nvPr/>
        </p:nvPicPr>
        <p:blipFill>
          <a:blip r:embed="rId7">
            <a:alphaModFix/>
          </a:blip>
          <a:stretch>
            <a:fillRect/>
          </a:stretch>
        </p:blipFill>
        <p:spPr>
          <a:xfrm>
            <a:off x="311700" y="3077425"/>
            <a:ext cx="1245768" cy="904750"/>
          </a:xfrm>
          <a:prstGeom prst="rect">
            <a:avLst/>
          </a:prstGeom>
          <a:noFill/>
          <a:ln>
            <a:noFill/>
          </a:ln>
        </p:spPr>
      </p:pic>
      <p:pic>
        <p:nvPicPr>
          <p:cNvPr id="760" name="Google Shape;760;p88"/>
          <p:cNvPicPr preferRelativeResize="0"/>
          <p:nvPr/>
        </p:nvPicPr>
        <p:blipFill>
          <a:blip r:embed="rId8">
            <a:alphaModFix/>
          </a:blip>
          <a:stretch>
            <a:fillRect/>
          </a:stretch>
        </p:blipFill>
        <p:spPr>
          <a:xfrm>
            <a:off x="2312447" y="1863010"/>
            <a:ext cx="1245775" cy="907328"/>
          </a:xfrm>
          <a:prstGeom prst="rect">
            <a:avLst/>
          </a:prstGeom>
          <a:noFill/>
          <a:ln>
            <a:noFill/>
          </a:ln>
        </p:spPr>
      </p:pic>
      <p:pic>
        <p:nvPicPr>
          <p:cNvPr id="761" name="Google Shape;761;p88"/>
          <p:cNvPicPr preferRelativeResize="0"/>
          <p:nvPr/>
        </p:nvPicPr>
        <p:blipFill>
          <a:blip r:embed="rId9">
            <a:alphaModFix/>
          </a:blip>
          <a:stretch>
            <a:fillRect/>
          </a:stretch>
        </p:blipFill>
        <p:spPr>
          <a:xfrm>
            <a:off x="7320650" y="3344856"/>
            <a:ext cx="1376850" cy="998220"/>
          </a:xfrm>
          <a:prstGeom prst="rect">
            <a:avLst/>
          </a:prstGeom>
          <a:noFill/>
          <a:ln>
            <a:noFill/>
          </a:ln>
        </p:spPr>
      </p:pic>
      <p:pic>
        <p:nvPicPr>
          <p:cNvPr id="762" name="Google Shape;762;p88"/>
          <p:cNvPicPr preferRelativeResize="0"/>
          <p:nvPr/>
        </p:nvPicPr>
        <p:blipFill>
          <a:blip r:embed="rId10">
            <a:alphaModFix/>
          </a:blip>
          <a:stretch>
            <a:fillRect/>
          </a:stretch>
        </p:blipFill>
        <p:spPr>
          <a:xfrm>
            <a:off x="5703450" y="3137487"/>
            <a:ext cx="1498250" cy="1087675"/>
          </a:xfrm>
          <a:prstGeom prst="rect">
            <a:avLst/>
          </a:prstGeom>
          <a:noFill/>
          <a:ln>
            <a:noFill/>
          </a:ln>
        </p:spPr>
      </p:pic>
      <p:sp>
        <p:nvSpPr>
          <p:cNvPr id="763" name="Google Shape;763;p88"/>
          <p:cNvSpPr txBox="1"/>
          <p:nvPr/>
        </p:nvSpPr>
        <p:spPr>
          <a:xfrm>
            <a:off x="2852975" y="3394950"/>
            <a:ext cx="1376700" cy="572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t-BR" sz="1800">
                <a:solidFill>
                  <a:schemeClr val="dk1"/>
                </a:solidFill>
                <a:latin typeface="Consolas"/>
                <a:ea typeface="Consolas"/>
                <a:cs typeface="Consolas"/>
                <a:sym typeface="Consolas"/>
              </a:rPr>
              <a:t> $ 9.12M</a:t>
            </a:r>
            <a:endParaRPr b="1" sz="1800">
              <a:solidFill>
                <a:schemeClr val="dk1"/>
              </a:solidFill>
              <a:latin typeface="Consolas"/>
              <a:ea typeface="Consolas"/>
              <a:cs typeface="Consolas"/>
              <a:sym typeface="Consolas"/>
            </a:endParaRPr>
          </a:p>
        </p:txBody>
      </p:sp>
      <p:sp>
        <p:nvSpPr>
          <p:cNvPr id="764" name="Google Shape;764;p88"/>
          <p:cNvSpPr txBox="1"/>
          <p:nvPr/>
        </p:nvSpPr>
        <p:spPr>
          <a:xfrm>
            <a:off x="6078750" y="1155738"/>
            <a:ext cx="1376700" cy="572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t-BR" sz="1800">
                <a:solidFill>
                  <a:srgbClr val="FF0000"/>
                </a:solidFill>
                <a:latin typeface="Consolas"/>
                <a:ea typeface="Consolas"/>
                <a:cs typeface="Consolas"/>
                <a:sym typeface="Consolas"/>
              </a:rPr>
              <a:t> $ 9.10M</a:t>
            </a:r>
            <a:endParaRPr b="1" sz="1800">
              <a:solidFill>
                <a:srgbClr val="FF0000"/>
              </a:solidFill>
              <a:latin typeface="Consolas"/>
              <a:ea typeface="Consolas"/>
              <a:cs typeface="Consolas"/>
              <a:sym typeface="Consolas"/>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8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770" name="Google Shape;770;p89"/>
          <p:cNvPicPr preferRelativeResize="0"/>
          <p:nvPr/>
        </p:nvPicPr>
        <p:blipFill>
          <a:blip r:embed="rId3">
            <a:alphaModFix/>
          </a:blip>
          <a:stretch>
            <a:fillRect/>
          </a:stretch>
        </p:blipFill>
        <p:spPr>
          <a:xfrm>
            <a:off x="825200" y="1852097"/>
            <a:ext cx="1376850" cy="1149650"/>
          </a:xfrm>
          <a:prstGeom prst="rect">
            <a:avLst/>
          </a:prstGeom>
          <a:noFill/>
          <a:ln>
            <a:noFill/>
          </a:ln>
        </p:spPr>
      </p:pic>
      <p:pic>
        <p:nvPicPr>
          <p:cNvPr id="771" name="Google Shape;771;p89"/>
          <p:cNvPicPr preferRelativeResize="0"/>
          <p:nvPr/>
        </p:nvPicPr>
        <p:blipFill>
          <a:blip r:embed="rId4">
            <a:alphaModFix/>
          </a:blip>
          <a:stretch>
            <a:fillRect/>
          </a:stretch>
        </p:blipFill>
        <p:spPr>
          <a:xfrm>
            <a:off x="7455450" y="1852100"/>
            <a:ext cx="1376850" cy="1376850"/>
          </a:xfrm>
          <a:prstGeom prst="rect">
            <a:avLst/>
          </a:prstGeom>
          <a:noFill/>
          <a:ln>
            <a:noFill/>
          </a:ln>
        </p:spPr>
      </p:pic>
      <p:pic>
        <p:nvPicPr>
          <p:cNvPr id="772" name="Google Shape;772;p89"/>
          <p:cNvPicPr preferRelativeResize="0"/>
          <p:nvPr/>
        </p:nvPicPr>
        <p:blipFill>
          <a:blip r:embed="rId5">
            <a:alphaModFix/>
          </a:blip>
          <a:stretch>
            <a:fillRect/>
          </a:stretch>
        </p:blipFill>
        <p:spPr>
          <a:xfrm>
            <a:off x="1752850" y="3228950"/>
            <a:ext cx="904750" cy="904750"/>
          </a:xfrm>
          <a:prstGeom prst="rect">
            <a:avLst/>
          </a:prstGeom>
          <a:noFill/>
          <a:ln>
            <a:noFill/>
          </a:ln>
        </p:spPr>
      </p:pic>
      <p:pic>
        <p:nvPicPr>
          <p:cNvPr id="773" name="Google Shape;773;p89"/>
          <p:cNvPicPr preferRelativeResize="0"/>
          <p:nvPr/>
        </p:nvPicPr>
        <p:blipFill>
          <a:blip r:embed="rId6">
            <a:alphaModFix/>
          </a:blip>
          <a:stretch>
            <a:fillRect/>
          </a:stretch>
        </p:blipFill>
        <p:spPr>
          <a:xfrm>
            <a:off x="7563338" y="1021201"/>
            <a:ext cx="1161075" cy="841800"/>
          </a:xfrm>
          <a:prstGeom prst="rect">
            <a:avLst/>
          </a:prstGeom>
          <a:noFill/>
          <a:ln>
            <a:noFill/>
          </a:ln>
        </p:spPr>
      </p:pic>
      <p:pic>
        <p:nvPicPr>
          <p:cNvPr id="774" name="Google Shape;774;p89"/>
          <p:cNvPicPr preferRelativeResize="0"/>
          <p:nvPr/>
        </p:nvPicPr>
        <p:blipFill>
          <a:blip r:embed="rId7">
            <a:alphaModFix/>
          </a:blip>
          <a:stretch>
            <a:fillRect/>
          </a:stretch>
        </p:blipFill>
        <p:spPr>
          <a:xfrm>
            <a:off x="6378275" y="2151550"/>
            <a:ext cx="1245768" cy="904750"/>
          </a:xfrm>
          <a:prstGeom prst="rect">
            <a:avLst/>
          </a:prstGeom>
          <a:noFill/>
          <a:ln>
            <a:noFill/>
          </a:ln>
        </p:spPr>
      </p:pic>
      <p:pic>
        <p:nvPicPr>
          <p:cNvPr id="775" name="Google Shape;775;p89"/>
          <p:cNvPicPr preferRelativeResize="0"/>
          <p:nvPr/>
        </p:nvPicPr>
        <p:blipFill>
          <a:blip r:embed="rId8">
            <a:alphaModFix/>
          </a:blip>
          <a:stretch>
            <a:fillRect/>
          </a:stretch>
        </p:blipFill>
        <p:spPr>
          <a:xfrm>
            <a:off x="2312447" y="1863010"/>
            <a:ext cx="1245775" cy="907328"/>
          </a:xfrm>
          <a:prstGeom prst="rect">
            <a:avLst/>
          </a:prstGeom>
          <a:noFill/>
          <a:ln>
            <a:noFill/>
          </a:ln>
        </p:spPr>
      </p:pic>
      <p:pic>
        <p:nvPicPr>
          <p:cNvPr id="776" name="Google Shape;776;p89"/>
          <p:cNvPicPr preferRelativeResize="0"/>
          <p:nvPr/>
        </p:nvPicPr>
        <p:blipFill>
          <a:blip r:embed="rId9">
            <a:alphaModFix/>
          </a:blip>
          <a:stretch>
            <a:fillRect/>
          </a:stretch>
        </p:blipFill>
        <p:spPr>
          <a:xfrm>
            <a:off x="180625" y="3281806"/>
            <a:ext cx="1376850" cy="998220"/>
          </a:xfrm>
          <a:prstGeom prst="rect">
            <a:avLst/>
          </a:prstGeom>
          <a:noFill/>
          <a:ln>
            <a:noFill/>
          </a:ln>
        </p:spPr>
      </p:pic>
      <p:pic>
        <p:nvPicPr>
          <p:cNvPr id="777" name="Google Shape;777;p89"/>
          <p:cNvPicPr preferRelativeResize="0"/>
          <p:nvPr/>
        </p:nvPicPr>
        <p:blipFill>
          <a:blip r:embed="rId10">
            <a:alphaModFix/>
          </a:blip>
          <a:stretch>
            <a:fillRect/>
          </a:stretch>
        </p:blipFill>
        <p:spPr>
          <a:xfrm>
            <a:off x="5703450" y="3137487"/>
            <a:ext cx="1498250" cy="1087675"/>
          </a:xfrm>
          <a:prstGeom prst="rect">
            <a:avLst/>
          </a:prstGeom>
          <a:noFill/>
          <a:ln>
            <a:noFill/>
          </a:ln>
        </p:spPr>
      </p:pic>
      <p:sp>
        <p:nvSpPr>
          <p:cNvPr id="778" name="Google Shape;778;p89"/>
          <p:cNvSpPr txBox="1"/>
          <p:nvPr/>
        </p:nvSpPr>
        <p:spPr>
          <a:xfrm>
            <a:off x="2852975" y="3394950"/>
            <a:ext cx="1376700" cy="572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t-BR" sz="1800">
                <a:solidFill>
                  <a:schemeClr val="dk1"/>
                </a:solidFill>
                <a:latin typeface="Consolas"/>
                <a:ea typeface="Consolas"/>
                <a:cs typeface="Consolas"/>
                <a:sym typeface="Consolas"/>
              </a:rPr>
              <a:t> $ 10.1M</a:t>
            </a:r>
            <a:endParaRPr b="1" sz="1800">
              <a:solidFill>
                <a:schemeClr val="dk1"/>
              </a:solidFill>
              <a:latin typeface="Consolas"/>
              <a:ea typeface="Consolas"/>
              <a:cs typeface="Consolas"/>
              <a:sym typeface="Consolas"/>
            </a:endParaRPr>
          </a:p>
        </p:txBody>
      </p:sp>
      <p:sp>
        <p:nvSpPr>
          <p:cNvPr id="779" name="Google Shape;779;p89"/>
          <p:cNvSpPr txBox="1"/>
          <p:nvPr/>
        </p:nvSpPr>
        <p:spPr>
          <a:xfrm>
            <a:off x="6078750" y="1155738"/>
            <a:ext cx="1376700" cy="572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t-BR" sz="1800">
                <a:solidFill>
                  <a:srgbClr val="FF0000"/>
                </a:solidFill>
                <a:latin typeface="Consolas"/>
                <a:ea typeface="Consolas"/>
                <a:cs typeface="Consolas"/>
                <a:sym typeface="Consolas"/>
              </a:rPr>
              <a:t> $ 8.9M</a:t>
            </a:r>
            <a:endParaRPr b="1" sz="1800">
              <a:solidFill>
                <a:srgbClr val="FF0000"/>
              </a:solidFill>
              <a:latin typeface="Consolas"/>
              <a:ea typeface="Consolas"/>
              <a:cs typeface="Consolas"/>
              <a:sym typeface="Consolas"/>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9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785" name="Google Shape;785;p90"/>
          <p:cNvPicPr preferRelativeResize="0"/>
          <p:nvPr/>
        </p:nvPicPr>
        <p:blipFill>
          <a:blip r:embed="rId3">
            <a:alphaModFix/>
          </a:blip>
          <a:stretch>
            <a:fillRect/>
          </a:stretch>
        </p:blipFill>
        <p:spPr>
          <a:xfrm>
            <a:off x="825200" y="1852097"/>
            <a:ext cx="1376850" cy="1149650"/>
          </a:xfrm>
          <a:prstGeom prst="rect">
            <a:avLst/>
          </a:prstGeom>
          <a:noFill/>
          <a:ln>
            <a:noFill/>
          </a:ln>
        </p:spPr>
      </p:pic>
      <p:pic>
        <p:nvPicPr>
          <p:cNvPr id="786" name="Google Shape;786;p90"/>
          <p:cNvPicPr preferRelativeResize="0"/>
          <p:nvPr/>
        </p:nvPicPr>
        <p:blipFill>
          <a:blip r:embed="rId4">
            <a:alphaModFix/>
          </a:blip>
          <a:stretch>
            <a:fillRect/>
          </a:stretch>
        </p:blipFill>
        <p:spPr>
          <a:xfrm>
            <a:off x="7455450" y="1852100"/>
            <a:ext cx="1376850" cy="1376850"/>
          </a:xfrm>
          <a:prstGeom prst="rect">
            <a:avLst/>
          </a:prstGeom>
          <a:noFill/>
          <a:ln>
            <a:noFill/>
          </a:ln>
        </p:spPr>
      </p:pic>
      <p:pic>
        <p:nvPicPr>
          <p:cNvPr id="787" name="Google Shape;787;p90"/>
          <p:cNvPicPr preferRelativeResize="0"/>
          <p:nvPr/>
        </p:nvPicPr>
        <p:blipFill>
          <a:blip r:embed="rId5">
            <a:alphaModFix/>
          </a:blip>
          <a:stretch>
            <a:fillRect/>
          </a:stretch>
        </p:blipFill>
        <p:spPr>
          <a:xfrm>
            <a:off x="7691500" y="3328537"/>
            <a:ext cx="904750" cy="904750"/>
          </a:xfrm>
          <a:prstGeom prst="rect">
            <a:avLst/>
          </a:prstGeom>
          <a:noFill/>
          <a:ln>
            <a:noFill/>
          </a:ln>
        </p:spPr>
      </p:pic>
      <p:pic>
        <p:nvPicPr>
          <p:cNvPr id="788" name="Google Shape;788;p90"/>
          <p:cNvPicPr preferRelativeResize="0"/>
          <p:nvPr/>
        </p:nvPicPr>
        <p:blipFill>
          <a:blip r:embed="rId6">
            <a:alphaModFix/>
          </a:blip>
          <a:stretch>
            <a:fillRect/>
          </a:stretch>
        </p:blipFill>
        <p:spPr>
          <a:xfrm>
            <a:off x="1394838" y="3260401"/>
            <a:ext cx="1161075" cy="841800"/>
          </a:xfrm>
          <a:prstGeom prst="rect">
            <a:avLst/>
          </a:prstGeom>
          <a:noFill/>
          <a:ln>
            <a:noFill/>
          </a:ln>
        </p:spPr>
      </p:pic>
      <p:pic>
        <p:nvPicPr>
          <p:cNvPr id="789" name="Google Shape;789;p90"/>
          <p:cNvPicPr preferRelativeResize="0"/>
          <p:nvPr/>
        </p:nvPicPr>
        <p:blipFill>
          <a:blip r:embed="rId7">
            <a:alphaModFix/>
          </a:blip>
          <a:stretch>
            <a:fillRect/>
          </a:stretch>
        </p:blipFill>
        <p:spPr>
          <a:xfrm>
            <a:off x="6378275" y="2151550"/>
            <a:ext cx="1245768" cy="904750"/>
          </a:xfrm>
          <a:prstGeom prst="rect">
            <a:avLst/>
          </a:prstGeom>
          <a:noFill/>
          <a:ln>
            <a:noFill/>
          </a:ln>
        </p:spPr>
      </p:pic>
      <p:pic>
        <p:nvPicPr>
          <p:cNvPr id="790" name="Google Shape;790;p90"/>
          <p:cNvPicPr preferRelativeResize="0"/>
          <p:nvPr/>
        </p:nvPicPr>
        <p:blipFill>
          <a:blip r:embed="rId8">
            <a:alphaModFix/>
          </a:blip>
          <a:stretch>
            <a:fillRect/>
          </a:stretch>
        </p:blipFill>
        <p:spPr>
          <a:xfrm>
            <a:off x="2312447" y="1863010"/>
            <a:ext cx="1245775" cy="907328"/>
          </a:xfrm>
          <a:prstGeom prst="rect">
            <a:avLst/>
          </a:prstGeom>
          <a:noFill/>
          <a:ln>
            <a:noFill/>
          </a:ln>
        </p:spPr>
      </p:pic>
      <p:pic>
        <p:nvPicPr>
          <p:cNvPr id="791" name="Google Shape;791;p90"/>
          <p:cNvPicPr preferRelativeResize="0"/>
          <p:nvPr/>
        </p:nvPicPr>
        <p:blipFill>
          <a:blip r:embed="rId9">
            <a:alphaModFix/>
          </a:blip>
          <a:stretch>
            <a:fillRect/>
          </a:stretch>
        </p:blipFill>
        <p:spPr>
          <a:xfrm>
            <a:off x="180625" y="3281806"/>
            <a:ext cx="1376850" cy="998220"/>
          </a:xfrm>
          <a:prstGeom prst="rect">
            <a:avLst/>
          </a:prstGeom>
          <a:noFill/>
          <a:ln>
            <a:noFill/>
          </a:ln>
        </p:spPr>
      </p:pic>
      <p:pic>
        <p:nvPicPr>
          <p:cNvPr id="792" name="Google Shape;792;p90"/>
          <p:cNvPicPr preferRelativeResize="0"/>
          <p:nvPr/>
        </p:nvPicPr>
        <p:blipFill>
          <a:blip r:embed="rId10">
            <a:alphaModFix/>
          </a:blip>
          <a:stretch>
            <a:fillRect/>
          </a:stretch>
        </p:blipFill>
        <p:spPr>
          <a:xfrm>
            <a:off x="5703450" y="3137487"/>
            <a:ext cx="1498250" cy="1087675"/>
          </a:xfrm>
          <a:prstGeom prst="rect">
            <a:avLst/>
          </a:prstGeom>
          <a:noFill/>
          <a:ln>
            <a:noFill/>
          </a:ln>
        </p:spPr>
      </p:pic>
      <p:sp>
        <p:nvSpPr>
          <p:cNvPr id="793" name="Google Shape;793;p90"/>
          <p:cNvSpPr txBox="1"/>
          <p:nvPr/>
        </p:nvSpPr>
        <p:spPr>
          <a:xfrm>
            <a:off x="2852975" y="3394950"/>
            <a:ext cx="1376700" cy="572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t-BR" sz="1800">
                <a:solidFill>
                  <a:schemeClr val="dk1"/>
                </a:solidFill>
                <a:latin typeface="Consolas"/>
                <a:ea typeface="Consolas"/>
                <a:cs typeface="Consolas"/>
                <a:sym typeface="Consolas"/>
              </a:rPr>
              <a:t> $ 9.14M</a:t>
            </a:r>
            <a:endParaRPr b="1" sz="1800">
              <a:solidFill>
                <a:schemeClr val="dk1"/>
              </a:solidFill>
              <a:latin typeface="Consolas"/>
              <a:ea typeface="Consolas"/>
              <a:cs typeface="Consolas"/>
              <a:sym typeface="Consolas"/>
            </a:endParaRPr>
          </a:p>
        </p:txBody>
      </p:sp>
      <p:sp>
        <p:nvSpPr>
          <p:cNvPr id="794" name="Google Shape;794;p90"/>
          <p:cNvSpPr txBox="1"/>
          <p:nvPr/>
        </p:nvSpPr>
        <p:spPr>
          <a:xfrm>
            <a:off x="6078750" y="1155738"/>
            <a:ext cx="1376700" cy="572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pt-BR" sz="1800">
                <a:solidFill>
                  <a:srgbClr val="FF0000"/>
                </a:solidFill>
                <a:latin typeface="Consolas"/>
                <a:ea typeface="Consolas"/>
                <a:cs typeface="Consolas"/>
                <a:sym typeface="Consolas"/>
              </a:rPr>
              <a:t> $ 9.9M</a:t>
            </a:r>
            <a:endParaRPr b="1" sz="1800">
              <a:solidFill>
                <a:srgbClr val="FF0000"/>
              </a:solidFill>
              <a:latin typeface="Consolas"/>
              <a:ea typeface="Consolas"/>
              <a:cs typeface="Consolas"/>
              <a:sym typeface="Consolas"/>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91"/>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Repetindo muitas vezes...</a:t>
            </a:r>
            <a:endParaRPr/>
          </a:p>
        </p:txBody>
      </p:sp>
      <p:sp>
        <p:nvSpPr>
          <p:cNvPr id="800" name="Google Shape;800;p9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801" name="Google Shape;801;p91"/>
          <p:cNvPicPr preferRelativeResize="0"/>
          <p:nvPr/>
        </p:nvPicPr>
        <p:blipFill>
          <a:blip r:embed="rId3">
            <a:alphaModFix/>
          </a:blip>
          <a:stretch>
            <a:fillRect/>
          </a:stretch>
        </p:blipFill>
        <p:spPr>
          <a:xfrm>
            <a:off x="0" y="1661042"/>
            <a:ext cx="9144001" cy="1821416"/>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92"/>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Repetindo muitas vezes...</a:t>
            </a:r>
            <a:endParaRPr/>
          </a:p>
        </p:txBody>
      </p:sp>
      <p:sp>
        <p:nvSpPr>
          <p:cNvPr id="807" name="Google Shape;807;p9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808" name="Google Shape;808;p92"/>
          <p:cNvPicPr preferRelativeResize="0"/>
          <p:nvPr/>
        </p:nvPicPr>
        <p:blipFill>
          <a:blip r:embed="rId3">
            <a:alphaModFix amt="18000"/>
          </a:blip>
          <a:stretch>
            <a:fillRect/>
          </a:stretch>
        </p:blipFill>
        <p:spPr>
          <a:xfrm>
            <a:off x="0" y="1661042"/>
            <a:ext cx="9144001" cy="1821416"/>
          </a:xfrm>
          <a:prstGeom prst="rect">
            <a:avLst/>
          </a:prstGeom>
          <a:noFill/>
          <a:ln>
            <a:noFill/>
          </a:ln>
        </p:spPr>
      </p:pic>
      <p:pic>
        <p:nvPicPr>
          <p:cNvPr id="809" name="Google Shape;809;p92" title="nWlySY5S.mp4">
            <a:hlinkClick r:id="rId4"/>
          </p:cNvPr>
          <p:cNvPicPr preferRelativeResize="0"/>
          <p:nvPr/>
        </p:nvPicPr>
        <p:blipFill>
          <a:blip r:embed="rId5">
            <a:alphaModFix/>
          </a:blip>
          <a:stretch>
            <a:fillRect/>
          </a:stretch>
        </p:blipFill>
        <p:spPr>
          <a:xfrm>
            <a:off x="2241600" y="1301275"/>
            <a:ext cx="4572000" cy="34290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93"/>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Em algum momento estabiliza</a:t>
            </a:r>
            <a:endParaRPr/>
          </a:p>
        </p:txBody>
      </p:sp>
      <p:sp>
        <p:nvSpPr>
          <p:cNvPr id="815" name="Google Shape;815;p93"/>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16% dos casos são maiores</a:t>
            </a:r>
            <a:br>
              <a:rPr lang="pt-BR"/>
            </a:br>
            <a:r>
              <a:rPr lang="pt-BR"/>
              <a:t>do que a diferença real</a:t>
            </a:r>
            <a:br>
              <a:rPr lang="pt-BR"/>
            </a:br>
            <a:endParaRPr/>
          </a:p>
          <a:p>
            <a:pPr indent="-342900" lvl="0" marL="457200" rtl="0" algn="l">
              <a:spcBef>
                <a:spcPts val="0"/>
              </a:spcBef>
              <a:spcAft>
                <a:spcPts val="0"/>
              </a:spcAft>
              <a:buSzPts val="1800"/>
              <a:buChar char="●"/>
            </a:pPr>
            <a:r>
              <a:rPr lang="pt-BR"/>
              <a:t>Isso é muito!</a:t>
            </a:r>
            <a:br>
              <a:rPr lang="pt-BR"/>
            </a:br>
            <a:endParaRPr/>
          </a:p>
          <a:p>
            <a:pPr indent="-342900" lvl="0" marL="457200" rtl="0" algn="l">
              <a:spcBef>
                <a:spcPts val="0"/>
              </a:spcBef>
              <a:spcAft>
                <a:spcPts val="0"/>
              </a:spcAft>
              <a:buSzPts val="1800"/>
              <a:buChar char="●"/>
            </a:pPr>
            <a:r>
              <a:rPr lang="pt-BR"/>
              <a:t>Não existe diferença média</a:t>
            </a:r>
            <a:br>
              <a:rPr lang="pt-BR"/>
            </a:br>
            <a:r>
              <a:rPr lang="pt-BR"/>
              <a:t>entre os times</a:t>
            </a:r>
            <a:endParaRPr/>
          </a:p>
          <a:p>
            <a:pPr indent="-317500" lvl="1" marL="914400" rtl="0" algn="l">
              <a:spcBef>
                <a:spcPts val="0"/>
              </a:spcBef>
              <a:spcAft>
                <a:spcPts val="0"/>
              </a:spcAft>
              <a:buSzPts val="1400"/>
              <a:buChar char="○"/>
            </a:pPr>
            <a:r>
              <a:rPr lang="pt-BR"/>
              <a:t>É aleatório!</a:t>
            </a:r>
            <a:endParaRPr/>
          </a:p>
        </p:txBody>
      </p:sp>
      <p:sp>
        <p:nvSpPr>
          <p:cNvPr id="816" name="Google Shape;816;p9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817" name="Google Shape;817;p93"/>
          <p:cNvPicPr preferRelativeResize="0"/>
          <p:nvPr/>
        </p:nvPicPr>
        <p:blipFill>
          <a:blip r:embed="rId3">
            <a:alphaModFix/>
          </a:blip>
          <a:stretch>
            <a:fillRect/>
          </a:stretch>
        </p:blipFill>
        <p:spPr>
          <a:xfrm>
            <a:off x="4159501" y="1492574"/>
            <a:ext cx="4706175" cy="309422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94"/>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Resumindo</a:t>
            </a:r>
            <a:endParaRPr/>
          </a:p>
        </p:txBody>
      </p:sp>
      <p:sp>
        <p:nvSpPr>
          <p:cNvPr id="823" name="Google Shape;823;p94"/>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pt-BR"/>
              <a:t>Testes de Permutação</a:t>
            </a:r>
            <a:endParaRPr/>
          </a:p>
        </p:txBody>
      </p:sp>
      <p:pic>
        <p:nvPicPr>
          <p:cNvPr id="824" name="Google Shape;824;p94"/>
          <p:cNvPicPr preferRelativeResize="0"/>
          <p:nvPr/>
        </p:nvPicPr>
        <p:blipFill>
          <a:blip r:embed="rId3">
            <a:alphaModFix/>
          </a:blip>
          <a:stretch>
            <a:fillRect/>
          </a:stretch>
        </p:blipFill>
        <p:spPr>
          <a:xfrm>
            <a:off x="2058400" y="1686575"/>
            <a:ext cx="5027200" cy="3356326"/>
          </a:xfrm>
          <a:prstGeom prst="rect">
            <a:avLst/>
          </a:prstGeom>
          <a:noFill/>
          <a:ln>
            <a:noFill/>
          </a:ln>
        </p:spPr>
      </p:pic>
      <p:sp>
        <p:nvSpPr>
          <p:cNvPr id="825" name="Google Shape;825;p9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95"/>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a:t>Revisão</a:t>
            </a:r>
            <a:endParaRPr/>
          </a:p>
        </p:txBody>
      </p:sp>
      <p:sp>
        <p:nvSpPr>
          <p:cNvPr id="831" name="Google Shape;831;p9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sz="1000">
                <a:solidFill>
                  <a:srgbClr val="FFFFFF"/>
                </a:solidFill>
              </a:rPr>
              <a:t>‹#›</a:t>
            </a:fld>
            <a:endParaRPr sz="1000">
              <a:solidFill>
                <a:srgbClr val="FFFFFF"/>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96"/>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Nosso Caso</a:t>
            </a:r>
            <a:endParaRPr/>
          </a:p>
        </p:txBody>
      </p:sp>
      <p:sp>
        <p:nvSpPr>
          <p:cNvPr id="837" name="Google Shape;837;p96"/>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pt-BR"/>
              <a:t>Valor Observado: diferença média de salários entre times da </a:t>
            </a:r>
            <a:br>
              <a:rPr lang="pt-BR"/>
            </a:br>
            <a:r>
              <a:rPr lang="pt-BR"/>
              <a:t>NBA: </a:t>
            </a:r>
            <a:r>
              <a:rPr b="1" lang="pt-BR">
                <a:solidFill>
                  <a:schemeClr val="dk1"/>
                </a:solidFill>
              </a:rPr>
              <a:t>t</a:t>
            </a:r>
            <a:r>
              <a:rPr b="1" baseline="-25000" lang="pt-BR">
                <a:solidFill>
                  <a:schemeClr val="dk1"/>
                </a:solidFill>
              </a:rPr>
              <a:t>obs</a:t>
            </a:r>
            <a:endParaRPr b="1">
              <a:solidFill>
                <a:schemeClr val="dk1"/>
              </a:solidFill>
            </a:endParaRPr>
          </a:p>
          <a:p>
            <a:pPr indent="-342900" lvl="0" marL="457200" rtl="0" algn="l">
              <a:spcBef>
                <a:spcPts val="0"/>
              </a:spcBef>
              <a:spcAft>
                <a:spcPts val="0"/>
              </a:spcAft>
              <a:buSzPts val="1800"/>
              <a:buAutoNum type="arabicPeriod"/>
            </a:pPr>
            <a:r>
              <a:rPr lang="pt-BR"/>
              <a:t>Permutação de dados</a:t>
            </a:r>
            <a:endParaRPr/>
          </a:p>
          <a:p>
            <a:pPr indent="-317500" lvl="1" marL="914400" rtl="0" algn="l">
              <a:spcBef>
                <a:spcPts val="0"/>
              </a:spcBef>
              <a:spcAft>
                <a:spcPts val="0"/>
              </a:spcAft>
              <a:buSzPts val="1400"/>
              <a:buAutoNum type="alphaLcPeriod"/>
            </a:pPr>
            <a:r>
              <a:rPr lang="pt-BR"/>
              <a:t>Assumir que a seleção de times é uniformemente aleatória</a:t>
            </a:r>
            <a:endParaRPr/>
          </a:p>
          <a:p>
            <a:pPr indent="-317500" lvl="1" marL="914400" rtl="0" algn="l">
              <a:spcBef>
                <a:spcPts val="0"/>
              </a:spcBef>
              <a:spcAft>
                <a:spcPts val="0"/>
              </a:spcAft>
              <a:buSzPts val="1400"/>
              <a:buAutoNum type="alphaLcPeriod"/>
            </a:pPr>
            <a:r>
              <a:rPr lang="pt-BR"/>
              <a:t>Não foi escolhas/mercado/etc</a:t>
            </a:r>
            <a:endParaRPr/>
          </a:p>
          <a:p>
            <a:pPr indent="-342900" lvl="0" marL="457200" rtl="0" algn="l">
              <a:spcBef>
                <a:spcPts val="0"/>
              </a:spcBef>
              <a:spcAft>
                <a:spcPts val="0"/>
              </a:spcAft>
              <a:buSzPts val="1800"/>
              <a:buAutoNum type="arabicPeriod"/>
            </a:pPr>
            <a:r>
              <a:rPr lang="pt-BR"/>
              <a:t>Computar a diferença de várias permutações: </a:t>
            </a:r>
            <a:r>
              <a:rPr b="1" lang="pt-BR">
                <a:solidFill>
                  <a:schemeClr val="dk1"/>
                </a:solidFill>
              </a:rPr>
              <a:t>t</a:t>
            </a:r>
            <a:r>
              <a:rPr b="1" baseline="-25000" lang="pt-BR">
                <a:solidFill>
                  <a:schemeClr val="dk1"/>
                </a:solidFill>
              </a:rPr>
              <a:t>i</a:t>
            </a:r>
            <a:endParaRPr b="1" baseline="-25000">
              <a:solidFill>
                <a:schemeClr val="dk1"/>
              </a:solidFill>
            </a:endParaRPr>
          </a:p>
          <a:p>
            <a:pPr indent="-317500" lvl="1" marL="914400" rtl="0" algn="l">
              <a:spcBef>
                <a:spcPts val="0"/>
              </a:spcBef>
              <a:spcAft>
                <a:spcPts val="0"/>
              </a:spcAft>
              <a:buSzPts val="1400"/>
              <a:buAutoNum type="alphaLcPeriod"/>
            </a:pPr>
            <a:r>
              <a:rPr lang="pt-BR"/>
              <a:t>Como sempre, muitas vezes. 10,000</a:t>
            </a:r>
            <a:endParaRPr/>
          </a:p>
          <a:p>
            <a:pPr indent="-342900" lvl="0" marL="457200" rtl="0" algn="l">
              <a:spcBef>
                <a:spcPts val="0"/>
              </a:spcBef>
              <a:spcAft>
                <a:spcPts val="0"/>
              </a:spcAft>
              <a:buSzPts val="1800"/>
              <a:buAutoNum type="arabicPeriod"/>
            </a:pPr>
            <a:r>
              <a:rPr lang="pt-BR"/>
              <a:t>Plotar histograma de </a:t>
            </a:r>
            <a:r>
              <a:rPr b="1" lang="pt-BR"/>
              <a:t>t</a:t>
            </a:r>
            <a:r>
              <a:rPr b="1" baseline="-25000" lang="pt-BR"/>
              <a:t>i</a:t>
            </a:r>
            <a:endParaRPr b="1" baseline="-25000"/>
          </a:p>
          <a:p>
            <a:pPr indent="-342900" lvl="0" marL="457200" rtl="0" algn="l">
              <a:spcBef>
                <a:spcPts val="0"/>
              </a:spcBef>
              <a:spcAft>
                <a:spcPts val="0"/>
              </a:spcAft>
              <a:buSzPts val="1800"/>
              <a:buAutoNum type="arabicPeriod"/>
            </a:pPr>
            <a:r>
              <a:rPr lang="pt-BR"/>
              <a:t>Ver qual a chance de </a:t>
            </a:r>
            <a:r>
              <a:rPr b="1" lang="pt-BR"/>
              <a:t>t</a:t>
            </a:r>
            <a:r>
              <a:rPr b="1" baseline="-25000" lang="pt-BR"/>
              <a:t>obs</a:t>
            </a:r>
            <a:r>
              <a:rPr b="1" lang="pt-BR"/>
              <a:t> </a:t>
            </a:r>
            <a:r>
              <a:rPr lang="pt-BR"/>
              <a:t>com base neste histograma</a:t>
            </a:r>
            <a:endParaRPr b="1" baseline="-25000"/>
          </a:p>
        </p:txBody>
      </p:sp>
      <p:sp>
        <p:nvSpPr>
          <p:cNvPr id="838" name="Google Shape;838;p9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97"/>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Hipóteses e Chances</a:t>
            </a:r>
            <a:endParaRPr/>
          </a:p>
        </p:txBody>
      </p:sp>
      <p:sp>
        <p:nvSpPr>
          <p:cNvPr id="844" name="Google Shape;844;p97"/>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O mundo das permutações define um modelo</a:t>
            </a:r>
            <a:endParaRPr/>
          </a:p>
          <a:p>
            <a:pPr indent="-317500" lvl="1" marL="914400" rtl="0" algn="l">
              <a:spcBef>
                <a:spcPts val="0"/>
              </a:spcBef>
              <a:spcAft>
                <a:spcPts val="0"/>
              </a:spcAft>
              <a:buSzPts val="1400"/>
              <a:buChar char="○"/>
            </a:pPr>
            <a:r>
              <a:rPr lang="pt-BR"/>
              <a:t>Seleção aleatória de times</a:t>
            </a:r>
            <a:endParaRPr/>
          </a:p>
          <a:p>
            <a:pPr indent="-342900" lvl="0" marL="457200" rtl="0" algn="l">
              <a:spcBef>
                <a:spcPts val="0"/>
              </a:spcBef>
              <a:spcAft>
                <a:spcPts val="0"/>
              </a:spcAft>
              <a:buSzPts val="1800"/>
              <a:buChar char="●"/>
            </a:pPr>
            <a:r>
              <a:rPr lang="pt-BR"/>
              <a:t>Verossimilhança: o valor de </a:t>
            </a:r>
            <a:r>
              <a:rPr b="1" lang="pt-BR"/>
              <a:t>t</a:t>
            </a:r>
            <a:r>
              <a:rPr b="1" baseline="-25000" lang="pt-BR"/>
              <a:t>obs </a:t>
            </a:r>
            <a:r>
              <a:rPr lang="pt-BR"/>
              <a:t>nunca muda</a:t>
            </a:r>
            <a:endParaRPr/>
          </a:p>
          <a:p>
            <a:pPr indent="-317500" lvl="1" marL="914400" rtl="0" algn="l">
              <a:spcBef>
                <a:spcPts val="0"/>
              </a:spcBef>
              <a:spcAft>
                <a:spcPts val="0"/>
              </a:spcAft>
              <a:buSzPts val="1400"/>
              <a:buChar char="○"/>
            </a:pPr>
            <a:r>
              <a:rPr lang="pt-BR"/>
              <a:t>Seleção de acordo com o salário de outros jogadores por exemplo</a:t>
            </a:r>
            <a:endParaRPr/>
          </a:p>
          <a:p>
            <a:pPr indent="-342900" lvl="0" marL="457200" rtl="0" algn="l">
              <a:spcBef>
                <a:spcPts val="0"/>
              </a:spcBef>
              <a:spcAft>
                <a:spcPts val="0"/>
              </a:spcAft>
              <a:buSzPts val="1800"/>
              <a:buChar char="●"/>
            </a:pPr>
            <a:r>
              <a:rPr lang="pt-BR"/>
              <a:t>O teste de permutação é apenas </a:t>
            </a:r>
            <a:r>
              <a:rPr b="1" lang="pt-BR"/>
              <a:t>u</a:t>
            </a:r>
            <a:r>
              <a:rPr b="1" lang="pt-BR"/>
              <a:t>ma hipótese! Captura aleatoriedade.</a:t>
            </a:r>
            <a:endParaRPr b="1"/>
          </a:p>
          <a:p>
            <a:pPr indent="-342900" lvl="0" marL="457200" rtl="0" algn="l">
              <a:spcBef>
                <a:spcPts val="0"/>
              </a:spcBef>
              <a:spcAft>
                <a:spcPts val="0"/>
              </a:spcAft>
              <a:buSzPts val="1800"/>
              <a:buChar char="●"/>
            </a:pPr>
            <a:r>
              <a:rPr lang="pt-BR"/>
              <a:t>P[T &gt; </a:t>
            </a:r>
            <a:r>
              <a:rPr b="1" lang="pt-BR"/>
              <a:t>t</a:t>
            </a:r>
            <a:r>
              <a:rPr b="1" baseline="-25000" lang="pt-BR"/>
              <a:t>obs</a:t>
            </a:r>
            <a:r>
              <a:rPr lang="pt-BR"/>
              <a:t>] ou P[T &lt; </a:t>
            </a:r>
            <a:r>
              <a:rPr b="1" lang="pt-BR"/>
              <a:t>t</a:t>
            </a:r>
            <a:r>
              <a:rPr b="1" baseline="-25000" lang="pt-BR"/>
              <a:t>obs</a:t>
            </a:r>
            <a:r>
              <a:rPr lang="pt-BR"/>
              <a:t>]:</a:t>
            </a:r>
            <a:endParaRPr/>
          </a:p>
          <a:p>
            <a:pPr indent="-317500" lvl="1" marL="914400" rtl="0" algn="l">
              <a:spcBef>
                <a:spcPts val="0"/>
              </a:spcBef>
              <a:spcAft>
                <a:spcPts val="0"/>
              </a:spcAft>
              <a:buSzPts val="1400"/>
              <a:buChar char="○"/>
            </a:pPr>
            <a:r>
              <a:rPr lang="pt-BR"/>
              <a:t>São as chances daquela hipótese explicar os meus dados</a:t>
            </a:r>
            <a:endParaRPr/>
          </a:p>
          <a:p>
            <a:pPr indent="-317500" lvl="1" marL="914400" rtl="0" algn="l">
              <a:spcBef>
                <a:spcPts val="0"/>
              </a:spcBef>
              <a:spcAft>
                <a:spcPts val="0"/>
              </a:spcAft>
              <a:buSzPts val="1400"/>
              <a:buChar char="○"/>
            </a:pPr>
            <a:r>
              <a:rPr lang="pt-BR"/>
              <a:t>Isto é o Valor-P</a:t>
            </a:r>
            <a:endParaRPr/>
          </a:p>
          <a:p>
            <a:pPr indent="-317500" lvl="1" marL="914400" rtl="0" algn="l">
              <a:spcBef>
                <a:spcPts val="0"/>
              </a:spcBef>
              <a:spcAft>
                <a:spcPts val="0"/>
              </a:spcAft>
              <a:buSzPts val="1400"/>
              <a:buChar char="○"/>
            </a:pPr>
            <a:r>
              <a:rPr lang="pt-BR"/>
              <a:t>Qual a probabilidade de observar tal valor observado no mundo aleatório</a:t>
            </a:r>
            <a:endParaRPr/>
          </a:p>
          <a:p>
            <a:pPr indent="-317500" lvl="1" marL="914400" rtl="0" algn="l">
              <a:spcBef>
                <a:spcPts val="0"/>
              </a:spcBef>
              <a:spcAft>
                <a:spcPts val="0"/>
              </a:spcAft>
              <a:buSzPts val="1400"/>
              <a:buChar char="○"/>
            </a:pPr>
            <a:r>
              <a:rPr lang="pt-BR"/>
              <a:t>Caso seja extremo? Rejeita a nula!</a:t>
            </a:r>
            <a:endParaRPr/>
          </a:p>
        </p:txBody>
      </p:sp>
      <p:sp>
        <p:nvSpPr>
          <p:cNvPr id="845" name="Google Shape;845;p9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98"/>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Hipóteses Nulas</a:t>
            </a:r>
            <a:endParaRPr/>
          </a:p>
        </p:txBody>
      </p:sp>
      <p:sp>
        <p:nvSpPr>
          <p:cNvPr id="851" name="Google Shape;851;p98"/>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Hipótese Nula: Vem do modelo</a:t>
            </a:r>
            <a:endParaRPr/>
          </a:p>
          <a:p>
            <a:pPr indent="-317500" lvl="1" marL="914400" rtl="0" algn="l">
              <a:spcBef>
                <a:spcPts val="0"/>
              </a:spcBef>
              <a:spcAft>
                <a:spcPts val="0"/>
              </a:spcAft>
              <a:buSzPts val="1400"/>
              <a:buChar char="○"/>
            </a:pPr>
            <a:r>
              <a:rPr lang="pt-BR"/>
              <a:t>A diferença de salários pode ser explicada por chance/acaso (uniforme).</a:t>
            </a:r>
            <a:endParaRPr/>
          </a:p>
          <a:p>
            <a:pPr indent="-317500" lvl="1" marL="914400" rtl="0" algn="l">
              <a:spcBef>
                <a:spcPts val="0"/>
              </a:spcBef>
              <a:spcAft>
                <a:spcPts val="0"/>
              </a:spcAft>
              <a:buSzPts val="1400"/>
              <a:buChar char="○"/>
            </a:pPr>
            <a:r>
              <a:rPr lang="pt-BR"/>
              <a:t>Ou seja, a chance de ver diferenças tão extremas quanto esta são comuns no mundo uniforme.</a:t>
            </a:r>
            <a:endParaRPr/>
          </a:p>
          <a:p>
            <a:pPr indent="-342900" lvl="0" marL="457200" rtl="0" algn="l">
              <a:spcBef>
                <a:spcPts val="0"/>
              </a:spcBef>
              <a:spcAft>
                <a:spcPts val="0"/>
              </a:spcAft>
              <a:buSzPts val="1800"/>
              <a:buChar char="●"/>
            </a:pPr>
            <a:r>
              <a:rPr lang="pt-BR"/>
              <a:t>Hipótese Alternativa:</a:t>
            </a:r>
            <a:endParaRPr/>
          </a:p>
          <a:p>
            <a:pPr indent="-317500" lvl="1" marL="914400" rtl="0" algn="l">
              <a:spcBef>
                <a:spcPts val="0"/>
              </a:spcBef>
              <a:spcAft>
                <a:spcPts val="0"/>
              </a:spcAft>
              <a:buSzPts val="1400"/>
              <a:buChar char="○"/>
            </a:pPr>
            <a:r>
              <a:rPr lang="pt-BR"/>
              <a:t>A diferença de salários não pode ser explicada por chance/acaso (uniforme).</a:t>
            </a:r>
            <a:endParaRPr/>
          </a:p>
        </p:txBody>
      </p:sp>
      <p:sp>
        <p:nvSpPr>
          <p:cNvPr id="852" name="Google Shape;852;p9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99"/>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Termos</a:t>
            </a:r>
            <a:endParaRPr/>
          </a:p>
        </p:txBody>
      </p:sp>
      <p:sp>
        <p:nvSpPr>
          <p:cNvPr id="858" name="Google Shape;858;p99"/>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pt-BR"/>
              <a:t>H0: Hipótese Nula</a:t>
            </a:r>
            <a:br>
              <a:rPr lang="pt-BR"/>
            </a:br>
            <a:r>
              <a:rPr lang="pt-BR"/>
              <a:t>H1: Hipótese Alternativa (não nula, pode ter várias formas de expressar)</a:t>
            </a:r>
            <a:endParaRPr/>
          </a:p>
        </p:txBody>
      </p:sp>
      <p:sp>
        <p:nvSpPr>
          <p:cNvPr id="859" name="Google Shape;859;p9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100"/>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Caso do Basquete</a:t>
            </a:r>
            <a:endParaRPr/>
          </a:p>
        </p:txBody>
      </p:sp>
      <p:sp>
        <p:nvSpPr>
          <p:cNvPr id="865" name="Google Shape;865;p100"/>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pt-BR"/>
              <a:t>H0: A diferença do salário médio dos jogadores dois times é igual a zero.</a:t>
            </a:r>
            <a:br>
              <a:rPr lang="pt-BR"/>
            </a:br>
            <a:r>
              <a:rPr lang="pt-BR"/>
              <a:t>H1: As duas médias são diferentes</a:t>
            </a:r>
            <a:endParaRPr/>
          </a:p>
        </p:txBody>
      </p:sp>
      <p:sp>
        <p:nvSpPr>
          <p:cNvPr id="866" name="Google Shape;866;p10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101"/>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Caso do Basquete</a:t>
            </a:r>
            <a:endParaRPr/>
          </a:p>
        </p:txBody>
      </p:sp>
      <p:sp>
        <p:nvSpPr>
          <p:cNvPr id="872" name="Google Shape;872;p101"/>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Como é feita a permutação</a:t>
            </a:r>
            <a:endParaRPr/>
          </a:p>
          <a:p>
            <a:pPr indent="-317500" lvl="1" marL="914400" rtl="0" algn="l">
              <a:spcBef>
                <a:spcPts val="0"/>
              </a:spcBef>
              <a:spcAft>
                <a:spcPts val="0"/>
              </a:spcAft>
              <a:buClr>
                <a:schemeClr val="dk2"/>
              </a:buClr>
              <a:buSzPts val="1400"/>
              <a:buChar char="○"/>
            </a:pPr>
            <a:r>
              <a:rPr lang="pt-BR">
                <a:solidFill>
                  <a:schemeClr val="dk2"/>
                </a:solidFill>
              </a:rPr>
              <a:t>Aleatorizados os grupos</a:t>
            </a:r>
            <a:endParaRPr>
              <a:solidFill>
                <a:schemeClr val="dk2"/>
              </a:solidFill>
            </a:endParaRPr>
          </a:p>
          <a:p>
            <a:pPr indent="-317500" lvl="1" marL="914400" rtl="0" algn="l">
              <a:spcBef>
                <a:spcPts val="0"/>
              </a:spcBef>
              <a:spcAft>
                <a:spcPts val="0"/>
              </a:spcAft>
              <a:buClr>
                <a:schemeClr val="dk2"/>
              </a:buClr>
              <a:buSzPts val="1400"/>
              <a:buChar char="○"/>
            </a:pPr>
            <a:r>
              <a:rPr lang="pt-BR">
                <a:solidFill>
                  <a:schemeClr val="dk2"/>
                </a:solidFill>
              </a:rPr>
              <a:t>[J1, J2, J3, …, J8, J9,  …, Jn]</a:t>
            </a:r>
            <a:endParaRPr>
              <a:solidFill>
                <a:schemeClr val="dk2"/>
              </a:solidFill>
            </a:endParaRPr>
          </a:p>
          <a:p>
            <a:pPr indent="-317500" lvl="1" marL="914400" rtl="0" algn="l">
              <a:spcBef>
                <a:spcPts val="0"/>
              </a:spcBef>
              <a:spcAft>
                <a:spcPts val="0"/>
              </a:spcAft>
              <a:buSzPts val="1400"/>
              <a:buChar char="○"/>
            </a:pPr>
            <a:r>
              <a:rPr lang="pt-BR">
                <a:solidFill>
                  <a:schemeClr val="dk2"/>
                </a:solidFill>
              </a:rPr>
              <a:t>[T1, T1, T1, …, T2, T2, …, T2] ← note que tenho dois times</a:t>
            </a:r>
            <a:br>
              <a:rPr lang="pt-BR">
                <a:solidFill>
                  <a:schemeClr val="dk2"/>
                </a:solidFill>
              </a:rPr>
            </a:br>
            <a:r>
              <a:rPr lang="pt-BR">
                <a:solidFill>
                  <a:schemeClr val="dk2"/>
                </a:solidFill>
              </a:rPr>
              <a:t>Permutar</a:t>
            </a:r>
            <a:endParaRPr/>
          </a:p>
        </p:txBody>
      </p:sp>
      <p:sp>
        <p:nvSpPr>
          <p:cNvPr id="873" name="Google Shape;873;p10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102"/>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Caso do Basquete</a:t>
            </a:r>
            <a:endParaRPr/>
          </a:p>
        </p:txBody>
      </p:sp>
      <p:sp>
        <p:nvSpPr>
          <p:cNvPr id="879" name="Google Shape;879;p102"/>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Como é feita a permutação</a:t>
            </a:r>
            <a:endParaRPr/>
          </a:p>
          <a:p>
            <a:pPr indent="-317500" lvl="1" marL="914400" rtl="0" algn="l">
              <a:spcBef>
                <a:spcPts val="0"/>
              </a:spcBef>
              <a:spcAft>
                <a:spcPts val="0"/>
              </a:spcAft>
              <a:buSzPts val="1400"/>
              <a:buChar char="○"/>
            </a:pPr>
            <a:r>
              <a:rPr lang="pt-BR"/>
              <a:t>Aleatorizados os grupos</a:t>
            </a:r>
            <a:endParaRPr/>
          </a:p>
          <a:p>
            <a:pPr indent="-317500" lvl="1" marL="914400" rtl="0" algn="l">
              <a:spcBef>
                <a:spcPts val="0"/>
              </a:spcBef>
              <a:spcAft>
                <a:spcPts val="0"/>
              </a:spcAft>
              <a:buSzPts val="1400"/>
              <a:buChar char="○"/>
            </a:pPr>
            <a:r>
              <a:rPr lang="pt-BR"/>
              <a:t>[J1, J2, J3, …, J8, J9,  </a:t>
            </a:r>
            <a:r>
              <a:rPr lang="pt-BR">
                <a:solidFill>
                  <a:schemeClr val="dk2"/>
                </a:solidFill>
              </a:rPr>
              <a:t>…, </a:t>
            </a:r>
            <a:r>
              <a:rPr lang="pt-BR"/>
              <a:t>Jn]</a:t>
            </a:r>
            <a:endParaRPr/>
          </a:p>
          <a:p>
            <a:pPr indent="-317500" lvl="1" marL="914400" rtl="0" algn="l">
              <a:spcBef>
                <a:spcPts val="0"/>
              </a:spcBef>
              <a:spcAft>
                <a:spcPts val="0"/>
              </a:spcAft>
              <a:buSzPts val="1400"/>
              <a:buChar char="○"/>
            </a:pPr>
            <a:r>
              <a:rPr lang="pt-BR">
                <a:solidFill>
                  <a:schemeClr val="dk2"/>
                </a:solidFill>
              </a:rPr>
              <a:t>[T1, T1, T1, …, T2, T2, …, T2] ← note que tenho dois times</a:t>
            </a:r>
            <a:br>
              <a:rPr lang="pt-BR">
                <a:solidFill>
                  <a:schemeClr val="dk2"/>
                </a:solidFill>
              </a:rPr>
            </a:br>
            <a:r>
              <a:rPr lang="pt-BR">
                <a:solidFill>
                  <a:schemeClr val="dk2"/>
                </a:solidFill>
              </a:rPr>
              <a:t>Permutar</a:t>
            </a:r>
            <a:endParaRPr>
              <a:solidFill>
                <a:schemeClr val="dk2"/>
              </a:solidFill>
            </a:endParaRPr>
          </a:p>
          <a:p>
            <a:pPr indent="-317500" lvl="1" marL="914400" rtl="0" algn="l">
              <a:spcBef>
                <a:spcPts val="0"/>
              </a:spcBef>
              <a:spcAft>
                <a:spcPts val="0"/>
              </a:spcAft>
              <a:buClr>
                <a:schemeClr val="dk2"/>
              </a:buClr>
              <a:buSzPts val="1400"/>
              <a:buChar char="○"/>
            </a:pPr>
            <a:r>
              <a:rPr lang="pt-BR">
                <a:solidFill>
                  <a:schemeClr val="dk2"/>
                </a:solidFill>
              </a:rPr>
              <a:t>[T1, T2, T1, …, T2, T2, …, T1] ← note que o time agora foi aleatório</a:t>
            </a:r>
            <a:endParaRPr>
              <a:solidFill>
                <a:schemeClr val="dk2"/>
              </a:solidFill>
            </a:endParaRPr>
          </a:p>
        </p:txBody>
      </p:sp>
      <p:sp>
        <p:nvSpPr>
          <p:cNvPr id="880" name="Google Shape;880;p10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103"/>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Hipóteses Nulas</a:t>
            </a:r>
            <a:endParaRPr/>
          </a:p>
        </p:txBody>
      </p:sp>
      <p:pic>
        <p:nvPicPr>
          <p:cNvPr id="886" name="Google Shape;886;p103"/>
          <p:cNvPicPr preferRelativeResize="0"/>
          <p:nvPr/>
        </p:nvPicPr>
        <p:blipFill>
          <a:blip r:embed="rId3">
            <a:alphaModFix/>
          </a:blip>
          <a:stretch>
            <a:fillRect/>
          </a:stretch>
        </p:blipFill>
        <p:spPr>
          <a:xfrm>
            <a:off x="4816225" y="1524101"/>
            <a:ext cx="4188000" cy="2753500"/>
          </a:xfrm>
          <a:prstGeom prst="rect">
            <a:avLst/>
          </a:prstGeom>
          <a:noFill/>
          <a:ln>
            <a:noFill/>
          </a:ln>
        </p:spPr>
      </p:pic>
      <p:sp>
        <p:nvSpPr>
          <p:cNvPr id="887" name="Google Shape;887;p103"/>
          <p:cNvSpPr txBox="1"/>
          <p:nvPr>
            <p:ph idx="1" type="body"/>
          </p:nvPr>
        </p:nvSpPr>
        <p:spPr>
          <a:xfrm>
            <a:off x="311700" y="1152475"/>
            <a:ext cx="5120400" cy="34164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pt-BR"/>
              <a:t>No histograma podemos ver</a:t>
            </a:r>
            <a:br>
              <a:rPr lang="pt-BR"/>
            </a:br>
            <a:r>
              <a:rPr lang="pt-BR"/>
              <a:t>a chance de rejeitar a hipótese nula</a:t>
            </a:r>
            <a:endParaRPr/>
          </a:p>
          <a:p>
            <a:pPr indent="-342900" lvl="0" marL="457200" marR="0" rtl="0" algn="l">
              <a:lnSpc>
                <a:spcPct val="115000"/>
              </a:lnSpc>
              <a:spcBef>
                <a:spcPts val="0"/>
              </a:spcBef>
              <a:spcAft>
                <a:spcPts val="0"/>
              </a:spcAft>
              <a:buSzPts val="1800"/>
              <a:buChar char="●"/>
            </a:pPr>
            <a:r>
              <a:rPr lang="pt-BR"/>
              <a:t>Eixo y</a:t>
            </a:r>
            <a:endParaRPr/>
          </a:p>
          <a:p>
            <a:pPr indent="-342900" lvl="0" marL="457200" marR="0" rtl="0" algn="l">
              <a:lnSpc>
                <a:spcPct val="115000"/>
              </a:lnSpc>
              <a:spcBef>
                <a:spcPts val="0"/>
              </a:spcBef>
              <a:spcAft>
                <a:spcPts val="0"/>
              </a:spcAft>
              <a:buSzPts val="1800"/>
              <a:buChar char="●"/>
            </a:pPr>
            <a:r>
              <a:rPr lang="pt-BR"/>
              <a:t>Caso a diferença seja muito extrema</a:t>
            </a:r>
            <a:endParaRPr/>
          </a:p>
          <a:p>
            <a:pPr indent="0" lvl="0" marL="0" marR="0" rtl="0" algn="l">
              <a:lnSpc>
                <a:spcPct val="115000"/>
              </a:lnSpc>
              <a:spcBef>
                <a:spcPts val="1600"/>
              </a:spcBef>
              <a:spcAft>
                <a:spcPts val="1600"/>
              </a:spcAft>
              <a:buNone/>
            </a:pPr>
            <a:r>
              <a:rPr b="1" lang="pt-BR">
                <a:solidFill>
                  <a:schemeClr val="dk1"/>
                </a:solidFill>
              </a:rPr>
              <a:t>Não temos evidências para rejeitar a</a:t>
            </a:r>
            <a:br>
              <a:rPr b="1" lang="pt-BR">
                <a:solidFill>
                  <a:schemeClr val="dk1"/>
                </a:solidFill>
              </a:rPr>
            </a:br>
            <a:r>
              <a:rPr b="1" lang="pt-BR">
                <a:solidFill>
                  <a:schemeClr val="dk1"/>
                </a:solidFill>
              </a:rPr>
              <a:t>hipótese nula. </a:t>
            </a:r>
            <a:endParaRPr b="1">
              <a:solidFill>
                <a:schemeClr val="dk1"/>
              </a:solidFill>
            </a:endParaRPr>
          </a:p>
        </p:txBody>
      </p:sp>
      <p:sp>
        <p:nvSpPr>
          <p:cNvPr id="888" name="Google Shape;888;p10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104"/>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Intuição</a:t>
            </a:r>
            <a:endParaRPr/>
          </a:p>
        </p:txBody>
      </p:sp>
      <p:sp>
        <p:nvSpPr>
          <p:cNvPr id="894" name="Google Shape;894;p104"/>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Conseguimos falar da hipótese:</a:t>
            </a:r>
            <a:endParaRPr/>
          </a:p>
          <a:p>
            <a:pPr indent="-342900" lvl="0" marL="457200" rtl="0" algn="l">
              <a:spcBef>
                <a:spcPts val="0"/>
              </a:spcBef>
              <a:spcAft>
                <a:spcPts val="0"/>
              </a:spcAft>
              <a:buSzPts val="1800"/>
              <a:buChar char="●"/>
            </a:pPr>
            <a:r>
              <a:rPr lang="pt-BR"/>
              <a:t>Probabilidade da mesma ser aceita ou não</a:t>
            </a:r>
            <a:endParaRPr/>
          </a:p>
          <a:p>
            <a:pPr indent="-342900" lvl="0" marL="457200" rtl="0" algn="l">
              <a:spcBef>
                <a:spcPts val="0"/>
              </a:spcBef>
              <a:spcAft>
                <a:spcPts val="0"/>
              </a:spcAft>
              <a:buSzPts val="1800"/>
              <a:buChar char="●"/>
            </a:pPr>
            <a:r>
              <a:rPr lang="pt-BR"/>
              <a:t>No geral, buscamos rejeitar a mesma (p &lt; 0.05)</a:t>
            </a:r>
            <a:endParaRPr/>
          </a:p>
        </p:txBody>
      </p:sp>
      <p:sp>
        <p:nvSpPr>
          <p:cNvPr id="895" name="Google Shape;895;p10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105"/>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a:t>Valores-P</a:t>
            </a:r>
            <a:endParaRPr/>
          </a:p>
        </p:txBody>
      </p:sp>
      <p:sp>
        <p:nvSpPr>
          <p:cNvPr id="901" name="Google Shape;901;p10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sz="1000">
                <a:solidFill>
                  <a:srgbClr val="FFFFFF"/>
                </a:solidFill>
              </a:rPr>
              <a:t>‹#›</a:t>
            </a:fld>
            <a:endParaRPr sz="1000">
              <a:solidFill>
                <a:srgbClr val="FFFFFF"/>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106"/>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Valores Extremos</a:t>
            </a:r>
            <a:endParaRPr/>
          </a:p>
        </p:txBody>
      </p:sp>
      <p:sp>
        <p:nvSpPr>
          <p:cNvPr id="907" name="Google Shape;907;p106"/>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pt-BR"/>
              <a:t>Ao testar hipóteses buscamos por valores extremos.</a:t>
            </a:r>
            <a:endParaRPr/>
          </a:p>
        </p:txBody>
      </p:sp>
      <p:pic>
        <p:nvPicPr>
          <p:cNvPr id="908" name="Google Shape;908;p106"/>
          <p:cNvPicPr preferRelativeResize="0"/>
          <p:nvPr/>
        </p:nvPicPr>
        <p:blipFill>
          <a:blip r:embed="rId3">
            <a:alphaModFix/>
          </a:blip>
          <a:stretch>
            <a:fillRect/>
          </a:stretch>
        </p:blipFill>
        <p:spPr>
          <a:xfrm>
            <a:off x="123075" y="1852849"/>
            <a:ext cx="2920275" cy="1920000"/>
          </a:xfrm>
          <a:prstGeom prst="rect">
            <a:avLst/>
          </a:prstGeom>
          <a:noFill/>
          <a:ln>
            <a:noFill/>
          </a:ln>
        </p:spPr>
      </p:pic>
      <p:pic>
        <p:nvPicPr>
          <p:cNvPr id="909" name="Google Shape;909;p106"/>
          <p:cNvPicPr preferRelativeResize="0"/>
          <p:nvPr/>
        </p:nvPicPr>
        <p:blipFill>
          <a:blip r:embed="rId4">
            <a:alphaModFix/>
          </a:blip>
          <a:stretch>
            <a:fillRect/>
          </a:stretch>
        </p:blipFill>
        <p:spPr>
          <a:xfrm>
            <a:off x="3043350" y="2896650"/>
            <a:ext cx="3444280" cy="2246850"/>
          </a:xfrm>
          <a:prstGeom prst="rect">
            <a:avLst/>
          </a:prstGeom>
          <a:noFill/>
          <a:ln>
            <a:noFill/>
          </a:ln>
        </p:spPr>
      </p:pic>
      <p:pic>
        <p:nvPicPr>
          <p:cNvPr id="910" name="Google Shape;910;p106"/>
          <p:cNvPicPr preferRelativeResize="0"/>
          <p:nvPr/>
        </p:nvPicPr>
        <p:blipFill>
          <a:blip r:embed="rId5">
            <a:alphaModFix/>
          </a:blip>
          <a:stretch>
            <a:fillRect/>
          </a:stretch>
        </p:blipFill>
        <p:spPr>
          <a:xfrm>
            <a:off x="5753545" y="1448325"/>
            <a:ext cx="3390456" cy="2246850"/>
          </a:xfrm>
          <a:prstGeom prst="rect">
            <a:avLst/>
          </a:prstGeom>
          <a:noFill/>
          <a:ln>
            <a:noFill/>
          </a:ln>
        </p:spPr>
      </p:pic>
      <p:sp>
        <p:nvSpPr>
          <p:cNvPr id="911" name="Google Shape;911;p10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107"/>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Valor-P</a:t>
            </a:r>
            <a:endParaRPr/>
          </a:p>
        </p:txBody>
      </p:sp>
      <p:sp>
        <p:nvSpPr>
          <p:cNvPr id="917" name="Google Shape;917;p107"/>
          <p:cNvSpPr txBox="1"/>
          <p:nvPr>
            <p:ph idx="1" type="body"/>
          </p:nvPr>
        </p:nvSpPr>
        <p:spPr>
          <a:xfrm>
            <a:off x="311700" y="10858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Temos uma </a:t>
            </a:r>
            <a:r>
              <a:rPr b="1" lang="pt-BR">
                <a:solidFill>
                  <a:schemeClr val="dk1"/>
                </a:solidFill>
              </a:rPr>
              <a:t>estatística de teste</a:t>
            </a:r>
            <a:endParaRPr b="1">
              <a:solidFill>
                <a:schemeClr val="dk1"/>
              </a:solidFill>
            </a:endParaRPr>
          </a:p>
          <a:p>
            <a:pPr indent="-342900" lvl="0" marL="457200" rtl="0" algn="l">
              <a:spcBef>
                <a:spcPts val="0"/>
              </a:spcBef>
              <a:spcAft>
                <a:spcPts val="0"/>
              </a:spcAft>
              <a:buSzPts val="1800"/>
              <a:buChar char="●"/>
            </a:pPr>
            <a:r>
              <a:rPr b="1" lang="pt-BR">
                <a:solidFill>
                  <a:schemeClr val="dk1"/>
                </a:solidFill>
              </a:rPr>
              <a:t>Valor-p: </a:t>
            </a:r>
            <a:r>
              <a:rPr lang="pt-BR"/>
              <a:t>A </a:t>
            </a:r>
            <a:r>
              <a:rPr b="1" lang="pt-BR">
                <a:solidFill>
                  <a:schemeClr val="dk1"/>
                </a:solidFill>
              </a:rPr>
              <a:t>probabilidade</a:t>
            </a:r>
            <a:r>
              <a:rPr lang="pt-BR"/>
              <a:t> de observar um valor </a:t>
            </a:r>
            <a:r>
              <a:rPr b="1" lang="pt-BR">
                <a:solidFill>
                  <a:schemeClr val="dk1"/>
                </a:solidFill>
              </a:rPr>
              <a:t>mais extremo </a:t>
            </a:r>
            <a:r>
              <a:rPr lang="pt-BR"/>
              <a:t>do que o dos dados eu um </a:t>
            </a:r>
            <a:r>
              <a:rPr b="1" lang="pt-BR">
                <a:solidFill>
                  <a:schemeClr val="dk1"/>
                </a:solidFill>
              </a:rPr>
              <a:t>mundo aleatório</a:t>
            </a:r>
            <a:r>
              <a:rPr lang="pt-BR"/>
              <a:t> de acordo com algum modelo (nulo).</a:t>
            </a:r>
            <a:endParaRPr/>
          </a:p>
          <a:p>
            <a:pPr indent="-342900" lvl="0" marL="457200" rtl="0" algn="l">
              <a:spcBef>
                <a:spcPts val="0"/>
              </a:spcBef>
              <a:spcAft>
                <a:spcPts val="0"/>
              </a:spcAft>
              <a:buSzPts val="1800"/>
              <a:buChar char="●"/>
            </a:pPr>
            <a:r>
              <a:rPr lang="pt-BR"/>
              <a:t>Existe uma grande confusão nesta definição:</a:t>
            </a:r>
            <a:endParaRPr/>
          </a:p>
          <a:p>
            <a:pPr indent="-317500" lvl="1" marL="914400" rtl="0" algn="l">
              <a:spcBef>
                <a:spcPts val="0"/>
              </a:spcBef>
              <a:spcAft>
                <a:spcPts val="0"/>
              </a:spcAft>
              <a:buSzPts val="1400"/>
              <a:buChar char="○"/>
            </a:pPr>
            <a:r>
              <a:rPr lang="pt-BR"/>
              <a:t>Não é a probabilidade do valor na população</a:t>
            </a:r>
            <a:endParaRPr/>
          </a:p>
          <a:p>
            <a:pPr indent="-317500" lvl="1" marL="914400" rtl="0" algn="l">
              <a:spcBef>
                <a:spcPts val="0"/>
              </a:spcBef>
              <a:spcAft>
                <a:spcPts val="0"/>
              </a:spcAft>
              <a:buSzPts val="1400"/>
              <a:buChar char="○"/>
            </a:pPr>
            <a:r>
              <a:rPr lang="pt-BR"/>
              <a:t>Não é a probabilidade do valor na amostra</a:t>
            </a:r>
            <a:endParaRPr/>
          </a:p>
          <a:p>
            <a:pPr indent="-317500" lvl="1" marL="914400" rtl="0" algn="l">
              <a:spcBef>
                <a:spcPts val="0"/>
              </a:spcBef>
              <a:spcAft>
                <a:spcPts val="0"/>
              </a:spcAft>
              <a:buSzPts val="1400"/>
              <a:buChar char="○"/>
            </a:pPr>
            <a:r>
              <a:rPr lang="pt-BR"/>
              <a:t>Não é a probabilidade de rejeitar nem aceitar nada</a:t>
            </a:r>
            <a:endParaRPr/>
          </a:p>
          <a:p>
            <a:pPr indent="-317500" lvl="1" marL="914400" rtl="0" algn="l">
              <a:spcBef>
                <a:spcPts val="0"/>
              </a:spcBef>
              <a:spcAft>
                <a:spcPts val="0"/>
              </a:spcAft>
              <a:buSzPts val="1400"/>
              <a:buChar char="○"/>
            </a:pPr>
            <a:r>
              <a:rPr lang="pt-BR"/>
              <a:t>É apenas a chance de ver um valor maior/menor/diferente do que o da</a:t>
            </a:r>
            <a:br>
              <a:rPr lang="pt-BR"/>
            </a:br>
            <a:r>
              <a:rPr b="1" lang="pt-BR">
                <a:solidFill>
                  <a:schemeClr val="dk1"/>
                </a:solidFill>
              </a:rPr>
              <a:t>estatística de teste no mundo aleatório.</a:t>
            </a:r>
            <a:endParaRPr b="1">
              <a:solidFill>
                <a:schemeClr val="dk1"/>
              </a:solidFill>
            </a:endParaRPr>
          </a:p>
        </p:txBody>
      </p:sp>
      <p:sp>
        <p:nvSpPr>
          <p:cNvPr id="918" name="Google Shape;918;p10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108"/>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Valor-P &lt; 0.05. Bem baixo!</a:t>
            </a:r>
            <a:endParaRPr/>
          </a:p>
        </p:txBody>
      </p:sp>
      <p:sp>
        <p:nvSpPr>
          <p:cNvPr id="924" name="Google Shape;924;p10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925" name="Google Shape;925;p108"/>
          <p:cNvPicPr preferRelativeResize="0"/>
          <p:nvPr/>
        </p:nvPicPr>
        <p:blipFill>
          <a:blip r:embed="rId3">
            <a:alphaModFix/>
          </a:blip>
          <a:stretch>
            <a:fillRect/>
          </a:stretch>
        </p:blipFill>
        <p:spPr>
          <a:xfrm>
            <a:off x="1727363" y="1068425"/>
            <a:ext cx="5689278" cy="3770276"/>
          </a:xfrm>
          <a:prstGeom prst="rect">
            <a:avLst/>
          </a:prstGeom>
          <a:noFill/>
          <a:ln>
            <a:noFill/>
          </a:ln>
        </p:spPr>
      </p:pic>
      <p:sp>
        <p:nvSpPr>
          <p:cNvPr id="926" name="Google Shape;926;p108"/>
          <p:cNvSpPr/>
          <p:nvPr/>
        </p:nvSpPr>
        <p:spPr>
          <a:xfrm rot="3064036">
            <a:off x="1798030" y="3508784"/>
            <a:ext cx="1583526" cy="35519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pt-BR"/>
              <a:t>Observado (8)</a:t>
            </a:r>
            <a:endParaRPr/>
          </a:p>
        </p:txBody>
      </p:sp>
      <p:sp>
        <p:nvSpPr>
          <p:cNvPr id="927" name="Google Shape;927;p108"/>
          <p:cNvSpPr/>
          <p:nvPr/>
        </p:nvSpPr>
        <p:spPr>
          <a:xfrm rot="3064036">
            <a:off x="2742967" y="1429308"/>
            <a:ext cx="1583526" cy="1096027"/>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pt-BR"/>
              <a:t>Probabilidade Caso fosse uniforme</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09"/>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Significa??</a:t>
            </a:r>
            <a:endParaRPr/>
          </a:p>
        </p:txBody>
      </p:sp>
      <p:sp>
        <p:nvSpPr>
          <p:cNvPr id="933" name="Google Shape;933;p10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pic>
        <p:nvPicPr>
          <p:cNvPr id="934" name="Google Shape;934;p109"/>
          <p:cNvPicPr preferRelativeResize="0"/>
          <p:nvPr/>
        </p:nvPicPr>
        <p:blipFill>
          <a:blip r:embed="rId3">
            <a:alphaModFix/>
          </a:blip>
          <a:stretch>
            <a:fillRect/>
          </a:stretch>
        </p:blipFill>
        <p:spPr>
          <a:xfrm>
            <a:off x="1727363" y="1068425"/>
            <a:ext cx="5689278" cy="3770276"/>
          </a:xfrm>
          <a:prstGeom prst="rect">
            <a:avLst/>
          </a:prstGeom>
          <a:noFill/>
          <a:ln>
            <a:noFill/>
          </a:ln>
        </p:spPr>
      </p:pic>
      <p:sp>
        <p:nvSpPr>
          <p:cNvPr id="935" name="Google Shape;935;p109"/>
          <p:cNvSpPr/>
          <p:nvPr/>
        </p:nvSpPr>
        <p:spPr>
          <a:xfrm rot="3064036">
            <a:off x="1798030" y="3508784"/>
            <a:ext cx="1583526" cy="35519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pt-BR"/>
              <a:t>Observado (8)</a:t>
            </a:r>
            <a:endParaRPr/>
          </a:p>
        </p:txBody>
      </p:sp>
      <p:sp>
        <p:nvSpPr>
          <p:cNvPr id="936" name="Google Shape;936;p109"/>
          <p:cNvSpPr/>
          <p:nvPr/>
        </p:nvSpPr>
        <p:spPr>
          <a:xfrm rot="3064036">
            <a:off x="2742967" y="1429308"/>
            <a:ext cx="1583526" cy="1096027"/>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pt-BR"/>
              <a:t>Probabilidade Caso fosse uniforme</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110"/>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Valor-P</a:t>
            </a:r>
            <a:endParaRPr/>
          </a:p>
        </p:txBody>
      </p:sp>
      <p:sp>
        <p:nvSpPr>
          <p:cNvPr id="942" name="Google Shape;942;p110"/>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Quando é muito baixo, a hipótese nula é pouco verossímil</a:t>
            </a:r>
            <a:endParaRPr/>
          </a:p>
          <a:p>
            <a:pPr indent="-342900" lvl="0" marL="457200" rtl="0" algn="l">
              <a:spcBef>
                <a:spcPts val="0"/>
              </a:spcBef>
              <a:spcAft>
                <a:spcPts val="0"/>
              </a:spcAft>
              <a:buSzPts val="1800"/>
              <a:buChar char="●"/>
            </a:pPr>
            <a:r>
              <a:rPr lang="pt-BR"/>
              <a:t>Meus dados observados  é valor muito extremo!</a:t>
            </a:r>
            <a:endParaRPr/>
          </a:p>
        </p:txBody>
      </p:sp>
      <p:sp>
        <p:nvSpPr>
          <p:cNvPr id="943" name="Google Shape;943;p1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p111"/>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Valor-P Extremo → </a:t>
            </a:r>
            <a:r>
              <a:rPr lang="pt-BR"/>
              <a:t>Rejeição</a:t>
            </a:r>
            <a:r>
              <a:rPr lang="pt-BR"/>
              <a:t> da Nula</a:t>
            </a:r>
            <a:endParaRPr/>
          </a:p>
        </p:txBody>
      </p:sp>
      <p:sp>
        <p:nvSpPr>
          <p:cNvPr id="949" name="Google Shape;949;p111"/>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Quando observamos um valor extremo</a:t>
            </a:r>
            <a:endParaRPr/>
          </a:p>
          <a:p>
            <a:pPr indent="-342900" lvl="0" marL="457200" rtl="0" algn="l">
              <a:spcBef>
                <a:spcPts val="0"/>
              </a:spcBef>
              <a:spcAft>
                <a:spcPts val="0"/>
              </a:spcAft>
              <a:buSzPts val="1800"/>
              <a:buChar char="●"/>
            </a:pPr>
            <a:r>
              <a:rPr lang="pt-BR"/>
              <a:t>Poucas razões para aceitar o modelo</a:t>
            </a:r>
            <a:endParaRPr/>
          </a:p>
          <a:p>
            <a:pPr indent="-317500" lvl="1" marL="914400" rtl="0" algn="l">
              <a:spcBef>
                <a:spcPts val="0"/>
              </a:spcBef>
              <a:spcAft>
                <a:spcPts val="0"/>
              </a:spcAft>
              <a:buSzPts val="1400"/>
              <a:buChar char="○"/>
            </a:pPr>
            <a:r>
              <a:rPr lang="pt-BR"/>
              <a:t>Hipótese nula</a:t>
            </a:r>
            <a:endParaRPr/>
          </a:p>
          <a:p>
            <a:pPr indent="-342900" lvl="0" marL="457200" rtl="0" algn="l">
              <a:spcBef>
                <a:spcPts val="0"/>
              </a:spcBef>
              <a:spcAft>
                <a:spcPts val="0"/>
              </a:spcAft>
              <a:buSzPts val="1800"/>
              <a:buChar char="●"/>
            </a:pPr>
            <a:r>
              <a:rPr lang="pt-BR"/>
              <a:t>Temos mais evidências do contrário</a:t>
            </a:r>
            <a:endParaRPr/>
          </a:p>
        </p:txBody>
      </p:sp>
      <p:sp>
        <p:nvSpPr>
          <p:cNvPr id="950" name="Google Shape;950;p1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112"/>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One vs Two Tails</a:t>
            </a:r>
            <a:endParaRPr/>
          </a:p>
        </p:txBody>
      </p:sp>
      <p:sp>
        <p:nvSpPr>
          <p:cNvPr id="956" name="Google Shape;956;p112"/>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Figura do lado esquerdo, caso eu simular Grupo A - Grupo B</a:t>
            </a:r>
            <a:br>
              <a:rPr lang="pt-BR"/>
            </a:br>
            <a:r>
              <a:rPr lang="pt-BR"/>
              <a:t>(valor extremo do lado esquerdo do plot)</a:t>
            </a:r>
            <a:endParaRPr/>
          </a:p>
          <a:p>
            <a:pPr indent="-342900" lvl="0" marL="457200" rtl="0" algn="l">
              <a:spcBef>
                <a:spcPts val="0"/>
              </a:spcBef>
              <a:spcAft>
                <a:spcPts val="0"/>
              </a:spcAft>
              <a:buSzPts val="1800"/>
              <a:buChar char="●"/>
            </a:pPr>
            <a:r>
              <a:rPr lang="pt-BR"/>
              <a:t>Figura do lado direito, caso eu queira Grupo A != Grupo B</a:t>
            </a:r>
            <a:endParaRPr/>
          </a:p>
        </p:txBody>
      </p:sp>
      <p:pic>
        <p:nvPicPr>
          <p:cNvPr id="957" name="Google Shape;957;p112"/>
          <p:cNvPicPr preferRelativeResize="0"/>
          <p:nvPr/>
        </p:nvPicPr>
        <p:blipFill>
          <a:blip r:embed="rId3">
            <a:alphaModFix/>
          </a:blip>
          <a:stretch>
            <a:fillRect/>
          </a:stretch>
        </p:blipFill>
        <p:spPr>
          <a:xfrm>
            <a:off x="1761525" y="2332950"/>
            <a:ext cx="5715000" cy="205740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13"/>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Valor-P Extremo → Rejeição da Nula</a:t>
            </a:r>
            <a:endParaRPr/>
          </a:p>
        </p:txBody>
      </p:sp>
      <p:sp>
        <p:nvSpPr>
          <p:cNvPr id="963" name="Google Shape;963;p113"/>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Quando observamos um valor extremo</a:t>
            </a:r>
            <a:endParaRPr/>
          </a:p>
          <a:p>
            <a:pPr indent="-342900" lvl="0" marL="457200" rtl="0" algn="l">
              <a:spcBef>
                <a:spcPts val="0"/>
              </a:spcBef>
              <a:spcAft>
                <a:spcPts val="0"/>
              </a:spcAft>
              <a:buSzPts val="1800"/>
              <a:buChar char="●"/>
            </a:pPr>
            <a:r>
              <a:rPr lang="pt-BR"/>
              <a:t>Poucas razões para aceitar o modelo</a:t>
            </a:r>
            <a:endParaRPr/>
          </a:p>
          <a:p>
            <a:pPr indent="-317500" lvl="1" marL="914400" rtl="0" algn="l">
              <a:spcBef>
                <a:spcPts val="0"/>
              </a:spcBef>
              <a:spcAft>
                <a:spcPts val="0"/>
              </a:spcAft>
              <a:buSzPts val="1400"/>
              <a:buChar char="○"/>
            </a:pPr>
            <a:r>
              <a:rPr lang="pt-BR"/>
              <a:t>Hipótese nula</a:t>
            </a:r>
            <a:endParaRPr/>
          </a:p>
          <a:p>
            <a:pPr indent="-342900" lvl="0" marL="457200" rtl="0" algn="l">
              <a:spcBef>
                <a:spcPts val="0"/>
              </a:spcBef>
              <a:spcAft>
                <a:spcPts val="0"/>
              </a:spcAft>
              <a:buSzPts val="1800"/>
              <a:buChar char="●"/>
            </a:pPr>
            <a:r>
              <a:rPr lang="pt-BR"/>
              <a:t>Temos mais evidências do contrário</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b="1" lang="pt-BR">
                <a:solidFill>
                  <a:srgbClr val="FF0000"/>
                </a:solidFill>
              </a:rPr>
              <a:t>CUIDADO: NO GERAL NÃO SE ACEITA HIPÓTESE ALTERNATIVA. NEM SEMPRE É O OPOSTO DA NULA, EXISTE UM MUNDO DE OUTRAS HIPÓTESES.</a:t>
            </a:r>
            <a:endParaRPr b="1">
              <a:solidFill>
                <a:srgbClr val="FF0000"/>
              </a:solidFill>
            </a:endParaRPr>
          </a:p>
        </p:txBody>
      </p:sp>
      <p:sp>
        <p:nvSpPr>
          <p:cNvPr id="964" name="Google Shape;964;p1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114"/>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Significância</a:t>
            </a:r>
            <a:endParaRPr/>
          </a:p>
        </p:txBody>
      </p:sp>
      <p:sp>
        <p:nvSpPr>
          <p:cNvPr id="970" name="Google Shape;970;p114"/>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Depois de computar o Valor-P decidimos se rejeitamos a nula ou não</a:t>
            </a:r>
            <a:endParaRPr/>
          </a:p>
          <a:p>
            <a:pPr indent="-342900" lvl="0" marL="457200" rtl="0" algn="l">
              <a:spcBef>
                <a:spcPts val="0"/>
              </a:spcBef>
              <a:spcAft>
                <a:spcPts val="0"/>
              </a:spcAft>
              <a:buSzPts val="1800"/>
              <a:buChar char="●"/>
            </a:pPr>
            <a:r>
              <a:rPr lang="pt-BR"/>
              <a:t>Para isso definimos um limiar de significância</a:t>
            </a:r>
            <a:endParaRPr/>
          </a:p>
          <a:p>
            <a:pPr indent="-342900" lvl="0" marL="457200" rtl="0" algn="l">
              <a:spcBef>
                <a:spcPts val="0"/>
              </a:spcBef>
              <a:spcAft>
                <a:spcPts val="0"/>
              </a:spcAft>
              <a:buSzPts val="1800"/>
              <a:buChar char="●"/>
            </a:pPr>
            <a:r>
              <a:rPr lang="pt-BR"/>
              <a:t>Quando temos uma verossimilhança baixa</a:t>
            </a:r>
            <a:endParaRPr/>
          </a:p>
          <a:p>
            <a:pPr indent="-317500" lvl="1" marL="914400" rtl="0" algn="l">
              <a:spcBef>
                <a:spcPts val="0"/>
              </a:spcBef>
              <a:spcAft>
                <a:spcPts val="0"/>
              </a:spcAft>
              <a:buSzPts val="1400"/>
              <a:buChar char="○"/>
            </a:pPr>
            <a:r>
              <a:rPr lang="pt-BR"/>
              <a:t>5%, 10%, 1%</a:t>
            </a:r>
            <a:endParaRPr/>
          </a:p>
          <a:p>
            <a:pPr indent="-342900" lvl="0" marL="457200" rtl="0" algn="l">
              <a:spcBef>
                <a:spcPts val="0"/>
              </a:spcBef>
              <a:spcAft>
                <a:spcPts val="0"/>
              </a:spcAft>
              <a:buSzPts val="1800"/>
              <a:buChar char="●"/>
            </a:pPr>
            <a:r>
              <a:rPr lang="pt-BR"/>
              <a:t>Temos evidências de que o modelo nulo não é válido</a:t>
            </a:r>
            <a:endParaRPr/>
          </a:p>
          <a:p>
            <a:pPr indent="-317500" lvl="1" marL="914400" rtl="0" algn="l">
              <a:spcBef>
                <a:spcPts val="0"/>
              </a:spcBef>
              <a:spcAft>
                <a:spcPts val="0"/>
              </a:spcAft>
              <a:buSzPts val="1400"/>
              <a:buChar char="○"/>
            </a:pPr>
            <a:r>
              <a:rPr lang="pt-BR"/>
              <a:t>Podemos errar! </a:t>
            </a:r>
            <a:endParaRPr/>
          </a:p>
        </p:txBody>
      </p:sp>
      <p:sp>
        <p:nvSpPr>
          <p:cNvPr id="971" name="Google Shape;971;p1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pic>
        <p:nvPicPr>
          <p:cNvPr id="976" name="Google Shape;976;p115"/>
          <p:cNvPicPr preferRelativeResize="0"/>
          <p:nvPr/>
        </p:nvPicPr>
        <p:blipFill>
          <a:blip r:embed="rId3">
            <a:alphaModFix/>
          </a:blip>
          <a:stretch>
            <a:fillRect/>
          </a:stretch>
        </p:blipFill>
        <p:spPr>
          <a:xfrm>
            <a:off x="1222838" y="1243050"/>
            <a:ext cx="6698325" cy="3465858"/>
          </a:xfrm>
          <a:prstGeom prst="rect">
            <a:avLst/>
          </a:prstGeom>
          <a:noFill/>
          <a:ln>
            <a:noFill/>
          </a:ln>
        </p:spPr>
      </p:pic>
      <p:sp>
        <p:nvSpPr>
          <p:cNvPr id="977" name="Google Shape;977;p115"/>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Sir Ronald Fisher, 1890-1962</a:t>
            </a:r>
            <a:endParaRPr/>
          </a:p>
        </p:txBody>
      </p:sp>
      <p:sp>
        <p:nvSpPr>
          <p:cNvPr id="978" name="Google Shape;978;p1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116"/>
          <p:cNvSpPr txBox="1"/>
          <p:nvPr>
            <p:ph idx="1" type="body"/>
          </p:nvPr>
        </p:nvSpPr>
        <p:spPr>
          <a:xfrm>
            <a:off x="457200" y="1680138"/>
            <a:ext cx="8229600" cy="178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solidFill>
                  <a:srgbClr val="003262"/>
                </a:solidFill>
              </a:rPr>
              <a:t>“It is convenient to take this point [5%] as a limit in judging whether a deviation is to be considered significant or not.”</a:t>
            </a:r>
            <a:endParaRPr>
              <a:solidFill>
                <a:srgbClr val="003262"/>
              </a:solidFill>
            </a:endParaRPr>
          </a:p>
          <a:p>
            <a:pPr indent="0" lvl="0" marL="0" rtl="0" algn="l">
              <a:spcBef>
                <a:spcPts val="1600"/>
              </a:spcBef>
              <a:spcAft>
                <a:spcPts val="1600"/>
              </a:spcAft>
              <a:buNone/>
            </a:pPr>
            <a:r>
              <a:rPr lang="pt-BR"/>
              <a:t>–– </a:t>
            </a:r>
            <a:r>
              <a:rPr i="1" lang="pt-BR"/>
              <a:t>Statistical Methods for Research Workers</a:t>
            </a:r>
            <a:endParaRPr i="1"/>
          </a:p>
        </p:txBody>
      </p:sp>
      <p:sp>
        <p:nvSpPr>
          <p:cNvPr id="984" name="Google Shape;984;p116"/>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Sir Ronald Fisher, 1925</a:t>
            </a:r>
            <a:endParaRPr/>
          </a:p>
        </p:txBody>
      </p:sp>
      <p:sp>
        <p:nvSpPr>
          <p:cNvPr id="985" name="Google Shape;985;p1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117"/>
          <p:cNvSpPr txBox="1"/>
          <p:nvPr>
            <p:ph idx="1" type="body"/>
          </p:nvPr>
        </p:nvSpPr>
        <p:spPr>
          <a:xfrm>
            <a:off x="457200" y="1390950"/>
            <a:ext cx="8229600" cy="2361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pt-BR">
                <a:solidFill>
                  <a:srgbClr val="003262"/>
                </a:solidFill>
              </a:rPr>
              <a:t>“If one in twenty does not seem high enough odds, we may, if we prefer it, draw the line at one in fifty (the 2 percent point), or one in a hundred (the 1 percent point). Personally, the author prefers to set a low standard of significance at the 5 percent point …”</a:t>
            </a:r>
            <a:endParaRPr>
              <a:solidFill>
                <a:srgbClr val="003262"/>
              </a:solidFill>
            </a:endParaRPr>
          </a:p>
        </p:txBody>
      </p:sp>
      <p:sp>
        <p:nvSpPr>
          <p:cNvPr id="991" name="Google Shape;991;p117"/>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Sir Ronald Fisher, 1926</a:t>
            </a:r>
            <a:endParaRPr/>
          </a:p>
        </p:txBody>
      </p:sp>
      <p:sp>
        <p:nvSpPr>
          <p:cNvPr id="992" name="Google Shape;992;p1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18"/>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p &lt; 0.05</a:t>
            </a:r>
            <a:endParaRPr/>
          </a:p>
        </p:txBody>
      </p:sp>
      <p:sp>
        <p:nvSpPr>
          <p:cNvPr id="998" name="Google Shape;998;p118"/>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pt-BR"/>
              <a:t>O importante é lembrar que isso é uma convenção</a:t>
            </a:r>
            <a:endParaRPr/>
          </a:p>
          <a:p>
            <a:pPr indent="-342900" lvl="0" marL="457200" rtl="0" algn="l">
              <a:spcBef>
                <a:spcPts val="0"/>
              </a:spcBef>
              <a:spcAft>
                <a:spcPts val="0"/>
              </a:spcAft>
              <a:buSzPts val="1800"/>
              <a:buChar char="●"/>
            </a:pPr>
            <a:r>
              <a:rPr lang="pt-BR"/>
              <a:t>Podemos manipular os dados para chegar nisso</a:t>
            </a:r>
            <a:endParaRPr/>
          </a:p>
          <a:p>
            <a:pPr indent="-342900" lvl="0" marL="457200" rtl="0" algn="l">
              <a:spcBef>
                <a:spcPts val="0"/>
              </a:spcBef>
              <a:spcAft>
                <a:spcPts val="0"/>
              </a:spcAft>
              <a:buSzPts val="1800"/>
              <a:buChar char="●"/>
            </a:pPr>
            <a:r>
              <a:rPr lang="pt-BR"/>
              <a:t>Dependendo do tamanho da amostra, pode ser melhor buscar valores mais extremos: p &lt; 0.0001.</a:t>
            </a:r>
            <a:endParaRPr/>
          </a:p>
        </p:txBody>
      </p:sp>
      <p:sp>
        <p:nvSpPr>
          <p:cNvPr id="999" name="Google Shape;999;p1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119"/>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Referências</a:t>
            </a:r>
            <a:endParaRPr/>
          </a:p>
        </p:txBody>
      </p:sp>
      <p:sp>
        <p:nvSpPr>
          <p:cNvPr id="1005" name="Google Shape;1005;p1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
        <p:nvSpPr>
          <p:cNvPr id="1006" name="Google Shape;1006;p119"/>
          <p:cNvSpPr txBox="1"/>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000000"/>
              </a:buClr>
              <a:buSzPts val="1800"/>
              <a:buFont typeface="Source Sans Pro"/>
              <a:buChar char="●"/>
            </a:pPr>
            <a:r>
              <a:rPr b="1" lang="pt-BR" sz="1800">
                <a:solidFill>
                  <a:srgbClr val="000000"/>
                </a:solidFill>
                <a:latin typeface="Source Sans Pro"/>
                <a:ea typeface="Source Sans Pro"/>
                <a:cs typeface="Source Sans Pro"/>
                <a:sym typeface="Source Sans Pro"/>
              </a:rPr>
              <a:t>Computational and Inferential Thinking</a:t>
            </a:r>
            <a:br>
              <a:rPr lang="pt-BR" sz="1800">
                <a:solidFill>
                  <a:srgbClr val="000000"/>
                </a:solidFill>
                <a:latin typeface="Source Sans Pro"/>
                <a:ea typeface="Source Sans Pro"/>
                <a:cs typeface="Source Sans Pro"/>
                <a:sym typeface="Source Sans Pro"/>
              </a:rPr>
            </a:br>
            <a:r>
              <a:rPr lang="pt-BR" sz="1800">
                <a:solidFill>
                  <a:srgbClr val="000000"/>
                </a:solidFill>
                <a:latin typeface="Source Sans Pro"/>
                <a:ea typeface="Source Sans Pro"/>
                <a:cs typeface="Source Sans Pro"/>
                <a:sym typeface="Source Sans Pro"/>
              </a:rPr>
              <a:t>Chapter 1</a:t>
            </a:r>
            <a:r>
              <a:rPr lang="pt-BR" sz="1800">
                <a:latin typeface="Source Sans Pro"/>
                <a:ea typeface="Source Sans Pro"/>
                <a:cs typeface="Source Sans Pro"/>
                <a:sym typeface="Source Sans Pro"/>
              </a:rPr>
              <a:t>1</a:t>
            </a:r>
            <a:r>
              <a:rPr lang="pt-BR" sz="1800">
                <a:solidFill>
                  <a:srgbClr val="000000"/>
                </a:solidFill>
                <a:latin typeface="Source Sans Pro"/>
                <a:ea typeface="Source Sans Pro"/>
                <a:cs typeface="Source Sans Pro"/>
                <a:sym typeface="Source Sans Pro"/>
              </a:rPr>
              <a:t>: </a:t>
            </a:r>
            <a:r>
              <a:rPr lang="pt-BR" sz="1800">
                <a:latin typeface="Source Sans Pro"/>
                <a:ea typeface="Source Sans Pro"/>
                <a:cs typeface="Source Sans Pro"/>
                <a:sym typeface="Source Sans Pro"/>
              </a:rPr>
              <a:t>Testing Hypothesis</a:t>
            </a:r>
            <a:br>
              <a:rPr lang="pt-BR" sz="1800">
                <a:solidFill>
                  <a:srgbClr val="000000"/>
                </a:solidFill>
                <a:latin typeface="Source Sans Pro"/>
                <a:ea typeface="Source Sans Pro"/>
                <a:cs typeface="Source Sans Pro"/>
                <a:sym typeface="Source Sans Pro"/>
              </a:rPr>
            </a:br>
            <a:r>
              <a:rPr lang="pt-BR" sz="1800" u="sng">
                <a:solidFill>
                  <a:srgbClr val="009688"/>
                </a:solidFill>
                <a:latin typeface="Source Sans Pro"/>
                <a:ea typeface="Source Sans Pro"/>
                <a:cs typeface="Source Sans Pro"/>
                <a:sym typeface="Source Sans Pro"/>
                <a:hlinkClick r:id="rId3">
                  <a:extLst>
                    <a:ext uri="{A12FA001-AC4F-418D-AE19-62706E023703}">
                      <ahyp:hlinkClr val="tx"/>
                    </a:ext>
                  </a:extLst>
                </a:hlinkClick>
              </a:rPr>
              <a:t>https://www.inferentialthinking.com/</a:t>
            </a:r>
            <a:r>
              <a:rPr lang="pt-BR" sz="1800">
                <a:solidFill>
                  <a:srgbClr val="000000"/>
                </a:solidFill>
                <a:latin typeface="Source Sans Pro"/>
                <a:ea typeface="Source Sans Pro"/>
                <a:cs typeface="Source Sans Pro"/>
                <a:sym typeface="Source Sans Pro"/>
              </a:rPr>
              <a:t> </a:t>
            </a:r>
            <a:endParaRPr sz="1800">
              <a:solidFill>
                <a:srgbClr val="000000"/>
              </a:solidFill>
              <a:latin typeface="Source Sans Pro"/>
              <a:ea typeface="Source Sans Pro"/>
              <a:cs typeface="Source Sans Pro"/>
              <a:sym typeface="Source Sans Pro"/>
            </a:endParaRPr>
          </a:p>
          <a:p>
            <a:pPr indent="-342900" lvl="0" marL="457200" rtl="0" algn="l">
              <a:lnSpc>
                <a:spcPct val="115000"/>
              </a:lnSpc>
              <a:spcBef>
                <a:spcPts val="0"/>
              </a:spcBef>
              <a:spcAft>
                <a:spcPts val="0"/>
              </a:spcAft>
              <a:buClr>
                <a:srgbClr val="000000"/>
              </a:buClr>
              <a:buSzPts val="1800"/>
              <a:buFont typeface="Source Sans Pro"/>
              <a:buChar char="●"/>
            </a:pPr>
            <a:r>
              <a:rPr b="1" lang="pt-BR" sz="1800">
                <a:latin typeface="Source Sans Pro"/>
                <a:ea typeface="Source Sans Pro"/>
                <a:cs typeface="Source Sans Pro"/>
                <a:sym typeface="Source Sans Pro"/>
              </a:rPr>
              <a:t>Principles and Techniques for Data Science</a:t>
            </a:r>
            <a:br>
              <a:rPr b="1" lang="pt-BR" sz="1800">
                <a:latin typeface="Source Sans Pro"/>
                <a:ea typeface="Source Sans Pro"/>
                <a:cs typeface="Source Sans Pro"/>
                <a:sym typeface="Source Sans Pro"/>
              </a:rPr>
            </a:br>
            <a:r>
              <a:rPr lang="pt-BR" sz="1800">
                <a:latin typeface="Source Sans Pro"/>
                <a:ea typeface="Source Sans Pro"/>
                <a:cs typeface="Source Sans Pro"/>
                <a:sym typeface="Source Sans Pro"/>
              </a:rPr>
              <a:t>Chapter 18: Testing Hypothesis</a:t>
            </a:r>
            <a:br>
              <a:rPr lang="pt-BR" sz="1800">
                <a:solidFill>
                  <a:schemeClr val="dk2"/>
                </a:solidFill>
                <a:latin typeface="Source Sans Pro"/>
                <a:ea typeface="Source Sans Pro"/>
                <a:cs typeface="Source Sans Pro"/>
                <a:sym typeface="Source Sans Pro"/>
              </a:rPr>
            </a:br>
            <a:r>
              <a:rPr lang="pt-BR" sz="1800" u="sng">
                <a:solidFill>
                  <a:schemeClr val="hlink"/>
                </a:solidFill>
                <a:latin typeface="Source Sans Pro"/>
                <a:ea typeface="Source Sans Pro"/>
                <a:cs typeface="Source Sans Pro"/>
                <a:sym typeface="Source Sans Pro"/>
                <a:hlinkClick r:id="rId4"/>
              </a:rPr>
              <a:t>https://www.textbook.ds100.org</a:t>
            </a:r>
            <a:r>
              <a:rPr lang="pt-BR" sz="1800">
                <a:solidFill>
                  <a:schemeClr val="dk2"/>
                </a:solidFill>
                <a:latin typeface="Source Sans Pro"/>
                <a:ea typeface="Source Sans Pro"/>
                <a:cs typeface="Source Sans Pro"/>
                <a:sym typeface="Source Sans Pro"/>
              </a:rPr>
              <a:t> </a:t>
            </a:r>
            <a:endParaRPr sz="1800">
              <a:latin typeface="Source Sans Pro"/>
              <a:ea typeface="Source Sans Pro"/>
              <a:cs typeface="Source Sans Pro"/>
              <a:sym typeface="Source Sans Pro"/>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120"/>
          <p:cNvSpPr txBox="1"/>
          <p:nvPr>
            <p:ph type="title"/>
          </p:nvPr>
        </p:nvSpPr>
        <p:spPr>
          <a:xfrm>
            <a:off x="311700" y="283250"/>
            <a:ext cx="816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Contato</a:t>
            </a:r>
            <a:endParaRPr/>
          </a:p>
        </p:txBody>
      </p:sp>
      <p:sp>
        <p:nvSpPr>
          <p:cNvPr id="1012" name="Google Shape;1012;p120"/>
          <p:cNvSpPr txBox="1"/>
          <p:nvPr>
            <p:ph idx="1" type="body"/>
          </p:nvPr>
        </p:nvSpPr>
        <p:spPr>
          <a:xfrm>
            <a:off x="311700" y="973950"/>
            <a:ext cx="8520600" cy="3416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pt-BR"/>
              <a:t>Flavio Vinicius Diniz de Figueiredo</a:t>
            </a:r>
            <a:endParaRPr/>
          </a:p>
          <a:p>
            <a:pPr indent="0" lvl="0" marL="0" rtl="0" algn="r">
              <a:spcBef>
                <a:spcPts val="1600"/>
              </a:spcBef>
              <a:spcAft>
                <a:spcPts val="0"/>
              </a:spcAft>
              <a:buNone/>
            </a:pPr>
            <a:r>
              <a:rPr lang="pt-BR" u="sng">
                <a:solidFill>
                  <a:schemeClr val="hlink"/>
                </a:solidFill>
                <a:hlinkClick r:id="rId3"/>
              </a:rPr>
              <a:t>flavio@dcc.ufmg.br</a:t>
            </a:r>
            <a:r>
              <a:rPr lang="pt-BR"/>
              <a:t> </a:t>
            </a:r>
            <a:endParaRPr/>
          </a:p>
          <a:p>
            <a:pPr indent="0" lvl="0" marL="0" rtl="0" algn="r">
              <a:spcBef>
                <a:spcPts val="1600"/>
              </a:spcBef>
              <a:spcAft>
                <a:spcPts val="0"/>
              </a:spcAft>
              <a:buClr>
                <a:schemeClr val="dk1"/>
              </a:buClr>
              <a:buSzPts val="1100"/>
              <a:buFont typeface="Arial"/>
              <a:buNone/>
            </a:pPr>
            <a:r>
              <a:rPr lang="pt-BR"/>
              <a:t>Introdução à Ciência dos Dados</a:t>
            </a:r>
            <a:endParaRPr/>
          </a:p>
          <a:p>
            <a:pPr indent="0" lvl="0" marL="0" rtl="0" algn="r">
              <a:spcBef>
                <a:spcPts val="1600"/>
              </a:spcBef>
              <a:spcAft>
                <a:spcPts val="1600"/>
              </a:spcAft>
              <a:buNone/>
            </a:pPr>
            <a:r>
              <a:t/>
            </a:r>
            <a:endParaRPr/>
          </a:p>
        </p:txBody>
      </p:sp>
      <p:sp>
        <p:nvSpPr>
          <p:cNvPr id="1013" name="Google Shape;1013;p1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