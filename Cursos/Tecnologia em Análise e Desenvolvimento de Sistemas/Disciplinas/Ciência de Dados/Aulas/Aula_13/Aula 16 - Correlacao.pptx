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y="5143500" cx="9144000"/>
  <p:notesSz cx="6858000" cy="9144000"/>
  <p:embeddedFontLst>
    <p:embeddedFont>
      <p:font typeface="Montserrat SemiBold"/>
      <p:regular r:id="rId84"/>
      <p:bold r:id="rId85"/>
      <p:italic r:id="rId86"/>
      <p:boldItalic r:id="rId87"/>
    </p:embeddedFont>
    <p:embeddedFont>
      <p:font typeface="Roboto"/>
      <p:regular r:id="rId88"/>
      <p:bold r:id="rId89"/>
      <p:italic r:id="rId90"/>
      <p:boldItalic r:id="rId91"/>
    </p:embeddedFont>
    <p:embeddedFont>
      <p:font typeface="Montserrat"/>
      <p:regular r:id="rId92"/>
      <p:bold r:id="rId93"/>
      <p:italic r:id="rId94"/>
      <p:boldItalic r:id="rId95"/>
    </p:embeddedFont>
    <p:embeddedFont>
      <p:font typeface="Roboto Light"/>
      <p:regular r:id="rId96"/>
      <p:bold r:id="rId97"/>
      <p:italic r:id="rId98"/>
      <p:boldItalic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Montserrat-boldItalic.fntdata"/><Relationship Id="rId94" Type="http://schemas.openxmlformats.org/officeDocument/2006/relationships/font" Target="fonts/Montserrat-italic.fntdata"/><Relationship Id="rId97" Type="http://schemas.openxmlformats.org/officeDocument/2006/relationships/font" Target="fonts/RobotoLight-bold.fntdata"/><Relationship Id="rId96" Type="http://schemas.openxmlformats.org/officeDocument/2006/relationships/font" Target="fonts/RobotoLight-regular.fntdata"/><Relationship Id="rId11" Type="http://schemas.openxmlformats.org/officeDocument/2006/relationships/slide" Target="slides/slide5.xml"/><Relationship Id="rId99" Type="http://schemas.openxmlformats.org/officeDocument/2006/relationships/font" Target="fonts/RobotoLight-boldItalic.fntdata"/><Relationship Id="rId10" Type="http://schemas.openxmlformats.org/officeDocument/2006/relationships/slide" Target="slides/slide4.xml"/><Relationship Id="rId98" Type="http://schemas.openxmlformats.org/officeDocument/2006/relationships/font" Target="fonts/RobotoLigh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Roboto-boldItalic.fntdata"/><Relationship Id="rId90" Type="http://schemas.openxmlformats.org/officeDocument/2006/relationships/font" Target="fonts/Roboto-italic.fntdata"/><Relationship Id="rId93" Type="http://schemas.openxmlformats.org/officeDocument/2006/relationships/font" Target="fonts/Montserrat-bold.fntdata"/><Relationship Id="rId92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MontserratSemiBold-regular.fntdata"/><Relationship Id="rId83" Type="http://schemas.openxmlformats.org/officeDocument/2006/relationships/slide" Target="slides/slide77.xml"/><Relationship Id="rId86" Type="http://schemas.openxmlformats.org/officeDocument/2006/relationships/font" Target="fonts/MontserratSemiBold-italic.fntdata"/><Relationship Id="rId85" Type="http://schemas.openxmlformats.org/officeDocument/2006/relationships/font" Target="fonts/MontserratSemiBold-bold.fntdata"/><Relationship Id="rId88" Type="http://schemas.openxmlformats.org/officeDocument/2006/relationships/font" Target="fonts/Roboto-regular.fntdata"/><Relationship Id="rId87" Type="http://schemas.openxmlformats.org/officeDocument/2006/relationships/font" Target="fonts/MontserratSemiBold-boldItalic.fntdata"/><Relationship Id="rId89" Type="http://schemas.openxmlformats.org/officeDocument/2006/relationships/font" Target="fonts/Roboto-bold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28e503945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28e503945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8be417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8be417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7db1947d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7db1947d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7db1947d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7db1947d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97db1947d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97db1947d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7db1947d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7db1947d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7db1947d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7db1947d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97db1947d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97db1947d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7db1947d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7db1947d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7db1947d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7db1947d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97db1947d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97db1947d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97db1947d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97db1947d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7db1947d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7db1947d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7db1947d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7db1947d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97db1947d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97db1947d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97db1947d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97db1947d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97db1947d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97db1947d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97db1947d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97db1947d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97db1947d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97db1947d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97db1947d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97db1947d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97db1947d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97db1947d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be03e19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4be03e19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be03e197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4be03e197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be03e197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be03e197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4be03e197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4be03e197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4be03e197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4be03e197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4be03e197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4be03e197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be03e197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be03e197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4be03e197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4be03e197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4be03e197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4be03e197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4be03e197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4be03e197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4be03e197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4be03e197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4be03e197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4be03e197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4be03e197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4be03e197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4be03e197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4be03e197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4be03e197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4be03e197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4be03e197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4be03e197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4be03e1977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4be03e197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4be03e1977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4be03e1977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4be03e197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4be03e197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4be03e1977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4be03e197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97db1947d0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97db1947d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97db1947d0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97db1947d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97db1947d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97db1947d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97db1947d0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97db1947d0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7db1947d0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97db1947d0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97db1947d0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97db1947d0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97db1947d0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97db1947d0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97db1947d0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97db1947d0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97db1947d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97db1947d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97db1947d0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97db1947d0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97db1947d0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97db1947d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97db1947d0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97db1947d0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97db1947d0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97db1947d0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97db1947d0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97db1947d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97db1947d0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97db1947d0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Fazer animação com os símbolos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97db1947d0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97db1947d0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97db1947d0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97db1947d0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97db1947d0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97db1947d0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97db1947d0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97db1947d0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97db1947d0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97db1947d0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97db1947d0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97db1947d0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97db1947d0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97db1947d0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97db1947d0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97db1947d0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98be41778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98be41778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98be41778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98be41778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98be41778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98be41778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98be41778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98be41778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98be41778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98be41778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98be41778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98be41778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98be41778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98be41778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98be41778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98be41778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98be41778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98be41778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98be41778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98be41778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97db1947d0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97db1947d0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97db1947d0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97db1947d0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92cc4b5339_0_2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92cc4b5339_0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icd-ufmg.github.io/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mailto:flavio@dcc.ufmg.br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311700" y="1972200"/>
            <a:ext cx="8520600" cy="5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56" name="Google Shape;56;p14"/>
          <p:cNvSpPr txBox="1"/>
          <p:nvPr/>
        </p:nvSpPr>
        <p:spPr>
          <a:xfrm>
            <a:off x="1116000" y="2561400"/>
            <a:ext cx="691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Montserrat"/>
                <a:ea typeface="Montserrat"/>
                <a:cs typeface="Montserrat"/>
                <a:sym typeface="Montserrat"/>
              </a:rPr>
              <a:t>Introdução à Ciência dos Dados</a:t>
            </a:r>
            <a:br>
              <a:rPr lang="pt-BR" sz="17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2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https://icd-ufmg.github.io/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" y="4428000"/>
            <a:ext cx="11664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000" y="180000"/>
            <a:ext cx="1139915" cy="46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000000"/>
                </a:solidFill>
              </a:defRPr>
            </a:lvl1pPr>
            <a:lvl2pPr lvl="1" rtl="0">
              <a:buNone/>
              <a:defRPr sz="1300">
                <a:solidFill>
                  <a:srgbClr val="000000"/>
                </a:solidFill>
              </a:defRPr>
            </a:lvl2pPr>
            <a:lvl3pPr lvl="2" rtl="0">
              <a:buNone/>
              <a:defRPr sz="1300">
                <a:solidFill>
                  <a:srgbClr val="000000"/>
                </a:solidFill>
              </a:defRPr>
            </a:lvl3pPr>
            <a:lvl4pPr lvl="3" rtl="0">
              <a:buNone/>
              <a:defRPr sz="1300">
                <a:solidFill>
                  <a:srgbClr val="000000"/>
                </a:solidFill>
              </a:defRPr>
            </a:lvl4pPr>
            <a:lvl5pPr lvl="4" rtl="0">
              <a:buNone/>
              <a:defRPr sz="1300">
                <a:solidFill>
                  <a:srgbClr val="000000"/>
                </a:solidFill>
              </a:defRPr>
            </a:lvl5pPr>
            <a:lvl6pPr lvl="5" rtl="0">
              <a:buNone/>
              <a:defRPr sz="1300">
                <a:solidFill>
                  <a:srgbClr val="000000"/>
                </a:solidFill>
              </a:defRPr>
            </a:lvl6pPr>
            <a:lvl7pPr lvl="6" rtl="0">
              <a:buNone/>
              <a:defRPr sz="1300">
                <a:solidFill>
                  <a:srgbClr val="000000"/>
                </a:solidFill>
              </a:defRPr>
            </a:lvl7pPr>
            <a:lvl8pPr lvl="7" rtl="0">
              <a:buNone/>
              <a:defRPr sz="1300">
                <a:solidFill>
                  <a:srgbClr val="000000"/>
                </a:solidFill>
              </a:defRPr>
            </a:lvl8pPr>
            <a:lvl9pPr lvl="8" rtl="0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140200" y="4359025"/>
            <a:ext cx="3692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Montserrat"/>
                <a:ea typeface="Montserrat"/>
                <a:cs typeface="Montserrat"/>
                <a:sym typeface="Montserrat"/>
              </a:rPr>
              <a:t>Flavio Vinicius Diniz de Figueiredo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flavio@dcc.ufmg.br</a:t>
            </a: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9670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311700" y="283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27625" y="429350"/>
            <a:ext cx="102000" cy="280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B2352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  <a:defRPr b="1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B23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9" name="Google Shape;9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2" name="Google Shape;10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30462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" name="Google Shape;106;p2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5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7.png"/><Relationship Id="rId4" Type="http://schemas.openxmlformats.org/officeDocument/2006/relationships/image" Target="../media/image4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3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s://tylervigen.com/spurious-correlations" TargetMode="Externa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Relationship Id="rId3" Type="http://schemas.openxmlformats.org/officeDocument/2006/relationships/hyperlink" Target="https://www.inferentialthinking.com/" TargetMode="Externa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Relationship Id="rId3" Type="http://schemas.openxmlformats.org/officeDocument/2006/relationships/hyperlink" Target="mailto:flavio@dcc.ufmg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/>
        </p:nvSpPr>
        <p:spPr>
          <a:xfrm>
            <a:off x="311700" y="1841975"/>
            <a:ext cx="85206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SemiBold"/>
                <a:ea typeface="Montserrat SemiBold"/>
                <a:cs typeface="Montserrat SemiBold"/>
                <a:sym typeface="Montserrat SemiBold"/>
              </a:rPr>
              <a:t>Correlação</a:t>
            </a:r>
            <a:endParaRPr sz="2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24" name="Google Shape;124;p2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problema de ciência de dados?</a:t>
            </a:r>
            <a:endParaRPr/>
          </a:p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973950"/>
            <a:ext cx="8520600" cy="24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Mensurar o efeito de um X </a:t>
            </a:r>
            <a:r>
              <a:rPr lang="pt-BR"/>
              <a:t>na</a:t>
            </a:r>
            <a:r>
              <a:rPr lang="pt-BR"/>
              <a:t> resposta 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Vimos um pouco como mensurar isto via testes de hipóteses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Qual o efeito de fumar no peso dos bebês?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Negativo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Qual o efeito de uma vacina?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Ainda não sabemos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Qual o efeito de um time no salário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Sem </a:t>
            </a:r>
            <a:r>
              <a:rPr lang="pt-BR"/>
              <a:t>significância</a:t>
            </a:r>
            <a:r>
              <a:rPr lang="pt-BR"/>
              <a:t> estatística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Agora vamos responder a mesma pergunta via regressão!</a:t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5154725" y="4081571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/>
        </p:nvSpPr>
        <p:spPr>
          <a:xfrm>
            <a:off x="5119025" y="3781125"/>
            <a:ext cx="25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8" name="Google Shape;128;p27"/>
          <p:cNvSpPr/>
          <p:nvPr/>
        </p:nvSpPr>
        <p:spPr>
          <a:xfrm>
            <a:off x="3219750" y="4081571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27"/>
          <p:cNvCxnSpPr>
            <a:stCxn id="128" idx="6"/>
            <a:endCxn id="126" idx="2"/>
          </p:cNvCxnSpPr>
          <p:nvPr/>
        </p:nvCxnSpPr>
        <p:spPr>
          <a:xfrm>
            <a:off x="3406050" y="4174721"/>
            <a:ext cx="1748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27"/>
          <p:cNvSpPr txBox="1"/>
          <p:nvPr/>
        </p:nvSpPr>
        <p:spPr>
          <a:xfrm>
            <a:off x="3184050" y="3781125"/>
            <a:ext cx="25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da Variância</a:t>
            </a:r>
            <a:endParaRPr/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das métricas de dispersão que usamos bastante até agora é a variância e o desvio padrão.  A forma das duas segue abaixo: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A raiz disto, o desvio padrão, volta para a unidade original.</a:t>
            </a:r>
            <a:br>
              <a:rPr lang="pt-BR"/>
            </a:br>
            <a:br>
              <a:rPr lang="pt-BR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>
                <a:solidFill>
                  <a:srgbClr val="FF0000"/>
                </a:solidFill>
              </a:rPr>
              <a:t>Lembre-se que as bibliotecas </a:t>
            </a:r>
            <a:r>
              <a:rPr lang="pt-BR">
                <a:solidFill>
                  <a:srgbClr val="FF0000"/>
                </a:solidFill>
              </a:rPr>
              <a:t>python dividem</a:t>
            </a:r>
            <a:r>
              <a:rPr lang="pt-BR">
                <a:solidFill>
                  <a:srgbClr val="FF0000"/>
                </a:solidFill>
              </a:rPr>
              <a:t> por n.</a:t>
            </a:r>
            <a:endParaRPr/>
          </a:p>
        </p:txBody>
      </p:sp>
      <p:pic>
        <p:nvPicPr>
          <p:cNvPr descr="s^{2}={\frac {1}{n-1}}\sum _{{i=1}}^{n}\left(x_{i}-\overline {x}\right)^{2}" id="137" name="Google Shape;137;p2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7498" y="1914091"/>
            <a:ext cx="5189000" cy="797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 = \sqrt{s^2}" id="138" name="Google Shape;138;p28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725" y="3316450"/>
            <a:ext cx="1874538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da Variância</a:t>
            </a:r>
            <a:endParaRPr/>
          </a:p>
        </p:txBody>
      </p:sp>
      <p:sp>
        <p:nvSpPr>
          <p:cNvPr id="145" name="Google Shape;145;p2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variância sumariza a dispersão de uma coluna de dados apenas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proceder para dados bidimensionais?</a:t>
            </a:r>
            <a:endParaRPr/>
          </a:p>
        </p:txBody>
      </p:sp>
      <p:sp>
        <p:nvSpPr>
          <p:cNvPr id="146" name="Google Shape;14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7" name="Google Shape;14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496" y="1870604"/>
            <a:ext cx="4603001" cy="308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Cada Caso Abaixo</a:t>
            </a:r>
            <a:endParaRPr/>
          </a:p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Sem Relação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Linear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Não-Linear</a:t>
            </a:r>
            <a:endParaRPr/>
          </a:p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5" name="Google Shape;1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0" y="2844048"/>
            <a:ext cx="2984050" cy="200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7729" y="2571750"/>
            <a:ext cx="2984047" cy="200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1174" y="511626"/>
            <a:ext cx="3207525" cy="21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Cada Caso Abaixo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Both"/>
            </a:pPr>
            <a:r>
              <a:rPr b="1" lang="pt-BR">
                <a:solidFill>
                  <a:schemeClr val="dk1"/>
                </a:solidFill>
              </a:rPr>
              <a:t>Sem Relação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Linear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Não-Linear</a:t>
            </a:r>
            <a:endParaRPr/>
          </a:p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174" y="511626"/>
            <a:ext cx="3207525" cy="21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Cada Caso Abaixo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Sem Relação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Linear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Both"/>
            </a:pPr>
            <a:r>
              <a:rPr b="1" lang="pt-BR">
                <a:solidFill>
                  <a:schemeClr val="dk1"/>
                </a:solidFill>
              </a:rPr>
              <a:t>Relação Não-Linear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3" name="Google Shape;1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729" y="2571750"/>
            <a:ext cx="2984047" cy="200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Cada Caso Abaixo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Sem Relação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Both"/>
            </a:pPr>
            <a:r>
              <a:rPr b="1" lang="pt-BR">
                <a:solidFill>
                  <a:schemeClr val="dk1"/>
                </a:solidFill>
              </a:rPr>
              <a:t>Relação Linear (nosso foco na aula)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Não-Linear</a:t>
            </a:r>
            <a:endParaRPr/>
          </a:p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1" name="Google Shape;1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2" y="2414575"/>
            <a:ext cx="3578350" cy="23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002" y="2414574"/>
            <a:ext cx="3578350" cy="2399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Correlação</a:t>
            </a:r>
            <a:endParaRPr/>
          </a:p>
        </p:txBody>
      </p:sp>
      <p:sp>
        <p:nvSpPr>
          <p:cNvPr id="188" name="Google Shape;18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Passo 0, desenhe o eixo x e o eixo y</a:t>
            </a:r>
            <a:endParaRPr/>
          </a:p>
        </p:txBody>
      </p:sp>
      <p:cxnSp>
        <p:nvCxnSpPr>
          <p:cNvPr id="190" name="Google Shape;190;p34"/>
          <p:cNvCxnSpPr/>
          <p:nvPr/>
        </p:nvCxnSpPr>
        <p:spPr>
          <a:xfrm>
            <a:off x="2559913" y="1915375"/>
            <a:ext cx="0" cy="262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34"/>
          <p:cNvCxnSpPr/>
          <p:nvPr/>
        </p:nvCxnSpPr>
        <p:spPr>
          <a:xfrm>
            <a:off x="2572488" y="4568875"/>
            <a:ext cx="401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Correlação</a:t>
            </a:r>
            <a:endParaRPr/>
          </a:p>
        </p:txBody>
      </p:sp>
      <p:sp>
        <p:nvSpPr>
          <p:cNvPr id="197" name="Google Shape;19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representar a Média de X e a Média de Y?</a:t>
            </a:r>
            <a:endParaRPr/>
          </a:p>
        </p:txBody>
      </p:sp>
      <p:cxnSp>
        <p:nvCxnSpPr>
          <p:cNvPr id="199" name="Google Shape;199;p35"/>
          <p:cNvCxnSpPr/>
          <p:nvPr/>
        </p:nvCxnSpPr>
        <p:spPr>
          <a:xfrm>
            <a:off x="2559913" y="1915375"/>
            <a:ext cx="0" cy="262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5"/>
          <p:cNvCxnSpPr/>
          <p:nvPr/>
        </p:nvCxnSpPr>
        <p:spPr>
          <a:xfrm>
            <a:off x="2572488" y="4568875"/>
            <a:ext cx="401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35"/>
          <p:cNvCxnSpPr/>
          <p:nvPr/>
        </p:nvCxnSpPr>
        <p:spPr>
          <a:xfrm>
            <a:off x="2592650" y="3205975"/>
            <a:ext cx="407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5"/>
          <p:cNvCxnSpPr>
            <a:stCxn id="198" idx="2"/>
          </p:cNvCxnSpPr>
          <p:nvPr/>
        </p:nvCxnSpPr>
        <p:spPr>
          <a:xfrm rot="10800000">
            <a:off x="4572000" y="1661550"/>
            <a:ext cx="0" cy="27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Correlação</a:t>
            </a:r>
            <a:endParaRPr/>
          </a:p>
        </p:txBody>
      </p:sp>
      <p:sp>
        <p:nvSpPr>
          <p:cNvPr id="208" name="Google Shape;20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9" name="Google Shape;2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9364" y="2047749"/>
            <a:ext cx="4062935" cy="27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47747"/>
            <a:ext cx="4062935" cy="2724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36"/>
          <p:cNvCxnSpPr/>
          <p:nvPr/>
        </p:nvCxnSpPr>
        <p:spPr>
          <a:xfrm flipH="1" rot="10800000">
            <a:off x="255085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36"/>
          <p:cNvCxnSpPr/>
          <p:nvPr/>
        </p:nvCxnSpPr>
        <p:spPr>
          <a:xfrm rot="10800000">
            <a:off x="79455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36"/>
          <p:cNvCxnSpPr/>
          <p:nvPr/>
        </p:nvCxnSpPr>
        <p:spPr>
          <a:xfrm flipH="1" rot="10800000">
            <a:off x="708010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36"/>
          <p:cNvCxnSpPr/>
          <p:nvPr/>
        </p:nvCxnSpPr>
        <p:spPr>
          <a:xfrm rot="10800000">
            <a:off x="532380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Coloque os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Onde fica a concentração de pontos?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Correlação</a:t>
            </a:r>
            <a:endParaRPr/>
          </a:p>
        </p:txBody>
      </p:sp>
      <p:sp>
        <p:nvSpPr>
          <p:cNvPr id="221" name="Google Shape;22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9364" y="2047749"/>
            <a:ext cx="4062935" cy="27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47747"/>
            <a:ext cx="4062935" cy="2724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37"/>
          <p:cNvCxnSpPr/>
          <p:nvPr/>
        </p:nvCxnSpPr>
        <p:spPr>
          <a:xfrm flipH="1" rot="10800000">
            <a:off x="255085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7"/>
          <p:cNvCxnSpPr/>
          <p:nvPr/>
        </p:nvCxnSpPr>
        <p:spPr>
          <a:xfrm rot="10800000">
            <a:off x="79455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7"/>
          <p:cNvCxnSpPr/>
          <p:nvPr/>
        </p:nvCxnSpPr>
        <p:spPr>
          <a:xfrm flipH="1" rot="10800000">
            <a:off x="708010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7"/>
          <p:cNvCxnSpPr/>
          <p:nvPr/>
        </p:nvCxnSpPr>
        <p:spPr>
          <a:xfrm rot="10800000">
            <a:off x="532380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Coloque os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Onde fica a concentração de pontos?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mensurar?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Focando no Caso Positivo</a:t>
            </a:r>
            <a:endParaRPr/>
          </a:p>
        </p:txBody>
      </p:sp>
      <p:sp>
        <p:nvSpPr>
          <p:cNvPr id="234" name="Google Shape;23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537" y="2215022"/>
            <a:ext cx="4062935" cy="2724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p38"/>
          <p:cNvCxnSpPr/>
          <p:nvPr/>
        </p:nvCxnSpPr>
        <p:spPr>
          <a:xfrm flipH="1" rot="10800000">
            <a:off x="4779688" y="2174525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8"/>
          <p:cNvCxnSpPr/>
          <p:nvPr/>
        </p:nvCxnSpPr>
        <p:spPr>
          <a:xfrm rot="10800000">
            <a:off x="3023388" y="3442925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8" name="Google Shape;238;p38"/>
          <p:cNvSpPr txBox="1"/>
          <p:nvPr>
            <p:ph idx="1" type="body"/>
          </p:nvPr>
        </p:nvSpPr>
        <p:spPr>
          <a:xfrm>
            <a:off x="311700" y="1152475"/>
            <a:ext cx="8520600" cy="7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correlação positiva concentra pontos nos quadrantes 1 e 3</a:t>
            </a:r>
            <a:endParaRPr/>
          </a:p>
        </p:txBody>
      </p:sp>
      <p:sp>
        <p:nvSpPr>
          <p:cNvPr id="239" name="Google Shape;239;p38"/>
          <p:cNvSpPr txBox="1"/>
          <p:nvPr/>
        </p:nvSpPr>
        <p:spPr>
          <a:xfrm>
            <a:off x="2943925" y="4065350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2943925" y="2758950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1" name="Google Shape;241;p38"/>
          <p:cNvSpPr txBox="1"/>
          <p:nvPr/>
        </p:nvSpPr>
        <p:spPr>
          <a:xfrm>
            <a:off x="6230875" y="2758950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6177175" y="3929975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Focando no Caso Negativo</a:t>
            </a:r>
            <a:endParaRPr/>
          </a:p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311700" y="1152475"/>
            <a:ext cx="8520600" cy="7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correlação negativa concentra pontos nos quadrantes 2 e 4</a:t>
            </a:r>
            <a:endParaRPr/>
          </a:p>
        </p:txBody>
      </p:sp>
      <p:pic>
        <p:nvPicPr>
          <p:cNvPr id="250" name="Google Shape;2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589" y="2058824"/>
            <a:ext cx="4062935" cy="2724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9"/>
          <p:cNvCxnSpPr/>
          <p:nvPr/>
        </p:nvCxnSpPr>
        <p:spPr>
          <a:xfrm flipH="1" rot="10800000">
            <a:off x="4515325" y="2018325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9"/>
          <p:cNvCxnSpPr/>
          <p:nvPr/>
        </p:nvCxnSpPr>
        <p:spPr>
          <a:xfrm rot="10800000">
            <a:off x="2759025" y="3286725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3" name="Google Shape;253;p39"/>
          <p:cNvSpPr txBox="1"/>
          <p:nvPr/>
        </p:nvSpPr>
        <p:spPr>
          <a:xfrm>
            <a:off x="2679550" y="3584875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2679550" y="2278475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5966500" y="2278475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6" name="Google Shape;256;p39"/>
          <p:cNvSpPr txBox="1"/>
          <p:nvPr/>
        </p:nvSpPr>
        <p:spPr>
          <a:xfrm>
            <a:off x="5912800" y="3449500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Sabendo dos dados acima</a:t>
            </a:r>
            <a:endParaRPr/>
          </a:p>
        </p:txBody>
      </p:sp>
      <p:sp>
        <p:nvSpPr>
          <p:cNvPr id="262" name="Google Shape;26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3" name="Google Shape;2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9364" y="2047749"/>
            <a:ext cx="4062935" cy="27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47747"/>
            <a:ext cx="4062935" cy="2724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40"/>
          <p:cNvCxnSpPr/>
          <p:nvPr/>
        </p:nvCxnSpPr>
        <p:spPr>
          <a:xfrm flipH="1" rot="10800000">
            <a:off x="255085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0"/>
          <p:cNvCxnSpPr/>
          <p:nvPr/>
        </p:nvCxnSpPr>
        <p:spPr>
          <a:xfrm rot="10800000">
            <a:off x="79455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40"/>
          <p:cNvCxnSpPr/>
          <p:nvPr/>
        </p:nvCxnSpPr>
        <p:spPr>
          <a:xfrm flipH="1" rot="10800000">
            <a:off x="708010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40"/>
          <p:cNvCxnSpPr/>
          <p:nvPr/>
        </p:nvCxnSpPr>
        <p:spPr>
          <a:xfrm rot="10800000">
            <a:off x="532380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9" name="Google Shape;269;p40"/>
          <p:cNvSpPr txBox="1"/>
          <p:nvPr>
            <p:ph idx="1" type="body"/>
          </p:nvPr>
        </p:nvSpPr>
        <p:spPr>
          <a:xfrm>
            <a:off x="311700" y="1152475"/>
            <a:ext cx="85206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Defina uma métrica para correlação linear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Bem mais simples agora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275" name="Google Shape;275;p4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Partindo das Figuras acima podemos formalizar uma métrica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Análogo da variância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Mede como duas variáveis variam em conjunto a partir de suas médias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                                          </a:t>
            </a:r>
            <a:endParaRPr/>
          </a:p>
        </p:txBody>
      </p:sp>
      <p:pic>
        <p:nvPicPr>
          <p:cNvPr descr="X = \{x_1, \cdots, x_n\}" id="276" name="Google Shape;276;p4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4425" y="2181775"/>
            <a:ext cx="2437350" cy="38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 = \{y_1, \cdots, y_n\}" id="277" name="Google Shape;277;p4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6500" y="2181775"/>
            <a:ext cx="2345714" cy="38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pic>
        <p:nvPicPr>
          <p:cNvPr id="284" name="Google Shape;28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286" name="Google Shape;28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42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42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0" name="Google Shape;290;p42"/>
          <p:cNvSpPr/>
          <p:nvPr/>
        </p:nvSpPr>
        <p:spPr>
          <a:xfrm>
            <a:off x="749425" y="3586075"/>
            <a:ext cx="2194500" cy="98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Qual o sinal do produto acima aqui?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sp>
        <p:nvSpPr>
          <p:cNvPr id="296" name="Google Shape;296;p4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297" name="Google Shape;29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8" name="Google Shape;29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43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43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1" name="Google Shape;301;p43"/>
          <p:cNvSpPr/>
          <p:nvPr/>
        </p:nvSpPr>
        <p:spPr>
          <a:xfrm>
            <a:off x="810500" y="2290775"/>
            <a:ext cx="2194500" cy="98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Qual o sinal do produto acima aqui?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302" name="Google Shape;30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sp>
        <p:nvSpPr>
          <p:cNvPr id="308" name="Google Shape;308;p4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309" name="Google Shape;30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0" name="Google Shape;3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44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44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3" name="Google Shape;313;p44"/>
          <p:cNvSpPr/>
          <p:nvPr/>
        </p:nvSpPr>
        <p:spPr>
          <a:xfrm rot="1705939">
            <a:off x="3474689" y="1615634"/>
            <a:ext cx="2194614" cy="98287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Qual o sinal do produto acima aqui?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314" name="Google Shape;31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sp>
        <p:nvSpPr>
          <p:cNvPr id="320" name="Google Shape;320;p4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321" name="Google Shape;32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2" name="Google Shape;32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5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5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5" name="Google Shape;325;p45"/>
          <p:cNvSpPr/>
          <p:nvPr/>
        </p:nvSpPr>
        <p:spPr>
          <a:xfrm rot="-835792">
            <a:off x="3779358" y="3849729"/>
            <a:ext cx="2194539" cy="9829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Qual o sinal do produto acima aqui?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326" name="Google Shape;32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sp>
        <p:nvSpPr>
          <p:cNvPr id="332" name="Google Shape;332;p4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333" name="Google Shape;33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4" name="Google Shape;3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46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6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37" name="Google Shape;337;p46"/>
          <p:cNvSpPr txBox="1"/>
          <p:nvPr/>
        </p:nvSpPr>
        <p:spPr>
          <a:xfrm>
            <a:off x="2943925" y="3836283"/>
            <a:ext cx="49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8" name="Google Shape;338;p46"/>
          <p:cNvSpPr txBox="1"/>
          <p:nvPr/>
        </p:nvSpPr>
        <p:spPr>
          <a:xfrm>
            <a:off x="2943925" y="2049850"/>
            <a:ext cx="67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9" name="Google Shape;339;p46"/>
          <p:cNvSpPr txBox="1"/>
          <p:nvPr/>
        </p:nvSpPr>
        <p:spPr>
          <a:xfrm>
            <a:off x="6783414" y="2049850"/>
            <a:ext cx="49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6720666" y="3651175"/>
            <a:ext cx="8751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41" name="Google Shape;34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chemeClr val="dk2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347" name="Google Shape;347;p4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problema de ciência de dados?</a:t>
            </a:r>
            <a:endParaRPr/>
          </a:p>
        </p:txBody>
      </p:sp>
      <p:sp>
        <p:nvSpPr>
          <p:cNvPr id="348" name="Google Shape;348;p47"/>
          <p:cNvSpPr txBox="1"/>
          <p:nvPr>
            <p:ph idx="1" type="body"/>
          </p:nvPr>
        </p:nvSpPr>
        <p:spPr>
          <a:xfrm>
            <a:off x="311700" y="973950"/>
            <a:ext cx="8520600" cy="24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Mensurar o efeito de um X na resposta 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Vimos um pouco como mensurar isto via testes de hipóteses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Qual o efeito de fumar no peso dos bebês?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Negativo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Qual o efeito de uma vacina?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Ainda não sabemos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Qual o efeito de um time no salário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Sem significância estatística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Agora vamos responder a mesma pergunta via regressão!</a:t>
            </a:r>
            <a:endParaRPr/>
          </a:p>
        </p:txBody>
      </p:sp>
      <p:sp>
        <p:nvSpPr>
          <p:cNvPr id="349" name="Google Shape;349;p47"/>
          <p:cNvSpPr/>
          <p:nvPr/>
        </p:nvSpPr>
        <p:spPr>
          <a:xfrm>
            <a:off x="5154725" y="4081571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7"/>
          <p:cNvSpPr txBox="1"/>
          <p:nvPr/>
        </p:nvSpPr>
        <p:spPr>
          <a:xfrm>
            <a:off x="5119025" y="3781125"/>
            <a:ext cx="25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1" name="Google Shape;351;p47"/>
          <p:cNvSpPr/>
          <p:nvPr/>
        </p:nvSpPr>
        <p:spPr>
          <a:xfrm>
            <a:off x="3219750" y="4081571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2" name="Google Shape;352;p47"/>
          <p:cNvCxnSpPr>
            <a:stCxn id="351" idx="6"/>
            <a:endCxn id="349" idx="2"/>
          </p:cNvCxnSpPr>
          <p:nvPr/>
        </p:nvCxnSpPr>
        <p:spPr>
          <a:xfrm>
            <a:off x="3406050" y="4174721"/>
            <a:ext cx="1748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47"/>
          <p:cNvSpPr txBox="1"/>
          <p:nvPr/>
        </p:nvSpPr>
        <p:spPr>
          <a:xfrm>
            <a:off x="3184050" y="3781125"/>
            <a:ext cx="25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da Variância</a:t>
            </a:r>
            <a:endParaRPr/>
          </a:p>
        </p:txBody>
      </p:sp>
      <p:sp>
        <p:nvSpPr>
          <p:cNvPr id="359" name="Google Shape;359;p4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variância sumariza a dispersão de uma coluna de dados apenas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podemos proceder para dados bidimensionais?</a:t>
            </a:r>
            <a:endParaRPr/>
          </a:p>
        </p:txBody>
      </p:sp>
      <p:sp>
        <p:nvSpPr>
          <p:cNvPr id="360" name="Google Shape;36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1" name="Google Shape;36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496" y="1870604"/>
            <a:ext cx="4603001" cy="308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Cada Caso Abaixo</a:t>
            </a:r>
            <a:endParaRPr/>
          </a:p>
        </p:txBody>
      </p:sp>
      <p:sp>
        <p:nvSpPr>
          <p:cNvPr id="367" name="Google Shape;367;p4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Sem Relação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Linear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Não-Linear</a:t>
            </a:r>
            <a:endParaRPr/>
          </a:p>
        </p:txBody>
      </p:sp>
      <p:sp>
        <p:nvSpPr>
          <p:cNvPr id="368" name="Google Shape;36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9" name="Google Shape;36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0" y="2844048"/>
            <a:ext cx="2984050" cy="200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7729" y="2571750"/>
            <a:ext cx="2984047" cy="200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1174" y="511626"/>
            <a:ext cx="3207525" cy="21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Cada Caso Abaixo</a:t>
            </a:r>
            <a:endParaRPr/>
          </a:p>
        </p:txBody>
      </p:sp>
      <p:sp>
        <p:nvSpPr>
          <p:cNvPr id="377" name="Google Shape;377;p5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Both"/>
            </a:pPr>
            <a:r>
              <a:rPr b="1" lang="pt-BR">
                <a:solidFill>
                  <a:schemeClr val="dk1"/>
                </a:solidFill>
              </a:rPr>
              <a:t>Sem Relação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Linear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Não-Linear</a:t>
            </a:r>
            <a:endParaRPr/>
          </a:p>
        </p:txBody>
      </p:sp>
      <p:sp>
        <p:nvSpPr>
          <p:cNvPr id="378" name="Google Shape;37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9" name="Google Shape;37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174" y="511626"/>
            <a:ext cx="3207525" cy="21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Cada Caso Abaixo</a:t>
            </a:r>
            <a:endParaRPr/>
          </a:p>
        </p:txBody>
      </p:sp>
      <p:sp>
        <p:nvSpPr>
          <p:cNvPr id="385" name="Google Shape;385;p5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Sem Relação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Linear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Both"/>
            </a:pPr>
            <a:r>
              <a:rPr b="1" lang="pt-BR">
                <a:solidFill>
                  <a:schemeClr val="dk1"/>
                </a:solidFill>
              </a:rPr>
              <a:t>Relação Não-Linear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86" name="Google Shape;38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7" name="Google Shape;38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729" y="2571750"/>
            <a:ext cx="2984047" cy="200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Cada Caso Abaixo</a:t>
            </a:r>
            <a:endParaRPr/>
          </a:p>
        </p:txBody>
      </p:sp>
      <p:sp>
        <p:nvSpPr>
          <p:cNvPr id="393" name="Google Shape;393;p5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Sem Relação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Both"/>
            </a:pPr>
            <a:r>
              <a:rPr b="1" lang="pt-BR">
                <a:solidFill>
                  <a:schemeClr val="dk1"/>
                </a:solidFill>
              </a:rPr>
              <a:t>Relação Linear (nosso foco na aula)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Relação Não-Linear</a:t>
            </a:r>
            <a:endParaRPr/>
          </a:p>
        </p:txBody>
      </p:sp>
      <p:sp>
        <p:nvSpPr>
          <p:cNvPr id="394" name="Google Shape;39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5" name="Google Shape;39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2" y="2414575"/>
            <a:ext cx="3578350" cy="23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002" y="2414574"/>
            <a:ext cx="3578350" cy="2399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Correlação</a:t>
            </a:r>
            <a:endParaRPr/>
          </a:p>
        </p:txBody>
      </p:sp>
      <p:sp>
        <p:nvSpPr>
          <p:cNvPr id="402" name="Google Shape;40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3" name="Google Shape;403;p5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Passo 0, desenhe o eixo x e o eixo y</a:t>
            </a:r>
            <a:endParaRPr/>
          </a:p>
        </p:txBody>
      </p:sp>
      <p:cxnSp>
        <p:nvCxnSpPr>
          <p:cNvPr id="404" name="Google Shape;404;p53"/>
          <p:cNvCxnSpPr/>
          <p:nvPr/>
        </p:nvCxnSpPr>
        <p:spPr>
          <a:xfrm>
            <a:off x="2559913" y="1915375"/>
            <a:ext cx="0" cy="262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53"/>
          <p:cNvCxnSpPr/>
          <p:nvPr/>
        </p:nvCxnSpPr>
        <p:spPr>
          <a:xfrm>
            <a:off x="2572488" y="4568875"/>
            <a:ext cx="401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Correlação</a:t>
            </a:r>
            <a:endParaRPr/>
          </a:p>
        </p:txBody>
      </p:sp>
      <p:sp>
        <p:nvSpPr>
          <p:cNvPr id="411" name="Google Shape;41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2" name="Google Shape;412;p5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representar a Média de X e a Média de Y?</a:t>
            </a:r>
            <a:endParaRPr/>
          </a:p>
        </p:txBody>
      </p:sp>
      <p:cxnSp>
        <p:nvCxnSpPr>
          <p:cNvPr id="413" name="Google Shape;413;p54"/>
          <p:cNvCxnSpPr/>
          <p:nvPr/>
        </p:nvCxnSpPr>
        <p:spPr>
          <a:xfrm>
            <a:off x="2559913" y="1915375"/>
            <a:ext cx="0" cy="262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54"/>
          <p:cNvCxnSpPr/>
          <p:nvPr/>
        </p:nvCxnSpPr>
        <p:spPr>
          <a:xfrm>
            <a:off x="2572488" y="4568875"/>
            <a:ext cx="401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54"/>
          <p:cNvCxnSpPr/>
          <p:nvPr/>
        </p:nvCxnSpPr>
        <p:spPr>
          <a:xfrm>
            <a:off x="2592650" y="3205975"/>
            <a:ext cx="407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54"/>
          <p:cNvCxnSpPr>
            <a:stCxn id="412" idx="2"/>
          </p:cNvCxnSpPr>
          <p:nvPr/>
        </p:nvCxnSpPr>
        <p:spPr>
          <a:xfrm rot="10800000">
            <a:off x="4572000" y="1661550"/>
            <a:ext cx="0" cy="27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Correlação</a:t>
            </a:r>
            <a:endParaRPr/>
          </a:p>
        </p:txBody>
      </p:sp>
      <p:sp>
        <p:nvSpPr>
          <p:cNvPr id="422" name="Google Shape;42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23" name="Google Shape;42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9364" y="2047749"/>
            <a:ext cx="4062935" cy="27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47747"/>
            <a:ext cx="4062935" cy="2724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5" name="Google Shape;425;p55"/>
          <p:cNvCxnSpPr/>
          <p:nvPr/>
        </p:nvCxnSpPr>
        <p:spPr>
          <a:xfrm flipH="1" rot="10800000">
            <a:off x="255085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55"/>
          <p:cNvCxnSpPr/>
          <p:nvPr/>
        </p:nvCxnSpPr>
        <p:spPr>
          <a:xfrm rot="10800000">
            <a:off x="79455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55"/>
          <p:cNvCxnSpPr/>
          <p:nvPr/>
        </p:nvCxnSpPr>
        <p:spPr>
          <a:xfrm flipH="1" rot="10800000">
            <a:off x="708010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55"/>
          <p:cNvCxnSpPr/>
          <p:nvPr/>
        </p:nvCxnSpPr>
        <p:spPr>
          <a:xfrm rot="10800000">
            <a:off x="532380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9" name="Google Shape;429;p5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Coloque os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Onde fica a concentração de pontos?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Mensurando Correlação</a:t>
            </a:r>
            <a:endParaRPr/>
          </a:p>
        </p:txBody>
      </p:sp>
      <p:sp>
        <p:nvSpPr>
          <p:cNvPr id="435" name="Google Shape;43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6" name="Google Shape;43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9364" y="2047749"/>
            <a:ext cx="4062935" cy="27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47747"/>
            <a:ext cx="4062935" cy="2724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" name="Google Shape;438;p56"/>
          <p:cNvCxnSpPr/>
          <p:nvPr/>
        </p:nvCxnSpPr>
        <p:spPr>
          <a:xfrm flipH="1" rot="10800000">
            <a:off x="255085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56"/>
          <p:cNvCxnSpPr/>
          <p:nvPr/>
        </p:nvCxnSpPr>
        <p:spPr>
          <a:xfrm rot="10800000">
            <a:off x="79455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56"/>
          <p:cNvCxnSpPr/>
          <p:nvPr/>
        </p:nvCxnSpPr>
        <p:spPr>
          <a:xfrm flipH="1" rot="10800000">
            <a:off x="708010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56"/>
          <p:cNvCxnSpPr/>
          <p:nvPr/>
        </p:nvCxnSpPr>
        <p:spPr>
          <a:xfrm rot="10800000">
            <a:off x="532380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42" name="Google Shape;442;p5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Coloque os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Onde fica a concentração de pontos?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mensurar?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Focando no Caso Positivo</a:t>
            </a:r>
            <a:endParaRPr/>
          </a:p>
        </p:txBody>
      </p:sp>
      <p:sp>
        <p:nvSpPr>
          <p:cNvPr id="448" name="Google Shape;44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49" name="Google Shape;44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537" y="2215022"/>
            <a:ext cx="4062935" cy="2724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57"/>
          <p:cNvCxnSpPr/>
          <p:nvPr/>
        </p:nvCxnSpPr>
        <p:spPr>
          <a:xfrm flipH="1" rot="10800000">
            <a:off x="4779688" y="2174525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57"/>
          <p:cNvCxnSpPr/>
          <p:nvPr/>
        </p:nvCxnSpPr>
        <p:spPr>
          <a:xfrm rot="10800000">
            <a:off x="3023388" y="3442925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2" name="Google Shape;452;p57"/>
          <p:cNvSpPr txBox="1"/>
          <p:nvPr>
            <p:ph idx="1" type="body"/>
          </p:nvPr>
        </p:nvSpPr>
        <p:spPr>
          <a:xfrm>
            <a:off x="311700" y="1152475"/>
            <a:ext cx="8520600" cy="7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correlação positiva concentra pontos nos quadrantes 1 e 3</a:t>
            </a:r>
            <a:endParaRPr/>
          </a:p>
        </p:txBody>
      </p:sp>
      <p:sp>
        <p:nvSpPr>
          <p:cNvPr id="453" name="Google Shape;453;p57"/>
          <p:cNvSpPr txBox="1"/>
          <p:nvPr/>
        </p:nvSpPr>
        <p:spPr>
          <a:xfrm>
            <a:off x="2943925" y="4065350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4" name="Google Shape;454;p57"/>
          <p:cNvSpPr txBox="1"/>
          <p:nvPr/>
        </p:nvSpPr>
        <p:spPr>
          <a:xfrm>
            <a:off x="2943925" y="2758950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5" name="Google Shape;455;p57"/>
          <p:cNvSpPr txBox="1"/>
          <p:nvPr/>
        </p:nvSpPr>
        <p:spPr>
          <a:xfrm>
            <a:off x="6230875" y="2758950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56" name="Google Shape;456;p57"/>
          <p:cNvSpPr txBox="1"/>
          <p:nvPr/>
        </p:nvSpPr>
        <p:spPr>
          <a:xfrm>
            <a:off x="6177175" y="3929975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Focando no Caso Negativo</a:t>
            </a:r>
            <a:endParaRPr/>
          </a:p>
        </p:txBody>
      </p:sp>
      <p:sp>
        <p:nvSpPr>
          <p:cNvPr id="462" name="Google Shape;46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3" name="Google Shape;463;p58"/>
          <p:cNvSpPr txBox="1"/>
          <p:nvPr>
            <p:ph idx="1" type="body"/>
          </p:nvPr>
        </p:nvSpPr>
        <p:spPr>
          <a:xfrm>
            <a:off x="311700" y="1152475"/>
            <a:ext cx="8520600" cy="7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correlação negativa concentra pontos nos quadrantes 2 e 4</a:t>
            </a:r>
            <a:endParaRPr/>
          </a:p>
        </p:txBody>
      </p:sp>
      <p:pic>
        <p:nvPicPr>
          <p:cNvPr id="464" name="Google Shape;46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4589" y="2058824"/>
            <a:ext cx="4062935" cy="2724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5" name="Google Shape;465;p58"/>
          <p:cNvCxnSpPr/>
          <p:nvPr/>
        </p:nvCxnSpPr>
        <p:spPr>
          <a:xfrm flipH="1" rot="10800000">
            <a:off x="4515325" y="2018325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8"/>
          <p:cNvCxnSpPr/>
          <p:nvPr/>
        </p:nvCxnSpPr>
        <p:spPr>
          <a:xfrm rot="10800000">
            <a:off x="2759025" y="3286725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67" name="Google Shape;467;p58"/>
          <p:cNvSpPr txBox="1"/>
          <p:nvPr/>
        </p:nvSpPr>
        <p:spPr>
          <a:xfrm>
            <a:off x="2679550" y="3584875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8" name="Google Shape;468;p58"/>
          <p:cNvSpPr txBox="1"/>
          <p:nvPr/>
        </p:nvSpPr>
        <p:spPr>
          <a:xfrm>
            <a:off x="2679550" y="2278475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9" name="Google Shape;469;p58"/>
          <p:cNvSpPr txBox="1"/>
          <p:nvPr/>
        </p:nvSpPr>
        <p:spPr>
          <a:xfrm>
            <a:off x="5966500" y="2278475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70" name="Google Shape;470;p58"/>
          <p:cNvSpPr txBox="1"/>
          <p:nvPr/>
        </p:nvSpPr>
        <p:spPr>
          <a:xfrm>
            <a:off x="5912800" y="3449500"/>
            <a:ext cx="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Sabendo dos dados acima</a:t>
            </a:r>
            <a:endParaRPr/>
          </a:p>
        </p:txBody>
      </p:sp>
      <p:sp>
        <p:nvSpPr>
          <p:cNvPr id="476" name="Google Shape;476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77" name="Google Shape;47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9364" y="2047749"/>
            <a:ext cx="4062935" cy="27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47747"/>
            <a:ext cx="4062935" cy="2724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59"/>
          <p:cNvCxnSpPr/>
          <p:nvPr/>
        </p:nvCxnSpPr>
        <p:spPr>
          <a:xfrm flipH="1" rot="10800000">
            <a:off x="255085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59"/>
          <p:cNvCxnSpPr/>
          <p:nvPr/>
        </p:nvCxnSpPr>
        <p:spPr>
          <a:xfrm rot="10800000">
            <a:off x="79455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59"/>
          <p:cNvCxnSpPr/>
          <p:nvPr/>
        </p:nvCxnSpPr>
        <p:spPr>
          <a:xfrm flipH="1" rot="10800000">
            <a:off x="7080100" y="2007250"/>
            <a:ext cx="41700" cy="24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59"/>
          <p:cNvCxnSpPr/>
          <p:nvPr/>
        </p:nvCxnSpPr>
        <p:spPr>
          <a:xfrm rot="10800000">
            <a:off x="5323800" y="3275650"/>
            <a:ext cx="3401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83" name="Google Shape;483;p59"/>
          <p:cNvSpPr txBox="1"/>
          <p:nvPr>
            <p:ph idx="1" type="body"/>
          </p:nvPr>
        </p:nvSpPr>
        <p:spPr>
          <a:xfrm>
            <a:off x="311700" y="1152475"/>
            <a:ext cx="85206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Defina uma métrica para correlação linear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Bem mais simples agora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489" name="Google Shape;489;p6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Partindo das Figuras acima podemos formalizar uma métrica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Análogo da variância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Mede como duas variáveis variam em conjunto a partir de suas médias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                                          </a:t>
            </a:r>
            <a:endParaRPr/>
          </a:p>
        </p:txBody>
      </p:sp>
      <p:pic>
        <p:nvPicPr>
          <p:cNvPr descr="X = \{x_1, \cdots, x_n\}" id="490" name="Google Shape;490;p6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4425" y="2181775"/>
            <a:ext cx="2437350" cy="38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 = \{y_1, \cdots, y_n\}" id="491" name="Google Shape;491;p60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6500" y="2181775"/>
            <a:ext cx="2345714" cy="38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pic>
        <p:nvPicPr>
          <p:cNvPr id="498" name="Google Shape;49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500" name="Google Shape;50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01" name="Google Shape;50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2" name="Google Shape;502;p61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61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04" name="Google Shape;504;p61"/>
          <p:cNvSpPr/>
          <p:nvPr/>
        </p:nvSpPr>
        <p:spPr>
          <a:xfrm>
            <a:off x="749425" y="3586075"/>
            <a:ext cx="2194500" cy="98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Qual o sinal do produto acima aqui?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sp>
        <p:nvSpPr>
          <p:cNvPr id="510" name="Google Shape;510;p6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511" name="Google Shape;51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2" name="Google Shape;51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3" name="Google Shape;513;p62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62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15" name="Google Shape;515;p62"/>
          <p:cNvSpPr/>
          <p:nvPr/>
        </p:nvSpPr>
        <p:spPr>
          <a:xfrm>
            <a:off x="810500" y="2290775"/>
            <a:ext cx="2194500" cy="98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Qual o sinal do produto acima aqui?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516" name="Google Shape;51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3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sp>
        <p:nvSpPr>
          <p:cNvPr id="522" name="Google Shape;522;p6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523" name="Google Shape;52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24" name="Google Shape;52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5" name="Google Shape;525;p63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63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27" name="Google Shape;527;p63"/>
          <p:cNvSpPr/>
          <p:nvPr/>
        </p:nvSpPr>
        <p:spPr>
          <a:xfrm rot="1705939">
            <a:off x="3474689" y="1615634"/>
            <a:ext cx="2194614" cy="98287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Qual o sinal do produto acima aqui?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528" name="Google Shape;528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sp>
        <p:nvSpPr>
          <p:cNvPr id="534" name="Google Shape;534;p6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535" name="Google Shape;53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36" name="Google Shape;53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7" name="Google Shape;537;p64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64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39" name="Google Shape;539;p64"/>
          <p:cNvSpPr/>
          <p:nvPr/>
        </p:nvSpPr>
        <p:spPr>
          <a:xfrm rot="-835792">
            <a:off x="3779358" y="3849729"/>
            <a:ext cx="2194539" cy="9829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</a:rPr>
              <a:t>Qual o sinal do produto acima aqui?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540" name="Google Shape;54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Multiplicando a diferença dos pontos para a média</a:t>
            </a:r>
            <a:endParaRPr/>
          </a:p>
        </p:txBody>
      </p:sp>
      <p:sp>
        <p:nvSpPr>
          <p:cNvPr id="546" name="Google Shape;546;p6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547" name="Google Shape;54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48" name="Google Shape;54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65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65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51" name="Google Shape;551;p65"/>
          <p:cNvSpPr txBox="1"/>
          <p:nvPr/>
        </p:nvSpPr>
        <p:spPr>
          <a:xfrm>
            <a:off x="2943925" y="3836283"/>
            <a:ext cx="49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2" name="Google Shape;552;p65"/>
          <p:cNvSpPr txBox="1"/>
          <p:nvPr/>
        </p:nvSpPr>
        <p:spPr>
          <a:xfrm>
            <a:off x="2943925" y="2049850"/>
            <a:ext cx="67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3" name="Google Shape;553;p65"/>
          <p:cNvSpPr txBox="1"/>
          <p:nvPr/>
        </p:nvSpPr>
        <p:spPr>
          <a:xfrm>
            <a:off x="6783414" y="2049850"/>
            <a:ext cx="49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4" name="Google Shape;554;p65"/>
          <p:cNvSpPr txBox="1"/>
          <p:nvPr/>
        </p:nvSpPr>
        <p:spPr>
          <a:xfrm>
            <a:off x="6720666" y="3651175"/>
            <a:ext cx="8751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555" name="Google Shape;555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Já temos uma ideia de como proceder agora.</a:t>
            </a:r>
            <a:endParaRPr/>
          </a:p>
        </p:txBody>
      </p:sp>
      <p:sp>
        <p:nvSpPr>
          <p:cNvPr id="561" name="Google Shape;561;p6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562" name="Google Shape;562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63" name="Google Shape;56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4" name="Google Shape;564;p66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66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66" name="Google Shape;566;p66"/>
          <p:cNvSpPr txBox="1"/>
          <p:nvPr/>
        </p:nvSpPr>
        <p:spPr>
          <a:xfrm>
            <a:off x="2943925" y="3836283"/>
            <a:ext cx="49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7" name="Google Shape;567;p66"/>
          <p:cNvSpPr txBox="1"/>
          <p:nvPr/>
        </p:nvSpPr>
        <p:spPr>
          <a:xfrm>
            <a:off x="2943925" y="2049850"/>
            <a:ext cx="67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8" name="Google Shape;568;p66"/>
          <p:cNvSpPr txBox="1"/>
          <p:nvPr/>
        </p:nvSpPr>
        <p:spPr>
          <a:xfrm>
            <a:off x="6783414" y="2049850"/>
            <a:ext cx="49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9" name="Google Shape;569;p66"/>
          <p:cNvSpPr txBox="1"/>
          <p:nvPr/>
        </p:nvSpPr>
        <p:spPr>
          <a:xfrm>
            <a:off x="6720666" y="3651175"/>
            <a:ext cx="8751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570" name="Google Shape;570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Já temos uma ideia de como proceder agora.</a:t>
            </a:r>
            <a:endParaRPr/>
          </a:p>
        </p:txBody>
      </p:sp>
      <p:sp>
        <p:nvSpPr>
          <p:cNvPr id="576" name="Google Shape;576;p6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577" name="Google Shape;57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78" name="Google Shape;5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322" y="1911371"/>
            <a:ext cx="4910601" cy="3293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9" name="Google Shape;579;p67"/>
          <p:cNvCxnSpPr/>
          <p:nvPr/>
        </p:nvCxnSpPr>
        <p:spPr>
          <a:xfrm flipH="1" rot="10800000">
            <a:off x="5127635" y="1862384"/>
            <a:ext cx="50400" cy="29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67"/>
          <p:cNvCxnSpPr/>
          <p:nvPr/>
        </p:nvCxnSpPr>
        <p:spPr>
          <a:xfrm rot="10800000">
            <a:off x="3004995" y="3395569"/>
            <a:ext cx="41106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81" name="Google Shape;581;p67"/>
          <p:cNvSpPr txBox="1"/>
          <p:nvPr/>
        </p:nvSpPr>
        <p:spPr>
          <a:xfrm>
            <a:off x="2943925" y="3836283"/>
            <a:ext cx="49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2" name="Google Shape;582;p67"/>
          <p:cNvSpPr txBox="1"/>
          <p:nvPr/>
        </p:nvSpPr>
        <p:spPr>
          <a:xfrm>
            <a:off x="2943925" y="2049850"/>
            <a:ext cx="67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3" name="Google Shape;583;p67"/>
          <p:cNvSpPr txBox="1"/>
          <p:nvPr/>
        </p:nvSpPr>
        <p:spPr>
          <a:xfrm>
            <a:off x="6783414" y="2049850"/>
            <a:ext cx="49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4" name="Google Shape;584;p67"/>
          <p:cNvSpPr txBox="1"/>
          <p:nvPr/>
        </p:nvSpPr>
        <p:spPr>
          <a:xfrm>
            <a:off x="6720666" y="3651175"/>
            <a:ext cx="8751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-1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585" name="Google Shape;585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8800" y="903825"/>
            <a:ext cx="3277075" cy="6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</a:t>
            </a:r>
            <a:endParaRPr/>
          </a:p>
        </p:txBody>
      </p:sp>
      <p:sp>
        <p:nvSpPr>
          <p:cNvPr id="591" name="Google Shape;591;p6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Quando os elementos correspondentes de </a:t>
            </a:r>
            <a:r>
              <a:rPr b="1" i="1" lang="pt-BR"/>
              <a:t>X</a:t>
            </a:r>
            <a:r>
              <a:rPr lang="pt-BR"/>
              <a:t> e </a:t>
            </a:r>
            <a:r>
              <a:rPr b="1" i="1" lang="pt-BR"/>
              <a:t>Y</a:t>
            </a:r>
            <a:r>
              <a:rPr lang="pt-BR"/>
              <a:t> estão ambos acima de suas médias ou ambos abaixo de suas médias, um número positivo entra na soma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Quando um está acima de sua média e o outro abaixo, um número negativo entra na soma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Assim, uma covariância positiva “grande” significa que </a:t>
            </a:r>
            <a:r>
              <a:rPr b="1" i="1" lang="pt-BR"/>
              <a:t>X</a:t>
            </a:r>
            <a:r>
              <a:rPr lang="pt-BR"/>
              <a:t> tende a ser grande quando </a:t>
            </a:r>
            <a:r>
              <a:rPr b="1" i="1" lang="pt-BR"/>
              <a:t>Y</a:t>
            </a:r>
            <a:r>
              <a:rPr lang="pt-BR"/>
              <a:t> é grande, e pequeno quando </a:t>
            </a:r>
            <a:r>
              <a:rPr b="1" i="1" lang="pt-BR"/>
              <a:t>Y</a:t>
            </a:r>
            <a:r>
              <a:rPr lang="pt-BR"/>
              <a:t> é pequeno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covariância negativa “grande” significa o oposto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covariância próxima de zero significa que não existe tal relação</a:t>
            </a:r>
            <a:endParaRPr/>
          </a:p>
        </p:txBody>
      </p:sp>
      <p:pic>
        <p:nvPicPr>
          <p:cNvPr descr="\mathrm{cov}(X, Y) = \frac{\sum_{i=1}^{n}{(x_i - \bar{x})(y_i - \bar{y})}}{n-1}" id="592" name="Google Shape;592;p68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925" y="3935500"/>
            <a:ext cx="4294150" cy="6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de Pearson</a:t>
            </a:r>
            <a:endParaRPr/>
          </a:p>
        </p:txBody>
      </p:sp>
      <p:sp>
        <p:nvSpPr>
          <p:cNvPr id="599" name="Google Shape;599;p6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Divide a covariância pelos desvios padrões de ambas as variáveis.</a:t>
            </a:r>
            <a:br>
              <a:rPr lang="pt-BR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Essencialmente, normaliza entre -1 e 1.</a:t>
            </a:r>
            <a:endParaRPr/>
          </a:p>
        </p:txBody>
      </p:sp>
      <p:pic>
        <p:nvPicPr>
          <p:cNvPr descr="\mathrm{r}(X,Y) = " id="600" name="Google Shape;600;p69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775" y="4019750"/>
            <a:ext cx="1385674" cy="3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frac{\frac{1}{n-1}\sum_{i=1}^{n}{(x_i - \bar{x})(y_i - \bar{y})}}{\big(\sqrt{{\frac {1}{n-1}}\sum _{{i=1}}^{n}\left(x_{i}-\overline {x}\right)^{2}}\big) \big(\sqrt{{\frac {1}{n-1}}\sum _{{i=1}}^{n}\left(y_{i}-\overline {y}\right)^{2}}\big)}" id="601" name="Google Shape;601;p69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3325" y="3764188"/>
            <a:ext cx="5252124" cy="9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3" name="Google Shape;603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3225" y="1819692"/>
            <a:ext cx="3857540" cy="9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de Pearson</a:t>
            </a:r>
            <a:endParaRPr/>
          </a:p>
        </p:txBody>
      </p:sp>
      <p:sp>
        <p:nvSpPr>
          <p:cNvPr id="609" name="Google Shape;609;p7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correlação não tem unidade e está sempre entre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i="1" lang="pt-BR">
                <a:solidFill>
                  <a:srgbClr val="FF0000"/>
                </a:solidFill>
              </a:rPr>
              <a:t>-1</a:t>
            </a:r>
            <a:r>
              <a:rPr lang="pt-BR"/>
              <a:t>  (perfeita anti-correlação) 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pt-BR">
                <a:solidFill>
                  <a:srgbClr val="0000FF"/>
                </a:solidFill>
              </a:rPr>
              <a:t>1</a:t>
            </a:r>
            <a:r>
              <a:rPr lang="pt-BR"/>
              <a:t> (correlação perfeita)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\mathrm{r}(X,Y) = " id="610" name="Google Shape;610;p7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163" y="3164612"/>
            <a:ext cx="1385674" cy="3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frac{\frac{1}{n-1}\sum_{i=1}^{n}{(x_i - \bar{x})(y_i - \bar{y})}}{\big(\sqrt{{\frac {1}{n-1}}\sum _{{i=1}}^{n}\left(x_{i}-\overline {x}\right)^{2}}\big) \big(\sqrt{{\frac {1}{n-1}}\sum _{{i=1}}^{n}\left(y_{i}-\overline {y}\right)^{2}}\big)}" id="611" name="Google Shape;611;p70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0713" y="2909050"/>
            <a:ext cx="5252124" cy="9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Outra forma de Mensurar</a:t>
            </a:r>
            <a:endParaRPr/>
          </a:p>
        </p:txBody>
      </p:sp>
      <p:sp>
        <p:nvSpPr>
          <p:cNvPr id="618" name="Google Shape;618;p7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Produto interno de dois vetores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Depois de remover a média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Dividido pela norma dos dois vetores</a:t>
            </a:r>
            <a:br>
              <a:rPr lang="pt-BR"/>
            </a:br>
            <a:br>
              <a:rPr lang="pt-BR"/>
            </a:b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Cosseno [-1, 1]</a:t>
            </a:r>
            <a:endParaRPr/>
          </a:p>
        </p:txBody>
      </p:sp>
      <p:sp>
        <p:nvSpPr>
          <p:cNvPr id="619" name="Google Shape;619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20" name="Google Shape;62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518" y="2005173"/>
            <a:ext cx="5039100" cy="6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26" name="Google Shape;62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75" y="3046050"/>
            <a:ext cx="2032260" cy="187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2867" y="3046050"/>
            <a:ext cx="2032252" cy="187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8858" y="3046050"/>
            <a:ext cx="2032260" cy="187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4850" y="3071761"/>
            <a:ext cx="2032250" cy="1878114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7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de Pearson</a:t>
            </a:r>
            <a:endParaRPr/>
          </a:p>
        </p:txBody>
      </p:sp>
      <p:sp>
        <p:nvSpPr>
          <p:cNvPr id="631" name="Google Shape;631;p72"/>
          <p:cNvSpPr txBox="1"/>
          <p:nvPr>
            <p:ph idx="1" type="body"/>
          </p:nvPr>
        </p:nvSpPr>
        <p:spPr>
          <a:xfrm>
            <a:off x="311700" y="1152475"/>
            <a:ext cx="8520600" cy="16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a correlação em cada caso abaixo?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0.9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-0.55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0.25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37" name="Google Shape;63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75" y="3046050"/>
            <a:ext cx="2032260" cy="187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2867" y="3046050"/>
            <a:ext cx="2032252" cy="187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8858" y="3046050"/>
            <a:ext cx="2032260" cy="187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44850" y="3071761"/>
            <a:ext cx="2032250" cy="1878114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7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de Pearson</a:t>
            </a:r>
            <a:endParaRPr/>
          </a:p>
        </p:txBody>
      </p:sp>
      <p:sp>
        <p:nvSpPr>
          <p:cNvPr id="642" name="Google Shape;642;p73"/>
          <p:cNvSpPr txBox="1"/>
          <p:nvPr>
            <p:ph idx="1" type="body"/>
          </p:nvPr>
        </p:nvSpPr>
        <p:spPr>
          <a:xfrm>
            <a:off x="311700" y="1152475"/>
            <a:ext cx="8520600" cy="16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 a correlação em cada caso abaixo?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0.9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-0.55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pt-BR"/>
              <a:t>0.25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73"/>
          <p:cNvSpPr txBox="1"/>
          <p:nvPr/>
        </p:nvSpPr>
        <p:spPr>
          <a:xfrm>
            <a:off x="3970188" y="4229750"/>
            <a:ext cx="67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44" name="Google Shape;644;p73"/>
          <p:cNvSpPr txBox="1"/>
          <p:nvPr/>
        </p:nvSpPr>
        <p:spPr>
          <a:xfrm>
            <a:off x="6234100" y="4229750"/>
            <a:ext cx="67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45" name="Google Shape;645;p73"/>
          <p:cNvSpPr txBox="1"/>
          <p:nvPr/>
        </p:nvSpPr>
        <p:spPr>
          <a:xfrm>
            <a:off x="1814875" y="4229750"/>
            <a:ext cx="67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46" name="Google Shape;646;p73"/>
          <p:cNvSpPr txBox="1"/>
          <p:nvPr/>
        </p:nvSpPr>
        <p:spPr>
          <a:xfrm>
            <a:off x="8368700" y="4229750"/>
            <a:ext cx="6780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</a:t>
            </a:r>
            <a:endParaRPr b="1"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Caso Real</a:t>
            </a:r>
            <a:endParaRPr/>
          </a:p>
        </p:txBody>
      </p:sp>
      <p:sp>
        <p:nvSpPr>
          <p:cNvPr id="652" name="Google Shape;652;p7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Dados de preços de carros</a:t>
            </a:r>
            <a:endParaRPr/>
          </a:p>
        </p:txBody>
      </p:sp>
      <p:sp>
        <p:nvSpPr>
          <p:cNvPr id="653" name="Google Shape;653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54" name="Google Shape;65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938" y="2061725"/>
            <a:ext cx="6426125" cy="26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Caso Real</a:t>
            </a:r>
            <a:endParaRPr/>
          </a:p>
        </p:txBody>
      </p:sp>
      <p:sp>
        <p:nvSpPr>
          <p:cNvPr id="660" name="Google Shape;660;p7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Quais correlações seria interessante ver?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Quais seriam potencialmente causais?</a:t>
            </a:r>
            <a:endParaRPr/>
          </a:p>
        </p:txBody>
      </p:sp>
      <p:sp>
        <p:nvSpPr>
          <p:cNvPr id="661" name="Google Shape;661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62" name="Google Shape;66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938" y="2061725"/>
            <a:ext cx="6426125" cy="26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</a:t>
            </a:r>
            <a:endParaRPr/>
          </a:p>
        </p:txBody>
      </p:sp>
      <p:sp>
        <p:nvSpPr>
          <p:cNvPr id="668" name="Google Shape;668;p7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Para observar uma correlação fazemos uso do um gráfico de dispersão. Temos uma relação positiva entre aceleração e o preço do carro. </a:t>
            </a:r>
            <a:endParaRPr/>
          </a:p>
        </p:txBody>
      </p:sp>
      <p:sp>
        <p:nvSpPr>
          <p:cNvPr id="669" name="Google Shape;669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70" name="Google Shape;67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472" y="1727100"/>
            <a:ext cx="5199358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</a:t>
            </a:r>
            <a:endParaRPr/>
          </a:p>
        </p:txBody>
      </p:sp>
      <p:sp>
        <p:nvSpPr>
          <p:cNvPr id="676" name="Google Shape;676;p7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Negativa entre consumo (milhas por galão) e aceleração. Não parece linear!</a:t>
            </a:r>
            <a:endParaRPr/>
          </a:p>
        </p:txBody>
      </p:sp>
      <p:sp>
        <p:nvSpPr>
          <p:cNvPr id="677" name="Google Shape;67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78" name="Google Shape;67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208" y="1821921"/>
            <a:ext cx="4667574" cy="32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Covariância e Correlação</a:t>
            </a:r>
            <a:endParaRPr/>
          </a:p>
        </p:txBody>
      </p:sp>
      <p:sp>
        <p:nvSpPr>
          <p:cNvPr id="684" name="Google Shape;684;p78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cov = -125 e corr = -0.53                                                     cov = 43 e corr = 0.7</a:t>
            </a:r>
            <a:endParaRPr/>
          </a:p>
        </p:txBody>
      </p:sp>
      <p:sp>
        <p:nvSpPr>
          <p:cNvPr id="685" name="Google Shape;685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86" name="Google Shape;68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08" y="1721321"/>
            <a:ext cx="4667574" cy="326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513" y="1840175"/>
            <a:ext cx="4576176" cy="3141574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78"/>
          <p:cNvSpPr/>
          <p:nvPr/>
        </p:nvSpPr>
        <p:spPr>
          <a:xfrm>
            <a:off x="1711450" y="1721325"/>
            <a:ext cx="6035700" cy="300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Plot de Pares</a:t>
            </a:r>
            <a:endParaRPr/>
          </a:p>
        </p:txBody>
      </p:sp>
      <p:sp>
        <p:nvSpPr>
          <p:cNvPr id="694" name="Google Shape;694;p7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Todas as correlações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Histograma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Bastante útil</a:t>
            </a:r>
            <a:endParaRPr/>
          </a:p>
        </p:txBody>
      </p:sp>
      <p:sp>
        <p:nvSpPr>
          <p:cNvPr id="695" name="Google Shape;695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96" name="Google Shape;69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6299" y="0"/>
            <a:ext cx="522285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Correlação de Pearson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8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 correlação de Pearson é linear, ou seja,  é tão boa quanto é o ajuste de uma reta aos dados. Os 4 casos abaixo tem correlação alta!</a:t>
            </a:r>
            <a:endParaRPr b="1"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\mathrm{r}= 0.82" id="703" name="Google Shape;703;p80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499" y="2182275"/>
            <a:ext cx="804024" cy="1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850" y="2643825"/>
            <a:ext cx="7935327" cy="19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1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/>
              <a:t>Uma boa opção para quando a relação não é linear e você não sabe (ou não se importa com) a regra de transformação é a correlação de </a:t>
            </a:r>
            <a:r>
              <a:rPr b="1" i="1" lang="pt-BR"/>
              <a:t>Spearman</a:t>
            </a:r>
            <a:endParaRPr b="1" i="1"/>
          </a:p>
        </p:txBody>
      </p:sp>
      <p:sp>
        <p:nvSpPr>
          <p:cNvPr id="711" name="Google Shape;711;p8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Correlação de postos de Spearman</a:t>
            </a:r>
            <a:endParaRPr/>
          </a:p>
        </p:txBody>
      </p:sp>
      <p:pic>
        <p:nvPicPr>
          <p:cNvPr descr="\rho = r({\mathrm {rg} _{X},\mathrm {rg} _{Y}})={\frac {\mathrm {cov} (\mathrm {rg} _{X},\mathrm {rg} _{Y})}{\sigma _{\mathrm {rg} _{X}}\sigma _{\mathrm {rg} _{Y}}}}" id="712" name="Google Shape;712;p81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775" y="2300075"/>
            <a:ext cx="4163934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rm{rg}_X = \{3, 2, 4, 1\} \\&#10;\mathrm{rg}_Y = \{3, 1, 4, 2\}" id="713" name="Google Shape;713;p8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2425" y="3742000"/>
            <a:ext cx="1782456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81"/>
          <p:cNvSpPr/>
          <p:nvPr/>
        </p:nvSpPr>
        <p:spPr>
          <a:xfrm>
            <a:off x="4149975" y="3903775"/>
            <a:ext cx="607500" cy="30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X = \{40, 2, 100, -590\} \\&#10;Y = \{8.6, 5.2, 12.9, 7.8\}" id="715" name="Google Shape;715;p81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800" y="3737463"/>
            <a:ext cx="246602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rm{r} = 0.29" id="716" name="Google Shape;716;p81" title="MathEquation,#ff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4233" y="4568875"/>
            <a:ext cx="1563150" cy="40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rm{r} = 0.79" id="717" name="Google Shape;717;p81" title="MathEquation,#ff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2027" y="4568875"/>
            <a:ext cx="1563248" cy="40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Spearman v. Pearson </a:t>
            </a:r>
            <a:endParaRPr/>
          </a:p>
        </p:txBody>
      </p:sp>
      <p:sp>
        <p:nvSpPr>
          <p:cNvPr id="724" name="Google Shape;724;p8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>
                <a:solidFill>
                  <a:schemeClr val="dk2"/>
                </a:solidFill>
              </a:rPr>
              <a:t>Pearson = 0.86 e Spearman = 0.99</a:t>
            </a:r>
            <a:endParaRPr/>
          </a:p>
        </p:txBody>
      </p:sp>
      <p:sp>
        <p:nvSpPr>
          <p:cNvPr id="725" name="Google Shape;725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26" name="Google Shape;72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475" y="1670050"/>
            <a:ext cx="4583803" cy="314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7" name="Google Shape;727;p82"/>
          <p:cNvCxnSpPr/>
          <p:nvPr/>
        </p:nvCxnSpPr>
        <p:spPr>
          <a:xfrm flipH="1" rot="10800000">
            <a:off x="3677825" y="1915475"/>
            <a:ext cx="18300" cy="256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82"/>
          <p:cNvCxnSpPr/>
          <p:nvPr/>
        </p:nvCxnSpPr>
        <p:spPr>
          <a:xfrm rot="10800000">
            <a:off x="2457875" y="2925700"/>
            <a:ext cx="4479000" cy="3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Existe uma relação abaixo?</a:t>
            </a:r>
            <a:endParaRPr/>
          </a:p>
        </p:txBody>
      </p:sp>
      <p:sp>
        <p:nvSpPr>
          <p:cNvPr id="734" name="Google Shape;734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35" name="Google Shape;73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313" y="1165075"/>
            <a:ext cx="5939367" cy="37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Paradoxo de Simpson</a:t>
            </a:r>
            <a:endParaRPr/>
          </a:p>
        </p:txBody>
      </p:sp>
      <p:sp>
        <p:nvSpPr>
          <p:cNvPr id="741" name="Google Shape;741;p84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Considere os dados abaixo de nível de colesterol por quantidade de exercício físico. Existe uma relação linear?</a:t>
            </a:r>
            <a:endParaRPr/>
          </a:p>
        </p:txBody>
      </p:sp>
      <p:sp>
        <p:nvSpPr>
          <p:cNvPr id="742" name="Google Shape;742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43" name="Google Shape;74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573" y="1872125"/>
            <a:ext cx="4486850" cy="300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Paradoxo de Simpson</a:t>
            </a:r>
            <a:endParaRPr/>
          </a:p>
        </p:txBody>
      </p:sp>
      <p:sp>
        <p:nvSpPr>
          <p:cNvPr id="749" name="Google Shape;749;p85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 agora?</a:t>
            </a:r>
            <a:endParaRPr/>
          </a:p>
        </p:txBody>
      </p:sp>
      <p:sp>
        <p:nvSpPr>
          <p:cNvPr id="750" name="Google Shape;750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51" name="Google Shape;75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550" y="1566871"/>
            <a:ext cx="4858899" cy="325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Comparando os Dois</a:t>
            </a:r>
            <a:endParaRPr/>
          </a:p>
        </p:txBody>
      </p:sp>
      <p:sp>
        <p:nvSpPr>
          <p:cNvPr id="757" name="Google Shape;757;p86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São os mesmos dados</a:t>
            </a:r>
            <a:endParaRPr/>
          </a:p>
        </p:txBody>
      </p:sp>
      <p:sp>
        <p:nvSpPr>
          <p:cNvPr id="758" name="Google Shape;758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59" name="Google Shape;75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849000"/>
            <a:ext cx="4486850" cy="300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125" y="1963974"/>
            <a:ext cx="4143175" cy="27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Comparando os Dois</a:t>
            </a:r>
            <a:endParaRPr/>
          </a:p>
        </p:txBody>
      </p:sp>
      <p:sp>
        <p:nvSpPr>
          <p:cNvPr id="766" name="Google Shape;766;p87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No geral, pessoas mais velhas tem mais colesterol. Porém, o exercício funciona!</a:t>
            </a:r>
            <a:endParaRPr/>
          </a:p>
        </p:txBody>
      </p:sp>
      <p:sp>
        <p:nvSpPr>
          <p:cNvPr id="767" name="Google Shape;767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68" name="Google Shape;76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849000"/>
            <a:ext cx="4486850" cy="300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125" y="2021150"/>
            <a:ext cx="4229575" cy="28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Paradoxo de Simpson</a:t>
            </a:r>
            <a:endParaRPr/>
          </a:p>
        </p:txBody>
      </p:sp>
      <p:sp>
        <p:nvSpPr>
          <p:cNvPr id="775" name="Google Shape;775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6" name="Google Shape;776;p88"/>
          <p:cNvSpPr/>
          <p:nvPr/>
        </p:nvSpPr>
        <p:spPr>
          <a:xfrm>
            <a:off x="4427766" y="2777825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7" name="Google Shape;777;p88"/>
          <p:cNvCxnSpPr>
            <a:stCxn id="776" idx="3"/>
          </p:cNvCxnSpPr>
          <p:nvPr/>
        </p:nvCxnSpPr>
        <p:spPr>
          <a:xfrm flipH="1">
            <a:off x="3434749" y="2936842"/>
            <a:ext cx="1020300" cy="774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88"/>
          <p:cNvCxnSpPr>
            <a:stCxn id="776" idx="5"/>
          </p:cNvCxnSpPr>
          <p:nvPr/>
        </p:nvCxnSpPr>
        <p:spPr>
          <a:xfrm>
            <a:off x="4586783" y="2936842"/>
            <a:ext cx="1007100" cy="774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9" name="Google Shape;779;p88"/>
          <p:cNvCxnSpPr/>
          <p:nvPr/>
        </p:nvCxnSpPr>
        <p:spPr>
          <a:xfrm>
            <a:off x="3527975" y="3804696"/>
            <a:ext cx="1972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0" name="Google Shape;780;p88"/>
          <p:cNvSpPr txBox="1"/>
          <p:nvPr/>
        </p:nvSpPr>
        <p:spPr>
          <a:xfrm>
            <a:off x="4682200" y="2571750"/>
            <a:ext cx="66426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Idade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1" name="Google Shape;781;p88"/>
          <p:cNvSpPr txBox="1"/>
          <p:nvPr/>
        </p:nvSpPr>
        <p:spPr>
          <a:xfrm>
            <a:off x="2654975" y="3897950"/>
            <a:ext cx="165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Atividade Física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2" name="Google Shape;782;p88"/>
          <p:cNvSpPr txBox="1"/>
          <p:nvPr/>
        </p:nvSpPr>
        <p:spPr>
          <a:xfrm>
            <a:off x="5500725" y="3897950"/>
            <a:ext cx="165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Colesterol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3" name="Google Shape;783;p88"/>
          <p:cNvSpPr/>
          <p:nvPr/>
        </p:nvSpPr>
        <p:spPr>
          <a:xfrm>
            <a:off x="3341675" y="3711546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88"/>
          <p:cNvSpPr/>
          <p:nvPr/>
        </p:nvSpPr>
        <p:spPr>
          <a:xfrm>
            <a:off x="5500720" y="3711546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88"/>
          <p:cNvSpPr txBox="1"/>
          <p:nvPr>
            <p:ph idx="1" type="body"/>
          </p:nvPr>
        </p:nvSpPr>
        <p:spPr>
          <a:xfrm>
            <a:off x="311700" y="973950"/>
            <a:ext cx="8520600" cy="13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/>
              <a:t>Mais uma vez, temos variáveis de </a:t>
            </a:r>
            <a:r>
              <a:rPr b="1" lang="pt-BR"/>
              <a:t>confusão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Note que neste caso conseguimos lidar com a mesma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t-BR"/>
              <a:t>Basta fazer a análise por idade!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8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Paradoxo de Simpson</a:t>
            </a:r>
            <a:endParaRPr/>
          </a:p>
        </p:txBody>
      </p:sp>
      <p:sp>
        <p:nvSpPr>
          <p:cNvPr id="791" name="Google Shape;791;p89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Esse fenômeno surge no mundo real com alguma regularidade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questão-chave é que a correlação está medindo a relação entre suas duas variáveis </a:t>
            </a:r>
            <a:r>
              <a:rPr b="1" lang="pt-BR"/>
              <a:t>considerando que tudo o resto é igual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Assim, a única maneira real de evitar fatores de confusão é conhecer seus dados e fazer o que puder para garantir que você tenha verificado tais fatores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pt-BR"/>
              <a:t>Obviamente, isso nem sempre é possível</a:t>
            </a:r>
            <a:endParaRPr/>
          </a:p>
        </p:txBody>
      </p:sp>
      <p:sp>
        <p:nvSpPr>
          <p:cNvPr id="792" name="Google Shape;792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Real</a:t>
            </a:r>
            <a:endParaRPr/>
          </a:p>
        </p:txBody>
      </p:sp>
      <p:sp>
        <p:nvSpPr>
          <p:cNvPr id="798" name="Google Shape;798;p90"/>
          <p:cNvSpPr txBox="1"/>
          <p:nvPr>
            <p:ph idx="1" type="body"/>
          </p:nvPr>
        </p:nvSpPr>
        <p:spPr>
          <a:xfrm>
            <a:off x="311700" y="1420950"/>
            <a:ext cx="85206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Forma de uso do Stack Overflow (ponto de vista de quem responde)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Escolher uma Pergunta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Responder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Passar para outra pergunta (n-vezes)</a:t>
            </a:r>
            <a:endParaRPr/>
          </a:p>
        </p:txBody>
      </p:sp>
      <p:sp>
        <p:nvSpPr>
          <p:cNvPr id="799" name="Google Shape;799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00" name="Google Shape;80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525" y="2749385"/>
            <a:ext cx="3055875" cy="19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973950"/>
            <a:ext cx="1905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90"/>
          <p:cNvSpPr txBox="1"/>
          <p:nvPr/>
        </p:nvSpPr>
        <p:spPr>
          <a:xfrm>
            <a:off x="1509749" y="4663225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3" name="Google Shape;803;p90"/>
          <p:cNvSpPr txBox="1"/>
          <p:nvPr/>
        </p:nvSpPr>
        <p:spPr>
          <a:xfrm rot="-5400000">
            <a:off x="1991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04" name="Google Shape;80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8317" y="350925"/>
            <a:ext cx="282431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Real</a:t>
            </a:r>
            <a:endParaRPr/>
          </a:p>
        </p:txBody>
      </p:sp>
      <p:sp>
        <p:nvSpPr>
          <p:cNvPr id="810" name="Google Shape;810;p91"/>
          <p:cNvSpPr txBox="1"/>
          <p:nvPr>
            <p:ph idx="1" type="body"/>
          </p:nvPr>
        </p:nvSpPr>
        <p:spPr>
          <a:xfrm>
            <a:off x="311700" y="1420950"/>
            <a:ext cx="85206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Forma de uso do Stack Overflow (ponto de vista de quem responde)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Escolher uma Pergunta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Responder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Passar para outra pergunta (n-vezes)</a:t>
            </a:r>
            <a:endParaRPr/>
          </a:p>
        </p:txBody>
      </p:sp>
      <p:sp>
        <p:nvSpPr>
          <p:cNvPr id="811" name="Google Shape;811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12" name="Google Shape;81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525" y="2749385"/>
            <a:ext cx="3055875" cy="19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973950"/>
            <a:ext cx="1905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91"/>
          <p:cNvSpPr txBox="1"/>
          <p:nvPr/>
        </p:nvSpPr>
        <p:spPr>
          <a:xfrm rot="-5400000">
            <a:off x="1991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5" name="Google Shape;815;p91"/>
          <p:cNvSpPr/>
          <p:nvPr/>
        </p:nvSpPr>
        <p:spPr>
          <a:xfrm rot="9298285">
            <a:off x="3877846" y="2827098"/>
            <a:ext cx="710520" cy="3552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91"/>
          <p:cNvSpPr txBox="1"/>
          <p:nvPr/>
        </p:nvSpPr>
        <p:spPr>
          <a:xfrm rot="-1475758">
            <a:off x="4414447" y="2387376"/>
            <a:ext cx="1628238" cy="224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39% de chance de aceitar a 18a resposta como a melhor!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17" name="Google Shape;81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8317" y="350925"/>
            <a:ext cx="282431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91"/>
          <p:cNvPicPr preferRelativeResize="0"/>
          <p:nvPr/>
        </p:nvPicPr>
        <p:blipFill rotWithShape="1">
          <a:blip r:embed="rId6">
            <a:alphaModFix/>
          </a:blip>
          <a:srcRect b="17709" l="5078" r="0" t="0"/>
          <a:stretch/>
        </p:blipFill>
        <p:spPr>
          <a:xfrm>
            <a:off x="5461725" y="2637750"/>
            <a:ext cx="3115150" cy="20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91"/>
          <p:cNvSpPr txBox="1"/>
          <p:nvPr/>
        </p:nvSpPr>
        <p:spPr>
          <a:xfrm>
            <a:off x="1509749" y="4663225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0" name="Google Shape;820;p91"/>
          <p:cNvSpPr txBox="1"/>
          <p:nvPr/>
        </p:nvSpPr>
        <p:spPr>
          <a:xfrm rot="-5400000">
            <a:off x="45353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1" name="Google Shape;821;p91"/>
          <p:cNvSpPr txBox="1"/>
          <p:nvPr/>
        </p:nvSpPr>
        <p:spPr>
          <a:xfrm>
            <a:off x="5838849" y="4607050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9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Real</a:t>
            </a:r>
            <a:endParaRPr/>
          </a:p>
        </p:txBody>
      </p:sp>
      <p:sp>
        <p:nvSpPr>
          <p:cNvPr id="827" name="Google Shape;827;p92"/>
          <p:cNvSpPr txBox="1"/>
          <p:nvPr>
            <p:ph idx="1" type="body"/>
          </p:nvPr>
        </p:nvSpPr>
        <p:spPr>
          <a:xfrm>
            <a:off x="311700" y="1420950"/>
            <a:ext cx="85206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Forma de uso do Stack Overflow (ponto de vista de quem responde)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Escolher uma Pergunta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Responder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Passar para outra pergunta (n-vezes)</a:t>
            </a:r>
            <a:endParaRPr/>
          </a:p>
        </p:txBody>
      </p:sp>
      <p:sp>
        <p:nvSpPr>
          <p:cNvPr id="828" name="Google Shape;828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29" name="Google Shape;82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525" y="2749385"/>
            <a:ext cx="3055875" cy="19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973950"/>
            <a:ext cx="1905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92"/>
          <p:cNvSpPr txBox="1"/>
          <p:nvPr/>
        </p:nvSpPr>
        <p:spPr>
          <a:xfrm rot="-5400000">
            <a:off x="1991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2" name="Google Shape;832;p92"/>
          <p:cNvSpPr/>
          <p:nvPr/>
        </p:nvSpPr>
        <p:spPr>
          <a:xfrm rot="9298285">
            <a:off x="3877846" y="2827098"/>
            <a:ext cx="710520" cy="3552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92"/>
          <p:cNvSpPr txBox="1"/>
          <p:nvPr/>
        </p:nvSpPr>
        <p:spPr>
          <a:xfrm rot="-1475758">
            <a:off x="4414447" y="2387376"/>
            <a:ext cx="1628238" cy="224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39% de chance de aceitar a 18a resposta como a melhor!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34" name="Google Shape;834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8317" y="350925"/>
            <a:ext cx="282431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92"/>
          <p:cNvPicPr preferRelativeResize="0"/>
          <p:nvPr/>
        </p:nvPicPr>
        <p:blipFill rotWithShape="1">
          <a:blip r:embed="rId6">
            <a:alphaModFix/>
          </a:blip>
          <a:srcRect b="17709" l="5078" r="0" t="0"/>
          <a:stretch/>
        </p:blipFill>
        <p:spPr>
          <a:xfrm>
            <a:off x="5461725" y="2637750"/>
            <a:ext cx="3115150" cy="20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92"/>
          <p:cNvSpPr txBox="1"/>
          <p:nvPr/>
        </p:nvSpPr>
        <p:spPr>
          <a:xfrm>
            <a:off x="1509749" y="4663225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7" name="Google Shape;837;p92"/>
          <p:cNvSpPr txBox="1"/>
          <p:nvPr/>
        </p:nvSpPr>
        <p:spPr>
          <a:xfrm rot="-5400000">
            <a:off x="45353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8" name="Google Shape;838;p92"/>
          <p:cNvSpPr txBox="1"/>
          <p:nvPr/>
        </p:nvSpPr>
        <p:spPr>
          <a:xfrm>
            <a:off x="5838849" y="4607050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9" name="Google Shape;839;p92"/>
          <p:cNvSpPr/>
          <p:nvPr/>
        </p:nvSpPr>
        <p:spPr>
          <a:xfrm rot="9298285">
            <a:off x="5924846" y="3712148"/>
            <a:ext cx="710520" cy="3552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92"/>
          <p:cNvSpPr txBox="1"/>
          <p:nvPr/>
        </p:nvSpPr>
        <p:spPr>
          <a:xfrm rot="-1475758">
            <a:off x="6453272" y="3269376"/>
            <a:ext cx="1628238" cy="224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Usuários que responde 1x</a:t>
            </a:r>
            <a:endParaRPr sz="1000"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93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Real</a:t>
            </a:r>
            <a:endParaRPr/>
          </a:p>
        </p:txBody>
      </p:sp>
      <p:sp>
        <p:nvSpPr>
          <p:cNvPr id="846" name="Google Shape;846;p93"/>
          <p:cNvSpPr txBox="1"/>
          <p:nvPr>
            <p:ph idx="1" type="body"/>
          </p:nvPr>
        </p:nvSpPr>
        <p:spPr>
          <a:xfrm>
            <a:off x="311700" y="1420950"/>
            <a:ext cx="85206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Tendência se Inverte. Qual o motivo?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Observe que cada grupo na esquerda sobe um pouco no eixo 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Quem responde mais tem mais chance de ser aceito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Mas dentro da sessão, respostas posteriores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</a:rPr>
              <a:t>são menos aceitas!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7" name="Google Shape;847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48" name="Google Shape;84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525" y="2749385"/>
            <a:ext cx="3055875" cy="19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973950"/>
            <a:ext cx="1905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93"/>
          <p:cNvSpPr txBox="1"/>
          <p:nvPr/>
        </p:nvSpPr>
        <p:spPr>
          <a:xfrm rot="-5400000">
            <a:off x="1991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1" name="Google Shape;851;p93"/>
          <p:cNvSpPr/>
          <p:nvPr/>
        </p:nvSpPr>
        <p:spPr>
          <a:xfrm rot="9298285">
            <a:off x="3877846" y="2827098"/>
            <a:ext cx="710520" cy="3552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93"/>
          <p:cNvSpPr txBox="1"/>
          <p:nvPr/>
        </p:nvSpPr>
        <p:spPr>
          <a:xfrm rot="-1475758">
            <a:off x="4414447" y="2387376"/>
            <a:ext cx="1628238" cy="224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39% de chance de aceitar a 18a resposta como a melhor!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53" name="Google Shape;85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8317" y="350925"/>
            <a:ext cx="282431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93"/>
          <p:cNvPicPr preferRelativeResize="0"/>
          <p:nvPr/>
        </p:nvPicPr>
        <p:blipFill rotWithShape="1">
          <a:blip r:embed="rId6">
            <a:alphaModFix/>
          </a:blip>
          <a:srcRect b="17709" l="5078" r="0" t="0"/>
          <a:stretch/>
        </p:blipFill>
        <p:spPr>
          <a:xfrm>
            <a:off x="5461725" y="2637750"/>
            <a:ext cx="3115150" cy="20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93"/>
          <p:cNvSpPr txBox="1"/>
          <p:nvPr/>
        </p:nvSpPr>
        <p:spPr>
          <a:xfrm>
            <a:off x="1509749" y="4663225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6" name="Google Shape;856;p93"/>
          <p:cNvSpPr txBox="1"/>
          <p:nvPr/>
        </p:nvSpPr>
        <p:spPr>
          <a:xfrm rot="-5400000">
            <a:off x="45353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7" name="Google Shape;857;p93"/>
          <p:cNvSpPr txBox="1"/>
          <p:nvPr/>
        </p:nvSpPr>
        <p:spPr>
          <a:xfrm>
            <a:off x="5838849" y="4607050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8" name="Google Shape;858;p93"/>
          <p:cNvSpPr/>
          <p:nvPr/>
        </p:nvSpPr>
        <p:spPr>
          <a:xfrm rot="9298285">
            <a:off x="7014396" y="2758586"/>
            <a:ext cx="710520" cy="3552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93"/>
          <p:cNvSpPr txBox="1"/>
          <p:nvPr/>
        </p:nvSpPr>
        <p:spPr>
          <a:xfrm rot="-1475758">
            <a:off x="7542822" y="2315813"/>
            <a:ext cx="1628238" cy="224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Usuários que responde 8x</a:t>
            </a:r>
            <a:endParaRPr sz="1000"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94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Real</a:t>
            </a:r>
            <a:endParaRPr/>
          </a:p>
        </p:txBody>
      </p:sp>
      <p:sp>
        <p:nvSpPr>
          <p:cNvPr id="865" name="Google Shape;865;p94"/>
          <p:cNvSpPr txBox="1"/>
          <p:nvPr>
            <p:ph idx="1" type="body"/>
          </p:nvPr>
        </p:nvSpPr>
        <p:spPr>
          <a:xfrm>
            <a:off x="311700" y="1246800"/>
            <a:ext cx="85206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Quem escreve mais respostas tendem a ter mais </a:t>
            </a:r>
            <a:r>
              <a:rPr lang="pt-BR">
                <a:solidFill>
                  <a:schemeClr val="dk1"/>
                </a:solidFill>
              </a:rPr>
              <a:t>aceitação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Observe como os grupos (cores + símbolos) sobem na esquerda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Escrever mais respostas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>
                <a:solidFill>
                  <a:schemeClr val="dk1"/>
                </a:solidFill>
              </a:rPr>
              <a:t>Reduz a taxa de aceitação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>
                <a:solidFill>
                  <a:schemeClr val="dk1"/>
                </a:solidFill>
              </a:rPr>
              <a:t>Ao agregar, vemos o valor inverso!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6" name="Google Shape;866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67" name="Google Shape;86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525" y="2749385"/>
            <a:ext cx="3055875" cy="19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973950"/>
            <a:ext cx="1905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94"/>
          <p:cNvSpPr txBox="1"/>
          <p:nvPr/>
        </p:nvSpPr>
        <p:spPr>
          <a:xfrm rot="-5400000">
            <a:off x="1991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0" name="Google Shape;870;p94"/>
          <p:cNvSpPr/>
          <p:nvPr/>
        </p:nvSpPr>
        <p:spPr>
          <a:xfrm rot="9298285">
            <a:off x="3877846" y="2827098"/>
            <a:ext cx="710520" cy="3552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94"/>
          <p:cNvSpPr txBox="1"/>
          <p:nvPr/>
        </p:nvSpPr>
        <p:spPr>
          <a:xfrm rot="-1475758">
            <a:off x="4414447" y="2387376"/>
            <a:ext cx="1628238" cy="224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39% de chance de aceitar a 18a resposta como a melhor!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72" name="Google Shape;8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8317" y="350925"/>
            <a:ext cx="282431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94"/>
          <p:cNvPicPr preferRelativeResize="0"/>
          <p:nvPr/>
        </p:nvPicPr>
        <p:blipFill rotWithShape="1">
          <a:blip r:embed="rId6">
            <a:alphaModFix/>
          </a:blip>
          <a:srcRect b="17709" l="5078" r="0" t="0"/>
          <a:stretch/>
        </p:blipFill>
        <p:spPr>
          <a:xfrm>
            <a:off x="5461725" y="2637750"/>
            <a:ext cx="3115150" cy="20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94"/>
          <p:cNvSpPr txBox="1"/>
          <p:nvPr/>
        </p:nvSpPr>
        <p:spPr>
          <a:xfrm>
            <a:off x="1509749" y="4663225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5" name="Google Shape;875;p94"/>
          <p:cNvSpPr txBox="1"/>
          <p:nvPr/>
        </p:nvSpPr>
        <p:spPr>
          <a:xfrm rot="-5400000">
            <a:off x="4535313" y="3584825"/>
            <a:ext cx="16281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Probabilidade de ser Aceita</a:t>
            </a: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6" name="Google Shape;876;p94"/>
          <p:cNvSpPr txBox="1"/>
          <p:nvPr/>
        </p:nvSpPr>
        <p:spPr>
          <a:xfrm>
            <a:off x="5838849" y="4607050"/>
            <a:ext cx="2597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Posição da Pergunta que Respondi na minha Sessão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pt-BR" sz="800">
                <a:latin typeface="Roboto Light"/>
                <a:ea typeface="Roboto Light"/>
                <a:cs typeface="Roboto Light"/>
                <a:sym typeface="Roboto Light"/>
              </a:rPr>
              <a:t>Estou respondendo a primeira pergunta que vi? Segunda? Terceira?</a:t>
            </a:r>
            <a:br>
              <a:rPr lang="pt-BR" sz="800">
                <a:latin typeface="Roboto Light"/>
                <a:ea typeface="Roboto Light"/>
                <a:cs typeface="Roboto Light"/>
                <a:sym typeface="Roboto Light"/>
              </a:rPr>
            </a:br>
            <a:endParaRPr sz="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7" name="Google Shape;877;p94"/>
          <p:cNvSpPr/>
          <p:nvPr/>
        </p:nvSpPr>
        <p:spPr>
          <a:xfrm rot="9298285">
            <a:off x="7014396" y="2758586"/>
            <a:ext cx="710520" cy="3552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94"/>
          <p:cNvSpPr txBox="1"/>
          <p:nvPr/>
        </p:nvSpPr>
        <p:spPr>
          <a:xfrm rot="-1475758">
            <a:off x="7542822" y="2315813"/>
            <a:ext cx="1628238" cy="224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Usuários que responde 8x</a:t>
            </a:r>
            <a:endParaRPr sz="1000"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95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caso em COVID-19</a:t>
            </a:r>
            <a:endParaRPr/>
          </a:p>
        </p:txBody>
      </p:sp>
      <p:sp>
        <p:nvSpPr>
          <p:cNvPr id="884" name="Google Shape;884;p95"/>
          <p:cNvSpPr txBox="1"/>
          <p:nvPr>
            <p:ph idx="1" type="body"/>
          </p:nvPr>
        </p:nvSpPr>
        <p:spPr>
          <a:xfrm>
            <a:off x="311700" y="973950"/>
            <a:ext cx="32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gráfico ao lado mostra a taxa de fatalidade de COVID-19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China vs Itália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Datas próximas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Parece que na Itália o vírus foi mais letal!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Vamos ver por idade!</a:t>
            </a:r>
            <a:endParaRPr/>
          </a:p>
        </p:txBody>
      </p:sp>
      <p:sp>
        <p:nvSpPr>
          <p:cNvPr id="885" name="Google Shape;885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86" name="Google Shape;88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950" y="210729"/>
            <a:ext cx="3571250" cy="10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95"/>
          <p:cNvPicPr preferRelativeResize="0"/>
          <p:nvPr/>
        </p:nvPicPr>
        <p:blipFill rotWithShape="1">
          <a:blip r:embed="rId4">
            <a:alphaModFix/>
          </a:blip>
          <a:srcRect b="0" l="0" r="50355" t="0"/>
          <a:stretch/>
        </p:blipFill>
        <p:spPr>
          <a:xfrm>
            <a:off x="4292650" y="1399175"/>
            <a:ext cx="4539650" cy="3228401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95"/>
          <p:cNvSpPr/>
          <p:nvPr/>
        </p:nvSpPr>
        <p:spPr>
          <a:xfrm>
            <a:off x="5039900" y="2375625"/>
            <a:ext cx="3174900" cy="179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95"/>
          <p:cNvSpPr/>
          <p:nvPr/>
        </p:nvSpPr>
        <p:spPr>
          <a:xfrm>
            <a:off x="7193475" y="1861950"/>
            <a:ext cx="1107000" cy="179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6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caso em COVID-19</a:t>
            </a:r>
            <a:endParaRPr/>
          </a:p>
        </p:txBody>
      </p:sp>
      <p:sp>
        <p:nvSpPr>
          <p:cNvPr id="895" name="Google Shape;895;p96"/>
          <p:cNvSpPr txBox="1"/>
          <p:nvPr>
            <p:ph idx="1" type="body"/>
          </p:nvPr>
        </p:nvSpPr>
        <p:spPr>
          <a:xfrm>
            <a:off x="311700" y="973950"/>
            <a:ext cx="32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Observe como a tendência se inverte.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What!?</a:t>
            </a:r>
            <a:endParaRPr/>
          </a:p>
        </p:txBody>
      </p:sp>
      <p:sp>
        <p:nvSpPr>
          <p:cNvPr id="896" name="Google Shape;896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97" name="Google Shape;89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950" y="210729"/>
            <a:ext cx="3571250" cy="10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96"/>
          <p:cNvPicPr preferRelativeResize="0"/>
          <p:nvPr/>
        </p:nvPicPr>
        <p:blipFill rotWithShape="1">
          <a:blip r:embed="rId4">
            <a:alphaModFix/>
          </a:blip>
          <a:srcRect b="0" l="0" r="50355" t="0"/>
          <a:stretch/>
        </p:blipFill>
        <p:spPr>
          <a:xfrm>
            <a:off x="4292650" y="1399175"/>
            <a:ext cx="4539650" cy="322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97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caso em COVID-19</a:t>
            </a:r>
            <a:endParaRPr/>
          </a:p>
        </p:txBody>
      </p:sp>
      <p:sp>
        <p:nvSpPr>
          <p:cNvPr id="904" name="Google Shape;904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05" name="Google Shape;90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3550" y="34804"/>
            <a:ext cx="3571250" cy="10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00" y="1828429"/>
            <a:ext cx="9143999" cy="3228391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97"/>
          <p:cNvSpPr txBox="1"/>
          <p:nvPr>
            <p:ph idx="1" type="body"/>
          </p:nvPr>
        </p:nvSpPr>
        <p:spPr>
          <a:xfrm>
            <a:off x="311700" y="973950"/>
            <a:ext cx="894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novo plot (lado direito agora) mostra como</a:t>
            </a:r>
            <a:br>
              <a:rPr lang="pt-BR"/>
            </a:br>
            <a:r>
              <a:rPr lang="pt-BR"/>
              <a:t>na Itália tivemos mais casos (proporção de casos) nos idosos.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Vírus é mais letal em idosos.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98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caso em COVID-19</a:t>
            </a:r>
            <a:endParaRPr/>
          </a:p>
        </p:txBody>
      </p:sp>
      <p:sp>
        <p:nvSpPr>
          <p:cNvPr id="913" name="Google Shape;913;p98"/>
          <p:cNvSpPr txBox="1"/>
          <p:nvPr>
            <p:ph idx="1" type="body"/>
          </p:nvPr>
        </p:nvSpPr>
        <p:spPr>
          <a:xfrm>
            <a:off x="311700" y="973950"/>
            <a:ext cx="32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Olhar o agregado só conta uma parte da história!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Sempre pense no que pode afetar seus dados!</a:t>
            </a:r>
            <a:endParaRPr/>
          </a:p>
        </p:txBody>
      </p:sp>
      <p:sp>
        <p:nvSpPr>
          <p:cNvPr id="914" name="Google Shape;914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15" name="Google Shape;91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950" y="210729"/>
            <a:ext cx="3571250" cy="10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98"/>
          <p:cNvPicPr preferRelativeResize="0"/>
          <p:nvPr/>
        </p:nvPicPr>
        <p:blipFill rotWithShape="1">
          <a:blip r:embed="rId4">
            <a:alphaModFix/>
          </a:blip>
          <a:srcRect b="0" l="0" r="50355" t="0"/>
          <a:stretch/>
        </p:blipFill>
        <p:spPr>
          <a:xfrm>
            <a:off x="4292650" y="1399175"/>
            <a:ext cx="4539650" cy="3228401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8"/>
          <p:cNvSpPr/>
          <p:nvPr/>
        </p:nvSpPr>
        <p:spPr>
          <a:xfrm>
            <a:off x="1935266" y="3036850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8" name="Google Shape;918;p98"/>
          <p:cNvCxnSpPr>
            <a:stCxn id="917" idx="5"/>
          </p:cNvCxnSpPr>
          <p:nvPr/>
        </p:nvCxnSpPr>
        <p:spPr>
          <a:xfrm>
            <a:off x="2094283" y="3195867"/>
            <a:ext cx="1007100" cy="774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9" name="Google Shape;919;p98"/>
          <p:cNvSpPr txBox="1"/>
          <p:nvPr/>
        </p:nvSpPr>
        <p:spPr>
          <a:xfrm>
            <a:off x="2189700" y="2830775"/>
            <a:ext cx="66426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País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20" name="Google Shape;920;p98"/>
          <p:cNvSpPr txBox="1"/>
          <p:nvPr/>
        </p:nvSpPr>
        <p:spPr>
          <a:xfrm>
            <a:off x="2802900" y="4063725"/>
            <a:ext cx="165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Mortalidade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21" name="Google Shape;921;p98"/>
          <p:cNvSpPr/>
          <p:nvPr/>
        </p:nvSpPr>
        <p:spPr>
          <a:xfrm>
            <a:off x="3008220" y="3970571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98"/>
          <p:cNvSpPr/>
          <p:nvPr/>
        </p:nvSpPr>
        <p:spPr>
          <a:xfrm>
            <a:off x="5039900" y="2375625"/>
            <a:ext cx="3174900" cy="179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98"/>
          <p:cNvSpPr/>
          <p:nvPr/>
        </p:nvSpPr>
        <p:spPr>
          <a:xfrm>
            <a:off x="7193475" y="1861950"/>
            <a:ext cx="1107000" cy="179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9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caso em COVID-19</a:t>
            </a:r>
            <a:endParaRPr/>
          </a:p>
        </p:txBody>
      </p:sp>
      <p:sp>
        <p:nvSpPr>
          <p:cNvPr id="929" name="Google Shape;929;p99"/>
          <p:cNvSpPr txBox="1"/>
          <p:nvPr>
            <p:ph idx="1" type="body"/>
          </p:nvPr>
        </p:nvSpPr>
        <p:spPr>
          <a:xfrm>
            <a:off x="311700" y="973950"/>
            <a:ext cx="32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demografia depende do País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mortalidade também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mortalidade também depende da Idade</a:t>
            </a:r>
            <a:endParaRPr/>
          </a:p>
        </p:txBody>
      </p:sp>
      <p:sp>
        <p:nvSpPr>
          <p:cNvPr id="930" name="Google Shape;930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31" name="Google Shape;93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950" y="210729"/>
            <a:ext cx="3571250" cy="10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99"/>
          <p:cNvPicPr preferRelativeResize="0"/>
          <p:nvPr/>
        </p:nvPicPr>
        <p:blipFill rotWithShape="1">
          <a:blip r:embed="rId4">
            <a:alphaModFix/>
          </a:blip>
          <a:srcRect b="0" l="0" r="50355" t="0"/>
          <a:stretch/>
        </p:blipFill>
        <p:spPr>
          <a:xfrm>
            <a:off x="4292650" y="1399175"/>
            <a:ext cx="4539650" cy="3228401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99"/>
          <p:cNvSpPr/>
          <p:nvPr/>
        </p:nvSpPr>
        <p:spPr>
          <a:xfrm>
            <a:off x="1935266" y="3036850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4" name="Google Shape;934;p99"/>
          <p:cNvCxnSpPr>
            <a:stCxn id="933" idx="3"/>
          </p:cNvCxnSpPr>
          <p:nvPr/>
        </p:nvCxnSpPr>
        <p:spPr>
          <a:xfrm flipH="1">
            <a:off x="942249" y="3195867"/>
            <a:ext cx="1020300" cy="774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99"/>
          <p:cNvCxnSpPr>
            <a:stCxn id="933" idx="5"/>
          </p:cNvCxnSpPr>
          <p:nvPr/>
        </p:nvCxnSpPr>
        <p:spPr>
          <a:xfrm>
            <a:off x="2094283" y="3195867"/>
            <a:ext cx="1007100" cy="774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99"/>
          <p:cNvCxnSpPr/>
          <p:nvPr/>
        </p:nvCxnSpPr>
        <p:spPr>
          <a:xfrm>
            <a:off x="1035475" y="4063721"/>
            <a:ext cx="1972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7" name="Google Shape;937;p99"/>
          <p:cNvSpPr txBox="1"/>
          <p:nvPr/>
        </p:nvSpPr>
        <p:spPr>
          <a:xfrm>
            <a:off x="2189700" y="2830775"/>
            <a:ext cx="66426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País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8" name="Google Shape;938;p99"/>
          <p:cNvSpPr txBox="1"/>
          <p:nvPr/>
        </p:nvSpPr>
        <p:spPr>
          <a:xfrm>
            <a:off x="623350" y="4119975"/>
            <a:ext cx="165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Idade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9" name="Google Shape;939;p99"/>
          <p:cNvSpPr txBox="1"/>
          <p:nvPr/>
        </p:nvSpPr>
        <p:spPr>
          <a:xfrm>
            <a:off x="2802900" y="4063725"/>
            <a:ext cx="165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urce Sans Pro"/>
                <a:ea typeface="Source Sans Pro"/>
                <a:cs typeface="Source Sans Pro"/>
                <a:sym typeface="Source Sans Pro"/>
              </a:rPr>
              <a:t>Mortalidade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0" name="Google Shape;940;p99"/>
          <p:cNvSpPr/>
          <p:nvPr/>
        </p:nvSpPr>
        <p:spPr>
          <a:xfrm>
            <a:off x="849175" y="3970571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99"/>
          <p:cNvSpPr/>
          <p:nvPr/>
        </p:nvSpPr>
        <p:spPr>
          <a:xfrm>
            <a:off x="3008220" y="3970571"/>
            <a:ext cx="186300" cy="186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00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fim, lembre-se</a:t>
            </a:r>
            <a:endParaRPr/>
          </a:p>
        </p:txBody>
      </p:sp>
      <p:sp>
        <p:nvSpPr>
          <p:cNvPr id="947" name="Google Shape;947;p100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Correlação não é causalidade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Muitos dados têm correlações lineares sem nenhuma relação direta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https://tylervigen.com/spurious-correlations</a:t>
            </a:r>
            <a:r>
              <a:rPr lang="pt-BR"/>
              <a:t> </a:t>
            </a:r>
            <a:endParaRPr/>
          </a:p>
        </p:txBody>
      </p:sp>
      <p:sp>
        <p:nvSpPr>
          <p:cNvPr id="948" name="Google Shape;948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01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954" name="Google Shape;954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55" name="Google Shape;955;p101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Char char="●"/>
            </a:pPr>
            <a:r>
              <a:rPr b="1" lang="pt-BR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Computational and Inferential Thinking</a:t>
            </a:r>
            <a:br>
              <a:rPr lang="pt-BR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pt-BR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Chapter 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15.1</a:t>
            </a:r>
            <a:r>
              <a:rPr lang="pt-BR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</a:t>
            </a:r>
            <a:r>
              <a:rPr lang="pt-BR" sz="1800">
                <a:latin typeface="Source Sans Pro"/>
                <a:ea typeface="Source Sans Pro"/>
                <a:cs typeface="Source Sans Pro"/>
                <a:sym typeface="Source Sans Pro"/>
              </a:rPr>
              <a:t>Correlation</a:t>
            </a:r>
            <a:br>
              <a:rPr lang="pt-BR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pt-BR" sz="1800" u="sng">
                <a:solidFill>
                  <a:srgbClr val="009688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https://www.inferentialthinking.com/</a:t>
            </a:r>
            <a:r>
              <a:rPr lang="pt-BR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8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02"/>
          <p:cNvSpPr txBox="1"/>
          <p:nvPr>
            <p:ph type="title"/>
          </p:nvPr>
        </p:nvSpPr>
        <p:spPr>
          <a:xfrm>
            <a:off x="311700" y="283250"/>
            <a:ext cx="816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</a:t>
            </a:r>
            <a:endParaRPr/>
          </a:p>
        </p:txBody>
      </p:sp>
      <p:sp>
        <p:nvSpPr>
          <p:cNvPr id="961" name="Google Shape;961;p102"/>
          <p:cNvSpPr txBox="1"/>
          <p:nvPr>
            <p:ph idx="1" type="body"/>
          </p:nvPr>
        </p:nvSpPr>
        <p:spPr>
          <a:xfrm>
            <a:off x="311700" y="973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Flavio Vinicius Diniz de Figueiredo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flavio@dcc.ufmg.br</a:t>
            </a:r>
            <a:r>
              <a:rPr lang="pt-BR"/>
              <a:t> 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Introdução à Ciência dos Dados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