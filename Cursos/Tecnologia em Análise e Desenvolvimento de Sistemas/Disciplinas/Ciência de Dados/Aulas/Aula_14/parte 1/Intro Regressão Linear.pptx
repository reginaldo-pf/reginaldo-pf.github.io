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</p:sldIdLst>
  <p:sldSz cy="5143500" cx="9144000"/>
  <p:notesSz cx="6858000" cy="9144000"/>
  <p:embeddedFontLst>
    <p:embeddedFont>
      <p:font typeface="Montserrat SemiBold"/>
      <p:regular r:id="rId81"/>
      <p:bold r:id="rId82"/>
      <p:italic r:id="rId83"/>
      <p:boldItalic r:id="rId84"/>
    </p:embeddedFont>
    <p:embeddedFont>
      <p:font typeface="Roboto"/>
      <p:regular r:id="rId85"/>
      <p:bold r:id="rId86"/>
      <p:italic r:id="rId87"/>
      <p:boldItalic r:id="rId88"/>
    </p:embeddedFont>
    <p:embeddedFont>
      <p:font typeface="Montserrat"/>
      <p:regular r:id="rId89"/>
      <p:bold r:id="rId90"/>
      <p:italic r:id="rId91"/>
      <p:boldItalic r:id="rId92"/>
    </p:embeddedFont>
    <p:embeddedFont>
      <p:font typeface="STIX Two Text"/>
      <p:regular r:id="rId93"/>
      <p:bold r:id="rId94"/>
      <p:italic r:id="rId95"/>
      <p:boldItalic r:id="rId96"/>
    </p:embeddedFont>
    <p:embeddedFont>
      <p:font typeface="Book Antiqua"/>
      <p:regular r:id="rId97"/>
      <p:bold r:id="rId98"/>
      <p:italic r:id="rId99"/>
      <p:boldItalic r:id="rId100"/>
    </p:embeddedFont>
    <p:embeddedFont>
      <p:font typeface="Comfortaa"/>
      <p:regular r:id="rId101"/>
      <p:bold r:id="rId10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79C7B2-2B00-4C32-A52F-604905687744}">
  <a:tblStyle styleId="{0B79C7B2-2B00-4C32-A52F-6049056877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2" Type="http://schemas.openxmlformats.org/officeDocument/2006/relationships/font" Target="fonts/Comfortaa-bold.fntdata"/><Relationship Id="rId101" Type="http://schemas.openxmlformats.org/officeDocument/2006/relationships/font" Target="fonts/Comfortaa-regular.fntdata"/><Relationship Id="rId100" Type="http://schemas.openxmlformats.org/officeDocument/2006/relationships/font" Target="fonts/BookAntiqua-boldItalic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font" Target="fonts/STIXTwoText-italic.fntdata"/><Relationship Id="rId94" Type="http://schemas.openxmlformats.org/officeDocument/2006/relationships/font" Target="fonts/STIXTwoText-bold.fntdata"/><Relationship Id="rId97" Type="http://schemas.openxmlformats.org/officeDocument/2006/relationships/font" Target="fonts/BookAntiqua-regular.fntdata"/><Relationship Id="rId96" Type="http://schemas.openxmlformats.org/officeDocument/2006/relationships/font" Target="fonts/STIXTwoText-boldItalic.fntdata"/><Relationship Id="rId11" Type="http://schemas.openxmlformats.org/officeDocument/2006/relationships/slide" Target="slides/slide4.xml"/><Relationship Id="rId99" Type="http://schemas.openxmlformats.org/officeDocument/2006/relationships/font" Target="fonts/BookAntiqua-italic.fntdata"/><Relationship Id="rId10" Type="http://schemas.openxmlformats.org/officeDocument/2006/relationships/slide" Target="slides/slide3.xml"/><Relationship Id="rId98" Type="http://schemas.openxmlformats.org/officeDocument/2006/relationships/font" Target="fonts/BookAntiqua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font" Target="fonts/Montserrat-italic.fntdata"/><Relationship Id="rId90" Type="http://schemas.openxmlformats.org/officeDocument/2006/relationships/font" Target="fonts/Montserrat-bold.fntdata"/><Relationship Id="rId93" Type="http://schemas.openxmlformats.org/officeDocument/2006/relationships/font" Target="fonts/STIXTwoText-regular.fntdata"/><Relationship Id="rId92" Type="http://schemas.openxmlformats.org/officeDocument/2006/relationships/font" Target="fonts/Montserrat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84" Type="http://schemas.openxmlformats.org/officeDocument/2006/relationships/font" Target="fonts/MontserratSemiBold-boldItalic.fntdata"/><Relationship Id="rId83" Type="http://schemas.openxmlformats.org/officeDocument/2006/relationships/font" Target="fonts/MontserratSemiBold-italic.fntdata"/><Relationship Id="rId86" Type="http://schemas.openxmlformats.org/officeDocument/2006/relationships/font" Target="fonts/Roboto-bold.fntdata"/><Relationship Id="rId85" Type="http://schemas.openxmlformats.org/officeDocument/2006/relationships/font" Target="fonts/Roboto-regular.fntdata"/><Relationship Id="rId88" Type="http://schemas.openxmlformats.org/officeDocument/2006/relationships/font" Target="fonts/Roboto-boldItalic.fntdata"/><Relationship Id="rId87" Type="http://schemas.openxmlformats.org/officeDocument/2006/relationships/font" Target="fonts/Roboto-italic.fntdata"/><Relationship Id="rId89" Type="http://schemas.openxmlformats.org/officeDocument/2006/relationships/font" Target="fonts/Montserrat-regular.fntdata"/><Relationship Id="rId80" Type="http://schemas.openxmlformats.org/officeDocument/2006/relationships/slide" Target="slides/slide73.xml"/><Relationship Id="rId82" Type="http://schemas.openxmlformats.org/officeDocument/2006/relationships/font" Target="fonts/MontserratSemiBold-bold.fntdata"/><Relationship Id="rId81" Type="http://schemas.openxmlformats.org/officeDocument/2006/relationships/font" Target="fonts/Montserrat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928e503945_0_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928e503945_0_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9825f267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9825f267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9825f2676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9825f2676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9825f2676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9825f2676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(No Quadro, comparar com classificação)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Uma tabela em que o y que é classificação e outro para regressão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9825f2676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9825f2676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(No Quadro, comparar com classificação)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Uma tabela em que o y que é classificação e outro para regressão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9825f2676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9825f2676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(No Quadro, comparar com classificação)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Uma tabela em que o y que é classificação e outro para regressão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99f97c47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99f97c47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99f97c470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99f97c470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99f97c470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99f97c470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99f97c470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99f97c470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99f97c470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99f97c470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99f97c470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99f97c470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99f97c470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99f97c470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99f97c470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99f97c470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99f97c470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99f97c470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99f97c470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99f97c470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30b68735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30b68735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30b68735e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30b68735e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99f97c470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99f97c470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e1179b06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e1179b06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99f97c4708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99f97c4708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99f97c470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99f97c470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99f97c470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99f97c470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99f97c4708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99f97c4708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99f97c4708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99f97c4708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99f97c4708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99f97c4708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99f97c4708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99f97c4708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9a0e81a6de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9a0e81a6de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99f97c4708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99f97c4708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99f97c4708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99f97c4708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99f97c4708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99f97c4708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99f97c4708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99f97c4708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9328e3df6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29328e3df6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30b68735e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30b68735e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9328e3df6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9328e3df6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9328e3df6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9328e3df6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130b68735e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130b68735e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99f97c4708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99f97c4708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99f97c470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99f97c470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99f97c4708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99f97c4708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99f97c4708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99f97c4708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130b68735e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130b68735e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99f97c4708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99f97c4708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99f97c4708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99f97c4708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99f97c4708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99f97c4708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99f97c4708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99f97c4708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99f97c4708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99f97c4708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130b68735e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130b68735e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99f97c4708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99f97c4708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99f97c4708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99f97c4708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9a0e81a6de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9a0e81a6de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\displaystyle \text{arg}\min\limits_{\theta}\ L(\theta) = \sum_i(y_i - \beta x_i - \alpha)^2 \\ \theta = [\alpha, \beta]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9a0e81a6de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9a0e81a6de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### Dados Originais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Agora vamos resolver sem normalizar os dados. Vamos definir $\Theta = [\alpha, \beta]$, isto é, um vetor com alfa e beta.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$$L(\Theta) = \sum_i (y_i - \hat{y}_i)^2$$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$$L(\Theta) = \sum_i (y_i - (\beta x_i + \alpha))^2$$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Resolvendo o quadrado dentro do somatório temos: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$$L(\Theta) = \sum_i (y_i^2 - 2 \beta x_i y_i - 2 \alpha y_i + x_i^2\beta^2 + 2 \beta \alpha x_i + \alpha^2)$$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Derivando em relação a $\alpha$: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$$\frac{d}{d\alpha} L(\Theta)= \sum_i (- 2 y_i + 2 \beta x_i + 2\alpha)$$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Derivando em relação a $\beta$: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$$\frac{d}{d\beta} L(\Theta) = \sum_i (- 2 x_i y_i + 2x_i^2\beta + 2 \alpha x_i)$$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Para resolver otimizar esta função precisamos setar as duas derivadas para zero.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$$\frac{d}{d\alpha} L(\Theta) = 0$$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$$\frac{d}{d\beta} L(\Theta) = 0$$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Após isto, podemos resolver os valores ótimos de $\alpha$ e $\beta$. Note que esta é uma otimização um pouco chata de resolver.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\begin{align}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 \alpha &amp; = \bar{y} - \beta\,\bar{x}, \\[5pt]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  \beta &amp;= \frac{ \sum_{i=1}^n (x_i - \bar{x})(y_i - \bar{y}) }{ \sum_{i=1}^n (x_i - \bar{x})^2 } \\[6pt]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        	&amp;= \frac{ \operatorname{Cov}(x, y) }{ \operatorname{Var}(x) } \\[5pt]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        	&amp;= r_{xy} \frac{s_y}{s_x}. \\[6pt]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\end{align}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99f97c4708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99f97c4708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99f97c4708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99f97c4708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99f97c4708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99f97c4708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99f97c4708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99f97c4708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99f97c4708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99f97c4708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99f97c4708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99f97c4708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99f97c4708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99f97c4708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99f97c4708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99f97c4708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99f97c4708_0_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99f97c4708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99f97c4708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99f97c4708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99f97c4708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99f97c4708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99f97c4708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99f97c4708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99f97c4708_0_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99f97c4708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99f97c4708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99f97c4708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99f97c4708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99f97c4708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99f97c4708_0_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99f97c4708_0_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99f97c4708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99f97c4708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99f97c4708_0_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99f97c4708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11cd1b450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11cd1b450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11cd1b4504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11cd1b4504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92cc4b5339_0_2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92cc4b5339_0_2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icd-ufmg.github.io/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mailto:flavio@dcc.ufmg.br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311700" y="1972200"/>
            <a:ext cx="85206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56" name="Google Shape;56;p14"/>
          <p:cNvSpPr txBox="1"/>
          <p:nvPr/>
        </p:nvSpPr>
        <p:spPr>
          <a:xfrm>
            <a:off x="1116000" y="2561400"/>
            <a:ext cx="6912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Montserrat"/>
                <a:ea typeface="Montserrat"/>
                <a:cs typeface="Montserrat"/>
                <a:sym typeface="Montserrat"/>
              </a:rPr>
              <a:t>Introdução à Ciência dos Dados</a:t>
            </a:r>
            <a:br>
              <a:rPr lang="pt-BR" sz="17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2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2"/>
              </a:rPr>
              <a:t>https://icd-ufmg.github.io/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00" y="4428000"/>
            <a:ext cx="11664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2000" y="180000"/>
            <a:ext cx="1139915" cy="46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000000"/>
                </a:solidFill>
              </a:defRPr>
            </a:lvl1pPr>
            <a:lvl2pPr lvl="1" rtl="0">
              <a:buNone/>
              <a:defRPr sz="1300">
                <a:solidFill>
                  <a:srgbClr val="000000"/>
                </a:solidFill>
              </a:defRPr>
            </a:lvl2pPr>
            <a:lvl3pPr lvl="2" rtl="0">
              <a:buNone/>
              <a:defRPr sz="1300">
                <a:solidFill>
                  <a:srgbClr val="000000"/>
                </a:solidFill>
              </a:defRPr>
            </a:lvl3pPr>
            <a:lvl4pPr lvl="3" rtl="0">
              <a:buNone/>
              <a:defRPr sz="1300">
                <a:solidFill>
                  <a:srgbClr val="000000"/>
                </a:solidFill>
              </a:defRPr>
            </a:lvl4pPr>
            <a:lvl5pPr lvl="4" rtl="0">
              <a:buNone/>
              <a:defRPr sz="1300">
                <a:solidFill>
                  <a:srgbClr val="000000"/>
                </a:solidFill>
              </a:defRPr>
            </a:lvl5pPr>
            <a:lvl6pPr lvl="5" rtl="0">
              <a:buNone/>
              <a:defRPr sz="1300">
                <a:solidFill>
                  <a:srgbClr val="000000"/>
                </a:solidFill>
              </a:defRPr>
            </a:lvl6pPr>
            <a:lvl7pPr lvl="6" rtl="0">
              <a:buNone/>
              <a:defRPr sz="1300">
                <a:solidFill>
                  <a:srgbClr val="000000"/>
                </a:solidFill>
              </a:defRPr>
            </a:lvl7pPr>
            <a:lvl8pPr lvl="7" rtl="0">
              <a:buNone/>
              <a:defRPr sz="1300">
                <a:solidFill>
                  <a:srgbClr val="000000"/>
                </a:solidFill>
              </a:defRPr>
            </a:lvl8pPr>
            <a:lvl9pPr lvl="8" rtl="0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5140200" y="4359025"/>
            <a:ext cx="3692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Flavio Vinicius Diniz de Figueiredo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flavio@dcc.ufmg.br</a:t>
            </a: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Montserrat SemiBold"/>
              <a:buNone/>
              <a:defRPr sz="2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27625" y="429350"/>
            <a:ext cx="102000" cy="280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96705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96705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5" name="Google Shape;75;p17"/>
          <p:cNvSpPr/>
          <p:nvPr/>
        </p:nvSpPr>
        <p:spPr>
          <a:xfrm>
            <a:off x="27625" y="429350"/>
            <a:ext cx="102000" cy="280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0" name="Google Shape;80;p18"/>
          <p:cNvSpPr/>
          <p:nvPr/>
        </p:nvSpPr>
        <p:spPr>
          <a:xfrm>
            <a:off x="27625" y="429350"/>
            <a:ext cx="102000" cy="280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B23525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ontserrat"/>
              <a:buNone/>
              <a:defRPr b="1" sz="4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4" name="Google Shape;9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9" name="Google Shape;9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2" name="Google Shape;10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4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6" name="Google Shape;106;p24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2">
  <p:cSld name="TITLE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5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25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2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●"/>
              <a:defRPr sz="1800">
                <a:latin typeface="Comfortaa"/>
                <a:ea typeface="Comfortaa"/>
                <a:cs typeface="Comfortaa"/>
                <a:sym typeface="Comfortaa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○"/>
              <a:defRPr>
                <a:latin typeface="Comfortaa"/>
                <a:ea typeface="Comfortaa"/>
                <a:cs typeface="Comfortaa"/>
                <a:sym typeface="Comfortaa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■"/>
              <a:defRPr>
                <a:latin typeface="Comfortaa"/>
                <a:ea typeface="Comfortaa"/>
                <a:cs typeface="Comfortaa"/>
                <a:sym typeface="Comforta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●"/>
              <a:defRPr>
                <a:latin typeface="Comfortaa"/>
                <a:ea typeface="Comfortaa"/>
                <a:cs typeface="Comfortaa"/>
                <a:sym typeface="Comforta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○"/>
              <a:defRPr>
                <a:latin typeface="Comfortaa"/>
                <a:ea typeface="Comfortaa"/>
                <a:cs typeface="Comfortaa"/>
                <a:sym typeface="Comforta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■"/>
              <a:defRPr>
                <a:latin typeface="Comfortaa"/>
                <a:ea typeface="Comfortaa"/>
                <a:cs typeface="Comfortaa"/>
                <a:sym typeface="Comforta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●"/>
              <a:defRPr>
                <a:latin typeface="Comfortaa"/>
                <a:ea typeface="Comfortaa"/>
                <a:cs typeface="Comfortaa"/>
                <a:sym typeface="Comforta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○"/>
              <a:defRPr>
                <a:latin typeface="Comfortaa"/>
                <a:ea typeface="Comfortaa"/>
                <a:cs typeface="Comfortaa"/>
                <a:sym typeface="Comforta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omfortaa"/>
              <a:buChar char="■"/>
              <a:defRPr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varianceexplained.org/r/ds-ml-ai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5.png"/><Relationship Id="rId4" Type="http://schemas.openxmlformats.org/officeDocument/2006/relationships/image" Target="../media/image21.png"/><Relationship Id="rId5" Type="http://schemas.openxmlformats.org/officeDocument/2006/relationships/image" Target="../media/image4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2.png"/><Relationship Id="rId4" Type="http://schemas.openxmlformats.org/officeDocument/2006/relationships/image" Target="../media/image27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://mathworld.wolfram.com/LeastSquaresFitting.html" TargetMode="External"/><Relationship Id="rId4" Type="http://schemas.openxmlformats.org/officeDocument/2006/relationships/image" Target="../media/image3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5.png"/><Relationship Id="rId4" Type="http://schemas.openxmlformats.org/officeDocument/2006/relationships/image" Target="../media/image3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1.png"/><Relationship Id="rId4" Type="http://schemas.openxmlformats.org/officeDocument/2006/relationships/image" Target="../media/image33.png"/><Relationship Id="rId5" Type="http://schemas.openxmlformats.org/officeDocument/2006/relationships/image" Target="../media/image3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1.png"/><Relationship Id="rId4" Type="http://schemas.openxmlformats.org/officeDocument/2006/relationships/image" Target="../media/image33.png"/><Relationship Id="rId5" Type="http://schemas.openxmlformats.org/officeDocument/2006/relationships/image" Target="../media/image3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6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0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3.png"/><Relationship Id="rId4" Type="http://schemas.openxmlformats.org/officeDocument/2006/relationships/image" Target="../media/image39.png"/><Relationship Id="rId5" Type="http://schemas.openxmlformats.org/officeDocument/2006/relationships/image" Target="../media/image44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Relationship Id="rId3" Type="http://schemas.openxmlformats.org/officeDocument/2006/relationships/hyperlink" Target="mailto:flavio@dcc.ufmg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/>
        </p:nvSpPr>
        <p:spPr>
          <a:xfrm>
            <a:off x="311700" y="1841975"/>
            <a:ext cx="85206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latin typeface="Montserrat SemiBold"/>
                <a:ea typeface="Montserrat SemiBold"/>
                <a:cs typeface="Montserrat SemiBold"/>
                <a:sym typeface="Montserrat SemiBold"/>
              </a:rPr>
              <a:t>Introdução Regressão</a:t>
            </a:r>
            <a:endParaRPr sz="28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8" name="Google Shape;118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aprendizado de máquina?</a:t>
            </a:r>
            <a:endParaRPr/>
          </a:p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é a diferença entre </a:t>
            </a:r>
            <a:r>
              <a:rPr lang="pt-BR">
                <a:solidFill>
                  <a:srgbClr val="FF0000"/>
                </a:solidFill>
              </a:rPr>
              <a:t>ciência de dados</a:t>
            </a:r>
            <a:r>
              <a:rPr lang="pt-BR"/>
              <a:t>, </a:t>
            </a:r>
            <a:r>
              <a:rPr lang="pt-BR">
                <a:solidFill>
                  <a:srgbClr val="0000FF"/>
                </a:solidFill>
              </a:rPr>
              <a:t>aprendizado de máquina</a:t>
            </a:r>
            <a:r>
              <a:rPr lang="pt-BR"/>
              <a:t> e </a:t>
            </a:r>
            <a:r>
              <a:rPr lang="pt-BR">
                <a:solidFill>
                  <a:srgbClr val="38761D"/>
                </a:solidFill>
              </a:rPr>
              <a:t>inteligência artificial</a:t>
            </a:r>
            <a:r>
              <a:rPr lang="pt-BR"/>
              <a:t>?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>
                <a:solidFill>
                  <a:srgbClr val="FF0000"/>
                </a:solidFill>
              </a:rPr>
              <a:t>Ciência de dados</a:t>
            </a:r>
            <a:r>
              <a:rPr lang="pt-BR"/>
              <a:t> produz insights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</a:t>
            </a:r>
            <a:r>
              <a:rPr lang="pt-BR">
                <a:solidFill>
                  <a:srgbClr val="0000FF"/>
                </a:solidFill>
              </a:rPr>
              <a:t>aprendizado de máquina</a:t>
            </a:r>
            <a:r>
              <a:rPr lang="pt-BR"/>
              <a:t> produz previsões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>
                <a:solidFill>
                  <a:srgbClr val="38761D"/>
                </a:solidFill>
              </a:rPr>
              <a:t>Inteligência artificial</a:t>
            </a:r>
            <a:r>
              <a:rPr lang="pt-BR"/>
              <a:t> produz ações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600"/>
              </a:spcAft>
              <a:buNone/>
            </a:pPr>
            <a:r>
              <a:rPr lang="pt-BR"/>
              <a:t>Fonte: </a:t>
            </a:r>
            <a:r>
              <a:rPr i="1" lang="pt-BR" u="sng">
                <a:solidFill>
                  <a:schemeClr val="hlink"/>
                </a:solidFill>
                <a:hlinkClick r:id="rId3"/>
              </a:rPr>
              <a:t>Variance Explained</a:t>
            </a:r>
            <a:endParaRPr i="1"/>
          </a:p>
        </p:txBody>
      </p:sp>
      <p:sp>
        <p:nvSpPr>
          <p:cNvPr id="125" name="Google Shape;125;p27"/>
          <p:cNvSpPr txBox="1"/>
          <p:nvPr/>
        </p:nvSpPr>
        <p:spPr>
          <a:xfrm>
            <a:off x="6706875" y="1994475"/>
            <a:ext cx="23049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Nosso objetivo no curso!</a:t>
            </a:r>
            <a:endParaRPr sz="24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1125150" y="2278275"/>
            <a:ext cx="5332500" cy="39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" name="Google Shape;127;p27"/>
          <p:cNvCxnSpPr>
            <a:stCxn id="126" idx="3"/>
            <a:endCxn id="125" idx="1"/>
          </p:cNvCxnSpPr>
          <p:nvPr/>
        </p:nvCxnSpPr>
        <p:spPr>
          <a:xfrm>
            <a:off x="6457650" y="2477025"/>
            <a:ext cx="249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950" y="152400"/>
            <a:ext cx="864209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4" name="Google Shape;134;p28"/>
          <p:cNvSpPr/>
          <p:nvPr/>
        </p:nvSpPr>
        <p:spPr>
          <a:xfrm>
            <a:off x="185025" y="2775250"/>
            <a:ext cx="1635600" cy="2082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 de Dados para Regressão</a:t>
            </a:r>
            <a:endParaRPr/>
          </a:p>
        </p:txBody>
      </p:sp>
      <p:sp>
        <p:nvSpPr>
          <p:cNvPr id="140" name="Google Shape;14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141" name="Google Shape;141;p29"/>
          <p:cNvGraphicFramePr/>
          <p:nvPr/>
        </p:nvGraphicFramePr>
        <p:xfrm>
          <a:off x="809625" y="14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{0B79C7B2-2B00-4C32-A52F-604905687744}</a:tableStyleId>
              </a:tblPr>
              <a:tblGrid>
                <a:gridCol w="1741225"/>
                <a:gridCol w="704850"/>
                <a:gridCol w="640025"/>
                <a:gridCol w="1147775"/>
                <a:gridCol w="1076300"/>
                <a:gridCol w="619100"/>
                <a:gridCol w="647750"/>
                <a:gridCol w="6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Nome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Team</a:t>
                      </a:r>
                      <a:endParaRPr b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Pos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Alt. (cm)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Peso (kg)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Pts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Rbs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Asts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James Harden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HOU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196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99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LeBron James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LAL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Domantas Sabonis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IND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108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Kawhi Leonard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LAC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104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Anthony Davis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LAL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" name="Google Shape;142;p29"/>
          <p:cNvSpPr txBox="1"/>
          <p:nvPr/>
        </p:nvSpPr>
        <p:spPr>
          <a:xfrm>
            <a:off x="114525" y="4129775"/>
            <a:ext cx="8815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latin typeface="Source Sans Pro"/>
                <a:ea typeface="Source Sans Pro"/>
                <a:cs typeface="Source Sans Pro"/>
                <a:sym typeface="Source Sans Pro"/>
              </a:rPr>
              <a:t>Tarefa:</a:t>
            </a:r>
            <a:r>
              <a:rPr lang="pt-BR" sz="1800">
                <a:latin typeface="Source Sans Pro"/>
                <a:ea typeface="Source Sans Pro"/>
                <a:cs typeface="Source Sans Pro"/>
                <a:sym typeface="Source Sans Pro"/>
              </a:rPr>
              <a:t> prever os valores </a:t>
            </a:r>
            <a:r>
              <a:rPr b="1" i="1" lang="pt-BR" sz="1800">
                <a:latin typeface="Source Sans Pro"/>
                <a:ea typeface="Source Sans Pro"/>
                <a:cs typeface="Source Sans Pro"/>
                <a:sym typeface="Source Sans Pro"/>
              </a:rPr>
              <a:t>y</a:t>
            </a:r>
            <a:r>
              <a:rPr lang="pt-BR" sz="1800">
                <a:latin typeface="Source Sans Pro"/>
                <a:ea typeface="Source Sans Pro"/>
                <a:cs typeface="Source Sans Pro"/>
                <a:sym typeface="Source Sans Pro"/>
              </a:rPr>
              <a:t> de uma coluna (</a:t>
            </a:r>
            <a:r>
              <a:rPr i="1" lang="pt-BR" sz="1800">
                <a:latin typeface="Source Sans Pro"/>
                <a:ea typeface="Source Sans Pro"/>
                <a:cs typeface="Source Sans Pro"/>
                <a:sym typeface="Source Sans Pro"/>
              </a:rPr>
              <a:t>variável dependente</a:t>
            </a:r>
            <a:r>
              <a:rPr lang="pt-BR" sz="1800">
                <a:latin typeface="Source Sans Pro"/>
                <a:ea typeface="Source Sans Pro"/>
                <a:cs typeface="Source Sans Pro"/>
                <a:sym typeface="Source Sans Pro"/>
              </a:rPr>
              <a:t>) dados os valores </a:t>
            </a:r>
            <a:r>
              <a:rPr b="1" i="1" lang="pt-BR" sz="1800"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  <a:r>
              <a:rPr lang="pt-BR" sz="1800">
                <a:latin typeface="Source Sans Pro"/>
                <a:ea typeface="Source Sans Pro"/>
                <a:cs typeface="Source Sans Pro"/>
                <a:sym typeface="Source Sans Pro"/>
              </a:rPr>
              <a:t> das demais (</a:t>
            </a:r>
            <a:r>
              <a:rPr i="1" lang="pt-BR" sz="1800">
                <a:latin typeface="Source Sans Pro"/>
                <a:ea typeface="Source Sans Pro"/>
                <a:cs typeface="Source Sans Pro"/>
                <a:sym typeface="Source Sans Pro"/>
              </a:rPr>
              <a:t>variáveis independentes</a:t>
            </a:r>
            <a:r>
              <a:rPr lang="pt-BR" sz="1800">
                <a:latin typeface="Source Sans Pro"/>
                <a:ea typeface="Source Sans Pro"/>
                <a:cs typeface="Source Sans Pro"/>
                <a:sym typeface="Source Sans Pro"/>
              </a:rPr>
              <a:t>)</a:t>
            </a:r>
            <a:endParaRPr sz="18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 de Dados para Regressão</a:t>
            </a:r>
            <a:endParaRPr/>
          </a:p>
        </p:txBody>
      </p:sp>
      <p:sp>
        <p:nvSpPr>
          <p:cNvPr id="148" name="Google Shape;14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149" name="Google Shape;149;p30"/>
          <p:cNvGraphicFramePr/>
          <p:nvPr/>
        </p:nvGraphicFramePr>
        <p:xfrm>
          <a:off x="809625" y="14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{0B79C7B2-2B00-4C32-A52F-604905687744}</a:tableStyleId>
              </a:tblPr>
              <a:tblGrid>
                <a:gridCol w="1741225"/>
                <a:gridCol w="704850"/>
                <a:gridCol w="640025"/>
                <a:gridCol w="1147775"/>
                <a:gridCol w="1076300"/>
                <a:gridCol w="619100"/>
                <a:gridCol w="647750"/>
                <a:gridCol w="6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Nome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Team</a:t>
                      </a:r>
                      <a:endParaRPr b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Pos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Alt. (cm)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Peso (kg)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Pts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Rbs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Asts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James Harden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HOU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196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99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LeBron James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LAL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Domantas Sabonis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IND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108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Kawhi Leonard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LAC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104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Anthony Davis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LAL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30"/>
          <p:cNvSpPr txBox="1"/>
          <p:nvPr/>
        </p:nvSpPr>
        <p:spPr>
          <a:xfrm>
            <a:off x="2032875" y="4158350"/>
            <a:ext cx="30861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Classificação</a:t>
            </a:r>
            <a:endParaRPr sz="2400">
              <a:solidFill>
                <a:srgbClr val="0000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1" name="Google Shape;151;p30"/>
          <p:cNvSpPr/>
          <p:nvPr/>
        </p:nvSpPr>
        <p:spPr>
          <a:xfrm rot="5400000">
            <a:off x="3475875" y="3747800"/>
            <a:ext cx="200100" cy="621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 de Dados para Regressão</a:t>
            </a:r>
            <a:endParaRPr/>
          </a:p>
        </p:txBody>
      </p:sp>
      <p:sp>
        <p:nvSpPr>
          <p:cNvPr id="157" name="Google Shape;15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158" name="Google Shape;158;p31"/>
          <p:cNvGraphicFramePr/>
          <p:nvPr/>
        </p:nvGraphicFramePr>
        <p:xfrm>
          <a:off x="809625" y="14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{0B79C7B2-2B00-4C32-A52F-604905687744}</a:tableStyleId>
              </a:tblPr>
              <a:tblGrid>
                <a:gridCol w="1741225"/>
                <a:gridCol w="704850"/>
                <a:gridCol w="640025"/>
                <a:gridCol w="1147775"/>
                <a:gridCol w="1076300"/>
                <a:gridCol w="619100"/>
                <a:gridCol w="647750"/>
                <a:gridCol w="6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Nome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Team</a:t>
                      </a:r>
                      <a:endParaRPr b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Pos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Alt. (cm)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Peso (kg)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Pts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Rbs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Asts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James Harden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HOU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196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99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LeBron James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LAL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Domantas Sabonis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IND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108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Kawhi Leonard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LAC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104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Anthony Davis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LAL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31"/>
          <p:cNvSpPr txBox="1"/>
          <p:nvPr/>
        </p:nvSpPr>
        <p:spPr>
          <a:xfrm>
            <a:off x="4334225" y="4158350"/>
            <a:ext cx="41433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Regressão</a:t>
            </a:r>
            <a:endParaRPr sz="2400">
              <a:solidFill>
                <a:srgbClr val="FF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0" name="Google Shape;160;p31"/>
          <p:cNvSpPr/>
          <p:nvPr/>
        </p:nvSpPr>
        <p:spPr>
          <a:xfrm rot="5400000">
            <a:off x="6305825" y="3758750"/>
            <a:ext cx="200100" cy="599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Galton e Pearson</a:t>
            </a:r>
            <a:endParaRPr/>
          </a:p>
        </p:txBody>
      </p:sp>
      <p:pic>
        <p:nvPicPr>
          <p:cNvPr id="166" name="Google Shape;16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2657649" y="-25113"/>
            <a:ext cx="3828701" cy="61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Galton e Pearson</a:t>
            </a:r>
            <a:endParaRPr/>
          </a:p>
        </p:txBody>
      </p:sp>
      <p:pic>
        <p:nvPicPr>
          <p:cNvPr id="173" name="Google Shape;173;p33"/>
          <p:cNvPicPr preferRelativeResize="0"/>
          <p:nvPr/>
        </p:nvPicPr>
        <p:blipFill rotWithShape="1">
          <a:blip r:embed="rId3">
            <a:alphaModFix/>
          </a:blip>
          <a:srcRect b="29483" l="853" r="0" t="0"/>
          <a:stretch/>
        </p:blipFill>
        <p:spPr>
          <a:xfrm flipH="1" rot="10800000">
            <a:off x="4449098" y="546355"/>
            <a:ext cx="3796126" cy="436059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3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Qual é a relação entre a altura de crianças em relação aos pais?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Y</a:t>
            </a:r>
            <a:r>
              <a:rPr lang="pt-BR"/>
              <a:t> altura das crianças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X </a:t>
            </a:r>
            <a:r>
              <a:rPr lang="pt-BR"/>
              <a:t>altura dos pais</a:t>
            </a:r>
            <a:endParaRPr/>
          </a:p>
        </p:txBody>
      </p:sp>
      <p:sp>
        <p:nvSpPr>
          <p:cNvPr id="175" name="Google Shape;17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Regressão Linear Simples</a:t>
            </a:r>
            <a:endParaRPr/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1152475"/>
            <a:ext cx="8520600" cy="15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Na aula anterior, usamos a função de correlação para medir a força da relação linear entre duas variáveis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Esta aula: Queremos ser capazes de entender a natureza do relacionamento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É aqui que vamos usar a regressão linear simples</a:t>
            </a:r>
            <a:endParaRPr/>
          </a:p>
        </p:txBody>
      </p:sp>
      <p:sp>
        <p:nvSpPr>
          <p:cNvPr id="182" name="Google Shape;18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Base</a:t>
            </a:r>
            <a:endParaRPr/>
          </a:p>
        </p:txBody>
      </p:sp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311700" y="1152475"/>
            <a:ext cx="8520600" cy="15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Equação da reta entre dois pontos</a:t>
            </a:r>
            <a:endParaRPr/>
          </a:p>
        </p:txBody>
      </p:sp>
      <p:cxnSp>
        <p:nvCxnSpPr>
          <p:cNvPr id="189" name="Google Shape;189;p35"/>
          <p:cNvCxnSpPr/>
          <p:nvPr/>
        </p:nvCxnSpPr>
        <p:spPr>
          <a:xfrm>
            <a:off x="2375700" y="2078625"/>
            <a:ext cx="0" cy="19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0" name="Google Shape;190;p35"/>
          <p:cNvCxnSpPr/>
          <p:nvPr/>
        </p:nvCxnSpPr>
        <p:spPr>
          <a:xfrm>
            <a:off x="2375700" y="4002225"/>
            <a:ext cx="236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1" name="Google Shape;191;p35"/>
          <p:cNvCxnSpPr/>
          <p:nvPr/>
        </p:nvCxnSpPr>
        <p:spPr>
          <a:xfrm flipH="1" rot="10800000">
            <a:off x="2375700" y="2657250"/>
            <a:ext cx="1950600" cy="52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35"/>
          <p:cNvCxnSpPr/>
          <p:nvPr/>
        </p:nvCxnSpPr>
        <p:spPr>
          <a:xfrm>
            <a:off x="2389650" y="3207700"/>
            <a:ext cx="1923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35"/>
          <p:cNvCxnSpPr/>
          <p:nvPr/>
        </p:nvCxnSpPr>
        <p:spPr>
          <a:xfrm rot="10800000">
            <a:off x="4327050" y="2677775"/>
            <a:ext cx="0" cy="51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94" name="Google Shape;194;p35"/>
          <p:cNvSpPr txBox="1"/>
          <p:nvPr/>
        </p:nvSpPr>
        <p:spPr>
          <a:xfrm>
            <a:off x="3306000" y="3235550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Δx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5" name="Google Shape;195;p35"/>
          <p:cNvSpPr txBox="1"/>
          <p:nvPr/>
        </p:nvSpPr>
        <p:spPr>
          <a:xfrm>
            <a:off x="4327800" y="2726275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Δy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96" name="Google Shape;19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4125" y="2264100"/>
            <a:ext cx="1772412" cy="6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5"/>
          <p:cNvSpPr txBox="1"/>
          <p:nvPr/>
        </p:nvSpPr>
        <p:spPr>
          <a:xfrm>
            <a:off x="1847475" y="2949700"/>
            <a:ext cx="692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(x, y)</a:t>
            </a:r>
            <a:r>
              <a:rPr baseline="-25000" lang="pt-BR"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endParaRPr baseline="-25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8" name="Google Shape;198;p35"/>
          <p:cNvSpPr txBox="1"/>
          <p:nvPr/>
        </p:nvSpPr>
        <p:spPr>
          <a:xfrm>
            <a:off x="4137600" y="2317800"/>
            <a:ext cx="692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(x, y)</a:t>
            </a:r>
            <a:r>
              <a:rPr baseline="-25000" lang="pt-BR">
                <a:latin typeface="Source Sans Pro"/>
                <a:ea typeface="Source Sans Pro"/>
                <a:cs typeface="Source Sans Pro"/>
                <a:sym typeface="Source Sans Pro"/>
              </a:rPr>
              <a:t>2</a:t>
            </a:r>
            <a:endParaRPr baseline="-25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descr="\beta = \Delta_y / \Delta_x" id="199" name="Google Shape;199;p35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6725" y="2949700"/>
            <a:ext cx="2184118" cy="5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Dados de Galton e Pearson</a:t>
            </a:r>
            <a:endParaRPr/>
          </a:p>
        </p:txBody>
      </p:sp>
      <p:sp>
        <p:nvSpPr>
          <p:cNvPr id="206" name="Google Shape;206;p3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Segue o DataFrame abaixo</a:t>
            </a:r>
            <a:endParaRPr/>
          </a:p>
        </p:txBody>
      </p:sp>
      <p:pic>
        <p:nvPicPr>
          <p:cNvPr id="207" name="Google Shape;20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350" y="1749802"/>
            <a:ext cx="7178599" cy="314280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Observando os Dados</a:t>
            </a:r>
            <a:endParaRPr/>
          </a:p>
        </p:txBody>
      </p:sp>
      <p:pic>
        <p:nvPicPr>
          <p:cNvPr id="214" name="Google Shape;21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1684" y="1313925"/>
            <a:ext cx="5040625" cy="35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Regressão de Vizinhos Próximos</a:t>
            </a:r>
            <a:endParaRPr/>
          </a:p>
        </p:txBody>
      </p:sp>
      <p:sp>
        <p:nvSpPr>
          <p:cNvPr id="221" name="Google Shape;221;p3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Nearest Neighbors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Defina uma janela no eixo-x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Compute a média no eixo-y</a:t>
            </a:r>
            <a:endParaRPr/>
          </a:p>
        </p:txBody>
      </p:sp>
      <p:pic>
        <p:nvPicPr>
          <p:cNvPr id="222" name="Google Shape;22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000" y="1417700"/>
            <a:ext cx="4716300" cy="33007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38"/>
          <p:cNvCxnSpPr/>
          <p:nvPr/>
        </p:nvCxnSpPr>
        <p:spPr>
          <a:xfrm>
            <a:off x="4572000" y="4310025"/>
            <a:ext cx="283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38"/>
          <p:cNvCxnSpPr/>
          <p:nvPr/>
        </p:nvCxnSpPr>
        <p:spPr>
          <a:xfrm>
            <a:off x="4931975" y="4310025"/>
            <a:ext cx="283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38"/>
          <p:cNvCxnSpPr/>
          <p:nvPr/>
        </p:nvCxnSpPr>
        <p:spPr>
          <a:xfrm>
            <a:off x="5315025" y="4310025"/>
            <a:ext cx="283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38"/>
          <p:cNvSpPr/>
          <p:nvPr/>
        </p:nvSpPr>
        <p:spPr>
          <a:xfrm>
            <a:off x="4627050" y="3459775"/>
            <a:ext cx="138300" cy="138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8"/>
          <p:cNvSpPr/>
          <p:nvPr/>
        </p:nvSpPr>
        <p:spPr>
          <a:xfrm>
            <a:off x="5004425" y="3404600"/>
            <a:ext cx="138300" cy="138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8"/>
          <p:cNvSpPr/>
          <p:nvPr/>
        </p:nvSpPr>
        <p:spPr>
          <a:xfrm>
            <a:off x="5387475" y="3266300"/>
            <a:ext cx="138300" cy="138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9" name="Google Shape;229;p38"/>
          <p:cNvCxnSpPr/>
          <p:nvPr/>
        </p:nvCxnSpPr>
        <p:spPr>
          <a:xfrm>
            <a:off x="5698075" y="4310025"/>
            <a:ext cx="283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38"/>
          <p:cNvSpPr/>
          <p:nvPr/>
        </p:nvSpPr>
        <p:spPr>
          <a:xfrm>
            <a:off x="5770525" y="3188050"/>
            <a:ext cx="138300" cy="138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Regressão de Vizinhos Próximos</a:t>
            </a:r>
            <a:endParaRPr/>
          </a:p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311700" y="97395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Nearest Neighbors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Defina uma janela no eixo-x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Compute a média no eixo-y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Neste caso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Simples de implementar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 fazer a aproximação</a:t>
            </a:r>
            <a:br>
              <a:rPr lang="pt-BR"/>
            </a:br>
            <a:r>
              <a:rPr lang="pt-BR"/>
              <a:t>para x para n-casas decimais e</a:t>
            </a:r>
            <a:br>
              <a:rPr lang="pt-BR"/>
            </a:br>
            <a:r>
              <a:rPr lang="pt-BR"/>
              <a:t>computar o valor médio de y</a:t>
            </a:r>
            <a:endParaRPr/>
          </a:p>
        </p:txBody>
      </p:sp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000" y="1417700"/>
            <a:ext cx="4716300" cy="33007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" name="Google Shape;239;p39"/>
          <p:cNvCxnSpPr/>
          <p:nvPr/>
        </p:nvCxnSpPr>
        <p:spPr>
          <a:xfrm>
            <a:off x="4572000" y="4310025"/>
            <a:ext cx="283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39"/>
          <p:cNvCxnSpPr/>
          <p:nvPr/>
        </p:nvCxnSpPr>
        <p:spPr>
          <a:xfrm>
            <a:off x="4931975" y="4310025"/>
            <a:ext cx="283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39"/>
          <p:cNvCxnSpPr/>
          <p:nvPr/>
        </p:nvCxnSpPr>
        <p:spPr>
          <a:xfrm>
            <a:off x="5315025" y="4310025"/>
            <a:ext cx="283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39"/>
          <p:cNvSpPr/>
          <p:nvPr/>
        </p:nvSpPr>
        <p:spPr>
          <a:xfrm>
            <a:off x="4627050" y="3459775"/>
            <a:ext cx="138300" cy="138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9"/>
          <p:cNvSpPr/>
          <p:nvPr/>
        </p:nvSpPr>
        <p:spPr>
          <a:xfrm>
            <a:off x="5004425" y="3404600"/>
            <a:ext cx="138300" cy="138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9"/>
          <p:cNvSpPr/>
          <p:nvPr/>
        </p:nvSpPr>
        <p:spPr>
          <a:xfrm>
            <a:off x="5387475" y="3266300"/>
            <a:ext cx="138300" cy="138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5" name="Google Shape;245;p39"/>
          <p:cNvCxnSpPr/>
          <p:nvPr/>
        </p:nvCxnSpPr>
        <p:spPr>
          <a:xfrm>
            <a:off x="5698075" y="4310025"/>
            <a:ext cx="283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39"/>
          <p:cNvSpPr/>
          <p:nvPr/>
        </p:nvSpPr>
        <p:spPr>
          <a:xfrm>
            <a:off x="5770525" y="3188050"/>
            <a:ext cx="138300" cy="138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Regressão de Vizinhos Próximos</a:t>
            </a:r>
            <a:endParaRPr/>
          </a:p>
        </p:txBody>
      </p:sp>
      <p:sp>
        <p:nvSpPr>
          <p:cNvPr id="253" name="Google Shape;253;p40"/>
          <p:cNvSpPr txBox="1"/>
          <p:nvPr>
            <p:ph idx="1" type="body"/>
          </p:nvPr>
        </p:nvSpPr>
        <p:spPr>
          <a:xfrm>
            <a:off x="311700" y="973950"/>
            <a:ext cx="438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Nearest Neighbors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Defina uma janela no eixo-x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Compute a média no eixo-y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Neste caso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Simples de implementar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 fazer a aproximação</a:t>
            </a:r>
            <a:br>
              <a:rPr lang="pt-BR"/>
            </a:br>
            <a:r>
              <a:rPr lang="pt-BR"/>
              <a:t>para x para n-casas decimais e</a:t>
            </a:r>
            <a:br>
              <a:rPr lang="pt-BR"/>
            </a:br>
            <a:r>
              <a:rPr lang="pt-BR"/>
              <a:t>computar o valor médio de y</a:t>
            </a:r>
            <a:endParaRPr/>
          </a:p>
        </p:txBody>
      </p:sp>
      <p:pic>
        <p:nvPicPr>
          <p:cNvPr id="254" name="Google Shape;25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3050" y="1297525"/>
            <a:ext cx="4860849" cy="33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Regressão de Vizinhos Próximos</a:t>
            </a:r>
            <a:endParaRPr/>
          </a:p>
        </p:txBody>
      </p:sp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Define a ideia de  uma regressão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Capturar uma média em 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Considerando uma faixa</a:t>
            </a:r>
            <a:br>
              <a:rPr lang="pt-BR"/>
            </a:br>
            <a:r>
              <a:rPr lang="pt-BR"/>
              <a:t>De valores em 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fazer o mesmo para</a:t>
            </a:r>
            <a:br>
              <a:rPr lang="pt-BR"/>
            </a:br>
            <a:r>
              <a:rPr lang="pt-BR"/>
              <a:t>Uma reta?</a:t>
            </a:r>
            <a:endParaRPr/>
          </a:p>
        </p:txBody>
      </p:sp>
      <p:pic>
        <p:nvPicPr>
          <p:cNvPr id="262" name="Google Shape;26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6022" y="1309525"/>
            <a:ext cx="5171501" cy="358080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Até Agora</a:t>
            </a:r>
            <a:endParaRPr/>
          </a:p>
        </p:txBody>
      </p:sp>
      <p:sp>
        <p:nvSpPr>
          <p:cNvPr id="269" name="Google Shape;269;p4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entender a regressão como uma tentativa de estimar a média</a:t>
            </a:r>
            <a:br>
              <a:rPr lang="pt-BR"/>
            </a:br>
            <a:r>
              <a:rPr lang="pt-BR"/>
              <a:t>de valores quando </a:t>
            </a:r>
            <a:r>
              <a:rPr lang="pt-BR"/>
              <a:t>discretizar</a:t>
            </a:r>
            <a:r>
              <a:rPr lang="pt-BR"/>
              <a:t> o eixo-x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Vamos seguir nessa linha de pensamento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Normalizar os dados para ajudar</a:t>
            </a:r>
            <a:endParaRPr/>
          </a:p>
        </p:txBody>
      </p:sp>
      <p:sp>
        <p:nvSpPr>
          <p:cNvPr id="270" name="Google Shape;27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Z-Normalização</a:t>
            </a:r>
            <a:endParaRPr/>
          </a:p>
        </p:txBody>
      </p:sp>
      <p:sp>
        <p:nvSpPr>
          <p:cNvPr id="276" name="Google Shape;276;p4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média de cada coluna é zero (soma de x</a:t>
            </a:r>
            <a:r>
              <a:rPr baseline="-25000" lang="pt-BR"/>
              <a:t>i </a:t>
            </a:r>
            <a:r>
              <a:rPr lang="pt-BR"/>
              <a:t>- mean(x) vira mean(x) - mean(x))</a:t>
            </a:r>
            <a:endParaRPr baseline="-25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desvio padrão é 1 (pegue a fórmula do desvio padrão s</a:t>
            </a:r>
            <a:r>
              <a:rPr baseline="-25000" lang="pt-BR"/>
              <a:t>x</a:t>
            </a:r>
            <a:r>
              <a:rPr lang="pt-BR"/>
              <a:t> sem normalizar e ao dividir por </a:t>
            </a:r>
            <a:r>
              <a:rPr lang="pt-BR">
                <a:solidFill>
                  <a:schemeClr val="dk2"/>
                </a:solidFill>
              </a:rPr>
              <a:t>s</a:t>
            </a:r>
            <a:r>
              <a:rPr baseline="-25000" lang="pt-BR">
                <a:solidFill>
                  <a:schemeClr val="dk2"/>
                </a:solidFill>
              </a:rPr>
              <a:t>x</a:t>
            </a:r>
            <a:r>
              <a:rPr lang="pt-BR"/>
              <a:t>, obviamente vira 1)</a:t>
            </a:r>
            <a:endParaRPr/>
          </a:p>
        </p:txBody>
      </p:sp>
      <p:pic>
        <p:nvPicPr>
          <p:cNvPr id="277" name="Google Shape;27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0825" y="0"/>
            <a:ext cx="13144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48" y="2339650"/>
            <a:ext cx="3778251" cy="280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2600" y="2243062"/>
            <a:ext cx="2615772" cy="299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1" name="Google Shape;281;p43"/>
          <p:cNvSpPr/>
          <p:nvPr/>
        </p:nvSpPr>
        <p:spPr>
          <a:xfrm>
            <a:off x="5495625" y="3110750"/>
            <a:ext cx="2678700" cy="905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Regressão de Vizinhos Próximos</a:t>
            </a:r>
            <a:endParaRPr/>
          </a:p>
        </p:txBody>
      </p:sp>
      <p:sp>
        <p:nvSpPr>
          <p:cNvPr id="287" name="Google Shape;287;p4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Ao z-normalizar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regressão deve ser</a:t>
            </a:r>
            <a:br>
              <a:rPr lang="pt-BR"/>
            </a:br>
            <a:r>
              <a:rPr lang="pt-BR"/>
              <a:t>bem próxima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Vamos trabalhar nesta</a:t>
            </a:r>
            <a:br>
              <a:rPr lang="pt-BR"/>
            </a:br>
            <a:r>
              <a:rPr lang="pt-BR"/>
              <a:t>unidade</a:t>
            </a:r>
            <a:endParaRPr/>
          </a:p>
        </p:txBody>
      </p:sp>
      <p:pic>
        <p:nvPicPr>
          <p:cNvPr id="288" name="Google Shape;28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3725" y="1068424"/>
            <a:ext cx="5709069" cy="39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6375" y="3366100"/>
            <a:ext cx="131445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 forma Visual</a:t>
            </a:r>
            <a:endParaRPr/>
          </a:p>
        </p:txBody>
      </p:sp>
      <p:sp>
        <p:nvSpPr>
          <p:cNvPr id="296" name="Google Shape;296;p45"/>
          <p:cNvSpPr txBox="1"/>
          <p:nvPr/>
        </p:nvSpPr>
        <p:spPr>
          <a:xfrm>
            <a:off x="4754600" y="1068425"/>
            <a:ext cx="3415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Dados Normalizados</a:t>
            </a:r>
            <a:endParaRPr sz="2400"/>
          </a:p>
        </p:txBody>
      </p:sp>
      <p:pic>
        <p:nvPicPr>
          <p:cNvPr id="297" name="Google Shape;29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638" y="1484850"/>
            <a:ext cx="3324225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5"/>
          <p:cNvSpPr txBox="1"/>
          <p:nvPr/>
        </p:nvSpPr>
        <p:spPr>
          <a:xfrm>
            <a:off x="5719725" y="2650375"/>
            <a:ext cx="9405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(0, 0)</a:t>
            </a:r>
            <a:endParaRPr b="1" sz="2400"/>
          </a:p>
        </p:txBody>
      </p:sp>
      <p:grpSp>
        <p:nvGrpSpPr>
          <p:cNvPr id="299" name="Google Shape;299;p45"/>
          <p:cNvGrpSpPr/>
          <p:nvPr/>
        </p:nvGrpSpPr>
        <p:grpSpPr>
          <a:xfrm>
            <a:off x="6523093" y="2638764"/>
            <a:ext cx="1473900" cy="1133100"/>
            <a:chOff x="2347568" y="2461439"/>
            <a:chExt cx="1473900" cy="1133100"/>
          </a:xfrm>
        </p:grpSpPr>
        <p:cxnSp>
          <p:nvCxnSpPr>
            <p:cNvPr id="300" name="Google Shape;300;p45"/>
            <p:cNvCxnSpPr/>
            <p:nvPr/>
          </p:nvCxnSpPr>
          <p:spPr>
            <a:xfrm>
              <a:off x="24614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1" name="Google Shape;301;p45"/>
            <p:cNvSpPr txBox="1"/>
            <p:nvPr/>
          </p:nvSpPr>
          <p:spPr>
            <a:xfrm>
              <a:off x="23475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1</a:t>
              </a:r>
              <a:endParaRPr b="1" sz="2400"/>
            </a:p>
          </p:txBody>
        </p:sp>
        <p:cxnSp>
          <p:nvCxnSpPr>
            <p:cNvPr id="302" name="Google Shape;302;p45"/>
            <p:cNvCxnSpPr/>
            <p:nvPr/>
          </p:nvCxnSpPr>
          <p:spPr>
            <a:xfrm>
              <a:off x="32162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3" name="Google Shape;303;p45"/>
            <p:cNvSpPr txBox="1"/>
            <p:nvPr/>
          </p:nvSpPr>
          <p:spPr>
            <a:xfrm>
              <a:off x="2880968" y="24614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</a:t>
              </a:r>
              <a:endParaRPr b="1" sz="2400"/>
            </a:p>
          </p:txBody>
        </p:sp>
      </p:grpSp>
      <p:sp>
        <p:nvSpPr>
          <p:cNvPr id="304" name="Google Shape;304;p45"/>
          <p:cNvSpPr/>
          <p:nvPr/>
        </p:nvSpPr>
        <p:spPr>
          <a:xfrm>
            <a:off x="6880800" y="21946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5"/>
          <p:cNvSpPr/>
          <p:nvPr/>
        </p:nvSpPr>
        <p:spPr>
          <a:xfrm>
            <a:off x="7719000" y="3109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5"/>
          <p:cNvSpPr/>
          <p:nvPr/>
        </p:nvSpPr>
        <p:spPr>
          <a:xfrm>
            <a:off x="7414200" y="34138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5"/>
          <p:cNvSpPr/>
          <p:nvPr/>
        </p:nvSpPr>
        <p:spPr>
          <a:xfrm>
            <a:off x="6576000" y="3490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5"/>
          <p:cNvSpPr/>
          <p:nvPr/>
        </p:nvSpPr>
        <p:spPr>
          <a:xfrm>
            <a:off x="6423600" y="36424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5"/>
          <p:cNvSpPr/>
          <p:nvPr/>
        </p:nvSpPr>
        <p:spPr>
          <a:xfrm>
            <a:off x="5661600" y="3109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5"/>
          <p:cNvSpPr/>
          <p:nvPr/>
        </p:nvSpPr>
        <p:spPr>
          <a:xfrm>
            <a:off x="6652200" y="28042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5"/>
          <p:cNvSpPr/>
          <p:nvPr/>
        </p:nvSpPr>
        <p:spPr>
          <a:xfrm>
            <a:off x="5509200" y="35662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Note que os dados normalizados</a:t>
            </a:r>
            <a:br>
              <a:rPr lang="pt-BR" sz="1600"/>
            </a:br>
            <a:r>
              <a:rPr lang="pt-BR" sz="1600"/>
              <a:t>Sempre passam pela origem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Podemos pensar em um modelo</a:t>
            </a:r>
            <a:br>
              <a:rPr lang="pt-BR" sz="1600"/>
            </a:br>
            <a:r>
              <a:rPr lang="pt-BR" sz="1600"/>
              <a:t>simples onde escrevemos apenas que:</a:t>
            </a:r>
            <a:br>
              <a:rPr lang="pt-BR" sz="1600"/>
            </a:br>
            <a:br>
              <a:rPr lang="pt-BR" sz="1600"/>
            </a:br>
            <a:r>
              <a:rPr b="1" lang="pt-BR" sz="1600">
                <a:solidFill>
                  <a:schemeClr val="dk2"/>
                </a:solidFill>
              </a:rPr>
              <a:t>y</a:t>
            </a:r>
            <a:r>
              <a:rPr b="1" baseline="-25000" lang="pt-BR" sz="1600">
                <a:solidFill>
                  <a:schemeClr val="dk2"/>
                </a:solidFill>
              </a:rPr>
              <a:t>i</a:t>
            </a:r>
            <a:r>
              <a:rPr b="1" lang="pt-BR" sz="1600">
                <a:solidFill>
                  <a:schemeClr val="dk2"/>
                </a:solidFill>
              </a:rPr>
              <a:t> = </a:t>
            </a:r>
            <a:r>
              <a:rPr b="1" lang="pt-BR" sz="1600">
                <a:solidFill>
                  <a:srgbClr val="FF0000"/>
                </a:solidFill>
              </a:rPr>
              <a:t>β</a:t>
            </a:r>
            <a:r>
              <a:rPr b="1" lang="pt-BR" sz="1600">
                <a:solidFill>
                  <a:schemeClr val="dk2"/>
                </a:solidFill>
              </a:rPr>
              <a:t>x + </a:t>
            </a:r>
            <a:r>
              <a:rPr b="1" lang="pt-BR" sz="1600">
                <a:solidFill>
                  <a:srgbClr val="38761D"/>
                </a:solidFill>
              </a:rPr>
              <a:t>0</a:t>
            </a:r>
            <a:br>
              <a:rPr lang="pt-BR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pt-BR" sz="1600">
                <a:solidFill>
                  <a:srgbClr val="FF0000"/>
                </a:solidFill>
              </a:rPr>
              <a:t>β</a:t>
            </a:r>
            <a:r>
              <a:rPr b="1" lang="pt-BR" sz="1600">
                <a:solidFill>
                  <a:schemeClr val="dk2"/>
                </a:solidFill>
              </a:rPr>
              <a:t> </a:t>
            </a:r>
            <a:r>
              <a:rPr b="1" lang="pt-BR" sz="1600"/>
              <a:t>(beta) </a:t>
            </a:r>
            <a:r>
              <a:rPr lang="pt-BR" sz="1600"/>
              <a:t>é um parâmetro livre</a:t>
            </a:r>
            <a:br>
              <a:rPr lang="pt-BR" sz="1600"/>
            </a:br>
            <a:r>
              <a:rPr lang="pt-BR" sz="1600"/>
              <a:t>que precisamos estimar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O alpha foi zero pois centralizamos</a:t>
            </a:r>
            <a:br>
              <a:rPr lang="pt-BR" sz="1600"/>
            </a:br>
            <a:r>
              <a:rPr lang="pt-BR" sz="1600"/>
              <a:t>os dados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pic>
        <p:nvPicPr>
          <p:cNvPr descr="\beta = \Delta_y / \Delta_x" id="313" name="Google Shape;313;p45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8875" y="2419250"/>
            <a:ext cx="1291024" cy="3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150" y="2314988"/>
            <a:ext cx="1772412" cy="6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Uma intuição da correlação de Pearson</a:t>
            </a:r>
            <a:endParaRPr/>
          </a:p>
        </p:txBody>
      </p:sp>
      <p:sp>
        <p:nvSpPr>
          <p:cNvPr id="321" name="Google Shape;321;p4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Considere o gráfico ao lado </a:t>
            </a:r>
            <a:br>
              <a:rPr lang="pt-BR"/>
            </a:br>
            <a:r>
              <a:rPr lang="pt-BR"/>
              <a:t>(s</a:t>
            </a:r>
            <a:r>
              <a:rPr lang="pt-BR"/>
              <a:t>intético)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linha vermelha é a linha</a:t>
            </a:r>
            <a:br>
              <a:rPr lang="pt-BR"/>
            </a:br>
            <a:r>
              <a:rPr lang="pt-BR"/>
              <a:t>de 45 graus. Qual é o valor de </a:t>
            </a:r>
            <a:br>
              <a:rPr lang="pt-BR"/>
            </a:b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>
                <a:solidFill>
                  <a:srgbClr val="CC0000"/>
                </a:solidFill>
              </a:rPr>
              <a:t>?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322" name="Google Shape;32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52475"/>
            <a:ext cx="4191000" cy="389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3" name="Google Shape;323;p46"/>
          <p:cNvCxnSpPr/>
          <p:nvPr/>
        </p:nvCxnSpPr>
        <p:spPr>
          <a:xfrm>
            <a:off x="1551675" y="2666475"/>
            <a:ext cx="0" cy="19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24" name="Google Shape;324;p46"/>
          <p:cNvCxnSpPr/>
          <p:nvPr/>
        </p:nvCxnSpPr>
        <p:spPr>
          <a:xfrm>
            <a:off x="1551675" y="4590075"/>
            <a:ext cx="236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5" name="Google Shape;325;p46"/>
          <p:cNvCxnSpPr/>
          <p:nvPr/>
        </p:nvCxnSpPr>
        <p:spPr>
          <a:xfrm flipH="1" rot="10800000">
            <a:off x="1568300" y="2860100"/>
            <a:ext cx="1713600" cy="171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46"/>
          <p:cNvCxnSpPr/>
          <p:nvPr/>
        </p:nvCxnSpPr>
        <p:spPr>
          <a:xfrm rot="10800000">
            <a:off x="3281900" y="2879000"/>
            <a:ext cx="0" cy="169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27" name="Google Shape;327;p46"/>
          <p:cNvSpPr txBox="1"/>
          <p:nvPr/>
        </p:nvSpPr>
        <p:spPr>
          <a:xfrm>
            <a:off x="2428800" y="4663600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Δx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8" name="Google Shape;328;p46"/>
          <p:cNvSpPr txBox="1"/>
          <p:nvPr/>
        </p:nvSpPr>
        <p:spPr>
          <a:xfrm>
            <a:off x="3413550" y="3680025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Δy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9" name="Google Shape;32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Considere o gráfico abaixo</a:t>
            </a:r>
            <a:endParaRPr/>
          </a:p>
        </p:txBody>
      </p:sp>
      <p:sp>
        <p:nvSpPr>
          <p:cNvPr id="335" name="Google Shape;335;p4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Sintético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linha vermelha é a linha</a:t>
            </a:r>
            <a:br>
              <a:rPr lang="pt-BR"/>
            </a:br>
            <a:r>
              <a:rPr lang="pt-BR"/>
              <a:t>de 45 graus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●"/>
            </a:pP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>
                <a:solidFill>
                  <a:srgbClr val="CC0000"/>
                </a:solidFill>
              </a:rPr>
              <a:t>=1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336" name="Google Shape;33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52475"/>
            <a:ext cx="419100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1150" y="2314988"/>
            <a:ext cx="1772412" cy="623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8" name="Google Shape;338;p47"/>
          <p:cNvCxnSpPr/>
          <p:nvPr/>
        </p:nvCxnSpPr>
        <p:spPr>
          <a:xfrm>
            <a:off x="1551675" y="2666475"/>
            <a:ext cx="0" cy="19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39" name="Google Shape;339;p47"/>
          <p:cNvCxnSpPr/>
          <p:nvPr/>
        </p:nvCxnSpPr>
        <p:spPr>
          <a:xfrm>
            <a:off x="1551675" y="4590075"/>
            <a:ext cx="236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0" name="Google Shape;340;p47"/>
          <p:cNvCxnSpPr/>
          <p:nvPr/>
        </p:nvCxnSpPr>
        <p:spPr>
          <a:xfrm flipH="1" rot="10800000">
            <a:off x="1568300" y="2860100"/>
            <a:ext cx="1713600" cy="171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47"/>
          <p:cNvCxnSpPr/>
          <p:nvPr/>
        </p:nvCxnSpPr>
        <p:spPr>
          <a:xfrm rot="10800000">
            <a:off x="3281900" y="2879000"/>
            <a:ext cx="0" cy="169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42" name="Google Shape;342;p47"/>
          <p:cNvSpPr txBox="1"/>
          <p:nvPr/>
        </p:nvSpPr>
        <p:spPr>
          <a:xfrm>
            <a:off x="2428800" y="4663600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Δx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43" name="Google Shape;343;p47"/>
          <p:cNvSpPr txBox="1"/>
          <p:nvPr/>
        </p:nvSpPr>
        <p:spPr>
          <a:xfrm>
            <a:off x="3413550" y="3680025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Δy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44" name="Google Shape;34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Considere o gráfico abaixo</a:t>
            </a:r>
            <a:endParaRPr/>
          </a:p>
        </p:txBody>
      </p:sp>
      <p:sp>
        <p:nvSpPr>
          <p:cNvPr id="350" name="Google Shape;350;p4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Agora, vamos pegar a média de diferentes</a:t>
            </a:r>
            <a:br>
              <a:rPr lang="pt-BR" sz="1500"/>
            </a:br>
            <a:r>
              <a:rPr lang="pt-BR" sz="1500"/>
              <a:t>janelas no eixo-x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pt-BR" sz="1400">
                <a:solidFill>
                  <a:schemeClr val="dk1"/>
                </a:solidFill>
              </a:rPr>
              <a:t>A linha de 45o não passa pela</a:t>
            </a:r>
            <a:br>
              <a:rPr lang="pt-BR" sz="1400">
                <a:solidFill>
                  <a:schemeClr val="dk1"/>
                </a:solidFill>
              </a:rPr>
            </a:br>
            <a:r>
              <a:rPr lang="pt-BR" sz="1400">
                <a:solidFill>
                  <a:schemeClr val="dk1"/>
                </a:solidFill>
              </a:rPr>
              <a:t>média dos valores de y </a:t>
            </a:r>
            <a:br>
              <a:rPr lang="pt-BR" sz="1400">
                <a:solidFill>
                  <a:schemeClr val="dk1"/>
                </a:solidFill>
              </a:rPr>
            </a:br>
            <a:r>
              <a:rPr lang="pt-BR" sz="1400">
                <a:solidFill>
                  <a:schemeClr val="dk1"/>
                </a:solidFill>
              </a:rPr>
              <a:t>quando x está entre [1, 2]. (med=1.5)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A linha verde sim. Note que os dados</a:t>
            </a:r>
            <a:br>
              <a:rPr lang="pt-BR" sz="1500"/>
            </a:br>
            <a:r>
              <a:rPr lang="pt-BR" sz="1500"/>
              <a:t>estão centralizados (0, 0)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Para os pontos próximo de 1.5, temos</a:t>
            </a:r>
            <a:br>
              <a:rPr lang="pt-BR" sz="1500"/>
            </a:br>
            <a:r>
              <a:rPr lang="pt-BR" sz="1500"/>
              <a:t>Um média no eixo-y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Esta linha é definida por (0, 0) e </a:t>
            </a:r>
            <a:br>
              <a:rPr lang="pt-BR" sz="1500"/>
            </a:br>
            <a:r>
              <a:rPr lang="pt-BR" sz="1500"/>
              <a:t>(1.5, média y para x entre 1 e 2)</a:t>
            </a:r>
            <a:endParaRPr sz="1500"/>
          </a:p>
        </p:txBody>
      </p:sp>
      <p:pic>
        <p:nvPicPr>
          <p:cNvPr id="351" name="Google Shape;35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00" y="1152463"/>
            <a:ext cx="4191000" cy="38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Temos a mesma ideia do NN</a:t>
            </a:r>
            <a:endParaRPr/>
          </a:p>
        </p:txBody>
      </p:sp>
      <p:sp>
        <p:nvSpPr>
          <p:cNvPr id="358" name="Google Shape;358;p49"/>
          <p:cNvSpPr txBox="1"/>
          <p:nvPr>
            <p:ph idx="1" type="body"/>
          </p:nvPr>
        </p:nvSpPr>
        <p:spPr>
          <a:xfrm>
            <a:off x="311700" y="973950"/>
            <a:ext cx="471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o valor de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lang="pt-BR"/>
              <a:t> para a linha verde?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É menor do que 1*.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r>
              <a:rPr lang="pt-BR" sz="1500"/>
              <a:t>Note que sim quando y=2x, x=0.5y, sendo a correlação 0.5 neste caso.</a:t>
            </a:r>
            <a:br>
              <a:rPr lang="pt-BR" sz="1500"/>
            </a:br>
            <a:r>
              <a:rPr lang="pt-BR" sz="1500"/>
              <a:t>Também estamos assumindo que uma   relação linear existe -- </a:t>
            </a:r>
            <a:br>
              <a:rPr lang="pt-BR" sz="1500"/>
            </a:br>
            <a:r>
              <a:rPr lang="pt-BR" sz="1500"/>
              <a:t>dispersão na forma de  elipse</a:t>
            </a:r>
            <a:endParaRPr sz="1500"/>
          </a:p>
        </p:txBody>
      </p:sp>
      <p:pic>
        <p:nvPicPr>
          <p:cNvPr id="359" name="Google Shape;35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00" y="1152476"/>
            <a:ext cx="3818876" cy="3549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 forma Visual</a:t>
            </a:r>
            <a:endParaRPr/>
          </a:p>
        </p:txBody>
      </p:sp>
      <p:sp>
        <p:nvSpPr>
          <p:cNvPr id="366" name="Google Shape;366;p50"/>
          <p:cNvSpPr txBox="1"/>
          <p:nvPr/>
        </p:nvSpPr>
        <p:spPr>
          <a:xfrm>
            <a:off x="4754600" y="1068425"/>
            <a:ext cx="3415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Dados Normalizados</a:t>
            </a:r>
            <a:endParaRPr sz="2400"/>
          </a:p>
        </p:txBody>
      </p:sp>
      <p:pic>
        <p:nvPicPr>
          <p:cNvPr id="367" name="Google Shape;36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638" y="1484850"/>
            <a:ext cx="3324225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50"/>
          <p:cNvSpPr txBox="1"/>
          <p:nvPr/>
        </p:nvSpPr>
        <p:spPr>
          <a:xfrm>
            <a:off x="5719725" y="2650375"/>
            <a:ext cx="9405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(0, 0)</a:t>
            </a:r>
            <a:endParaRPr b="1" sz="2400"/>
          </a:p>
        </p:txBody>
      </p:sp>
      <p:grpSp>
        <p:nvGrpSpPr>
          <p:cNvPr id="369" name="Google Shape;369;p50"/>
          <p:cNvGrpSpPr/>
          <p:nvPr/>
        </p:nvGrpSpPr>
        <p:grpSpPr>
          <a:xfrm>
            <a:off x="6523093" y="2638764"/>
            <a:ext cx="1473900" cy="1133100"/>
            <a:chOff x="2347568" y="2461439"/>
            <a:chExt cx="1473900" cy="1133100"/>
          </a:xfrm>
        </p:grpSpPr>
        <p:cxnSp>
          <p:nvCxnSpPr>
            <p:cNvPr id="370" name="Google Shape;370;p50"/>
            <p:cNvCxnSpPr/>
            <p:nvPr/>
          </p:nvCxnSpPr>
          <p:spPr>
            <a:xfrm>
              <a:off x="24614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1" name="Google Shape;371;p50"/>
            <p:cNvSpPr txBox="1"/>
            <p:nvPr/>
          </p:nvSpPr>
          <p:spPr>
            <a:xfrm>
              <a:off x="23475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1</a:t>
              </a:r>
              <a:endParaRPr b="1" sz="2400"/>
            </a:p>
          </p:txBody>
        </p:sp>
        <p:cxnSp>
          <p:nvCxnSpPr>
            <p:cNvPr id="372" name="Google Shape;372;p50"/>
            <p:cNvCxnSpPr/>
            <p:nvPr/>
          </p:nvCxnSpPr>
          <p:spPr>
            <a:xfrm>
              <a:off x="32162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3" name="Google Shape;373;p50"/>
            <p:cNvSpPr txBox="1"/>
            <p:nvPr/>
          </p:nvSpPr>
          <p:spPr>
            <a:xfrm>
              <a:off x="2880968" y="24614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</a:t>
              </a:r>
              <a:endParaRPr b="1" sz="2400"/>
            </a:p>
          </p:txBody>
        </p:sp>
      </p:grpSp>
      <p:sp>
        <p:nvSpPr>
          <p:cNvPr id="374" name="Google Shape;374;p50"/>
          <p:cNvSpPr/>
          <p:nvPr/>
        </p:nvSpPr>
        <p:spPr>
          <a:xfrm>
            <a:off x="6880800" y="21946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50"/>
          <p:cNvSpPr/>
          <p:nvPr/>
        </p:nvSpPr>
        <p:spPr>
          <a:xfrm>
            <a:off x="7719000" y="3109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50"/>
          <p:cNvSpPr/>
          <p:nvPr/>
        </p:nvSpPr>
        <p:spPr>
          <a:xfrm>
            <a:off x="7414200" y="34138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50"/>
          <p:cNvSpPr/>
          <p:nvPr/>
        </p:nvSpPr>
        <p:spPr>
          <a:xfrm>
            <a:off x="6576000" y="3490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50"/>
          <p:cNvSpPr/>
          <p:nvPr/>
        </p:nvSpPr>
        <p:spPr>
          <a:xfrm>
            <a:off x="6423600" y="36424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0"/>
          <p:cNvSpPr/>
          <p:nvPr/>
        </p:nvSpPr>
        <p:spPr>
          <a:xfrm>
            <a:off x="5661600" y="3109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0"/>
          <p:cNvSpPr/>
          <p:nvPr/>
        </p:nvSpPr>
        <p:spPr>
          <a:xfrm>
            <a:off x="6652200" y="28042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0"/>
          <p:cNvSpPr/>
          <p:nvPr/>
        </p:nvSpPr>
        <p:spPr>
          <a:xfrm>
            <a:off x="5509200" y="35662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5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/>
              <a:t>Adicionando um termo de erro:</a:t>
            </a:r>
            <a:br>
              <a:rPr lang="pt-BR">
                <a:solidFill>
                  <a:schemeClr val="dk2"/>
                </a:solidFill>
              </a:rPr>
            </a:b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 =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+ ε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endParaRPr baseline="-25000" i="1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/>
              <a:t>Queremos que este erro seja</a:t>
            </a:r>
            <a:br>
              <a:rPr lang="pt-BR"/>
            </a:br>
            <a:r>
              <a:rPr lang="pt-BR"/>
              <a:t>pequeno</a:t>
            </a:r>
            <a:br>
              <a:rPr lang="pt-BR">
                <a:solidFill>
                  <a:schemeClr val="dk2"/>
                </a:solidFill>
              </a:rPr>
            </a:b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ε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= y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proceder?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383" name="Google Shape;383;p50"/>
          <p:cNvCxnSpPr/>
          <p:nvPr/>
        </p:nvCxnSpPr>
        <p:spPr>
          <a:xfrm>
            <a:off x="6950400" y="2323350"/>
            <a:ext cx="0" cy="640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50"/>
          <p:cNvCxnSpPr/>
          <p:nvPr/>
        </p:nvCxnSpPr>
        <p:spPr>
          <a:xfrm>
            <a:off x="5727750" y="3248250"/>
            <a:ext cx="0" cy="30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50"/>
          <p:cNvCxnSpPr/>
          <p:nvPr/>
        </p:nvCxnSpPr>
        <p:spPr>
          <a:xfrm>
            <a:off x="7788600" y="2601775"/>
            <a:ext cx="0" cy="480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50"/>
          <p:cNvSpPr txBox="1"/>
          <p:nvPr/>
        </p:nvSpPr>
        <p:spPr>
          <a:xfrm>
            <a:off x="6950400" y="2323350"/>
            <a:ext cx="432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ε</a:t>
            </a:r>
            <a:r>
              <a:rPr b="1" baseline="-25000"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</a:t>
            </a:r>
            <a:endParaRPr/>
          </a:p>
        </p:txBody>
      </p:sp>
      <p:sp>
        <p:nvSpPr>
          <p:cNvPr id="387" name="Google Shape;38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 forma Visual</a:t>
            </a:r>
            <a:endParaRPr/>
          </a:p>
        </p:txBody>
      </p:sp>
      <p:sp>
        <p:nvSpPr>
          <p:cNvPr id="393" name="Google Shape;393;p51"/>
          <p:cNvSpPr txBox="1"/>
          <p:nvPr/>
        </p:nvSpPr>
        <p:spPr>
          <a:xfrm>
            <a:off x="4754600" y="1068425"/>
            <a:ext cx="3415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Dados Normalizados</a:t>
            </a:r>
            <a:endParaRPr sz="2400"/>
          </a:p>
        </p:txBody>
      </p:sp>
      <p:pic>
        <p:nvPicPr>
          <p:cNvPr id="394" name="Google Shape;39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638" y="1484850"/>
            <a:ext cx="3324225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1"/>
          <p:cNvSpPr txBox="1"/>
          <p:nvPr/>
        </p:nvSpPr>
        <p:spPr>
          <a:xfrm>
            <a:off x="5719725" y="2650375"/>
            <a:ext cx="9405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(0, 0)</a:t>
            </a:r>
            <a:endParaRPr b="1" sz="2400"/>
          </a:p>
        </p:txBody>
      </p:sp>
      <p:grpSp>
        <p:nvGrpSpPr>
          <p:cNvPr id="396" name="Google Shape;396;p51"/>
          <p:cNvGrpSpPr/>
          <p:nvPr/>
        </p:nvGrpSpPr>
        <p:grpSpPr>
          <a:xfrm>
            <a:off x="6523093" y="2638764"/>
            <a:ext cx="1473900" cy="1133100"/>
            <a:chOff x="2347568" y="2461439"/>
            <a:chExt cx="1473900" cy="1133100"/>
          </a:xfrm>
        </p:grpSpPr>
        <p:cxnSp>
          <p:nvCxnSpPr>
            <p:cNvPr id="397" name="Google Shape;397;p51"/>
            <p:cNvCxnSpPr/>
            <p:nvPr/>
          </p:nvCxnSpPr>
          <p:spPr>
            <a:xfrm>
              <a:off x="24614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8" name="Google Shape;398;p51"/>
            <p:cNvSpPr txBox="1"/>
            <p:nvPr/>
          </p:nvSpPr>
          <p:spPr>
            <a:xfrm>
              <a:off x="23475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1</a:t>
              </a:r>
              <a:endParaRPr b="1" sz="2400"/>
            </a:p>
          </p:txBody>
        </p:sp>
        <p:cxnSp>
          <p:nvCxnSpPr>
            <p:cNvPr id="399" name="Google Shape;399;p51"/>
            <p:cNvCxnSpPr/>
            <p:nvPr/>
          </p:nvCxnSpPr>
          <p:spPr>
            <a:xfrm>
              <a:off x="32162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0" name="Google Shape;400;p51"/>
            <p:cNvSpPr txBox="1"/>
            <p:nvPr/>
          </p:nvSpPr>
          <p:spPr>
            <a:xfrm>
              <a:off x="2880968" y="24614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</a:t>
              </a:r>
              <a:endParaRPr b="1" sz="2400"/>
            </a:p>
          </p:txBody>
        </p:sp>
      </p:grpSp>
      <p:sp>
        <p:nvSpPr>
          <p:cNvPr id="401" name="Google Shape;401;p51"/>
          <p:cNvSpPr/>
          <p:nvPr/>
        </p:nvSpPr>
        <p:spPr>
          <a:xfrm>
            <a:off x="6880800" y="21946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51"/>
          <p:cNvSpPr/>
          <p:nvPr/>
        </p:nvSpPr>
        <p:spPr>
          <a:xfrm>
            <a:off x="7719000" y="3109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51"/>
          <p:cNvSpPr/>
          <p:nvPr/>
        </p:nvSpPr>
        <p:spPr>
          <a:xfrm>
            <a:off x="7414200" y="34138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51"/>
          <p:cNvSpPr/>
          <p:nvPr/>
        </p:nvSpPr>
        <p:spPr>
          <a:xfrm>
            <a:off x="6576000" y="3490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1"/>
          <p:cNvSpPr/>
          <p:nvPr/>
        </p:nvSpPr>
        <p:spPr>
          <a:xfrm>
            <a:off x="6423600" y="36424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51"/>
          <p:cNvSpPr/>
          <p:nvPr/>
        </p:nvSpPr>
        <p:spPr>
          <a:xfrm>
            <a:off x="5661600" y="3109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1"/>
          <p:cNvSpPr/>
          <p:nvPr/>
        </p:nvSpPr>
        <p:spPr>
          <a:xfrm>
            <a:off x="6652200" y="28042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1"/>
          <p:cNvSpPr/>
          <p:nvPr/>
        </p:nvSpPr>
        <p:spPr>
          <a:xfrm>
            <a:off x="5509200" y="35662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Adicionando um termo de erro:</a:t>
            </a:r>
            <a:br>
              <a:rPr lang="pt-BR">
                <a:solidFill>
                  <a:schemeClr val="dk2"/>
                </a:solidFill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=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+ ε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b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endParaRPr baseline="-25000"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Queremos que este erro seja</a:t>
            </a:r>
            <a:br>
              <a:rPr lang="pt-BR"/>
            </a:br>
            <a:r>
              <a:rPr lang="pt-BR"/>
              <a:t>pequeno</a:t>
            </a:r>
            <a:br>
              <a:rPr lang="pt-BR"/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ε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br>
              <a:rPr b="1" baseline="-25000" lang="pt-BR">
                <a:solidFill>
                  <a:schemeClr val="dk2"/>
                </a:solidFill>
              </a:rPr>
            </a:br>
            <a:endParaRPr b="1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proceder? Vamos elevar ao</a:t>
            </a:r>
            <a:br>
              <a:rPr lang="pt-BR"/>
            </a:br>
            <a:r>
              <a:rPr lang="pt-BR"/>
              <a:t>quadrado (tudo é mais simples ao</a:t>
            </a:r>
            <a:br>
              <a:rPr lang="pt-BR"/>
            </a:br>
            <a:r>
              <a:rPr lang="pt-BR"/>
              <a:t>quadrado)</a:t>
            </a:r>
            <a:br>
              <a:rPr lang="pt-BR"/>
            </a:b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ε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= (y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410" name="Google Shape;410;p51"/>
          <p:cNvCxnSpPr/>
          <p:nvPr/>
        </p:nvCxnSpPr>
        <p:spPr>
          <a:xfrm>
            <a:off x="6950400" y="2323350"/>
            <a:ext cx="0" cy="640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51"/>
          <p:cNvCxnSpPr/>
          <p:nvPr/>
        </p:nvCxnSpPr>
        <p:spPr>
          <a:xfrm>
            <a:off x="5727750" y="3248250"/>
            <a:ext cx="0" cy="30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51"/>
          <p:cNvCxnSpPr/>
          <p:nvPr/>
        </p:nvCxnSpPr>
        <p:spPr>
          <a:xfrm>
            <a:off x="7483800" y="3156400"/>
            <a:ext cx="0" cy="251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51"/>
          <p:cNvCxnSpPr/>
          <p:nvPr/>
        </p:nvCxnSpPr>
        <p:spPr>
          <a:xfrm>
            <a:off x="7788600" y="2601775"/>
            <a:ext cx="0" cy="480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51"/>
          <p:cNvSpPr txBox="1"/>
          <p:nvPr/>
        </p:nvSpPr>
        <p:spPr>
          <a:xfrm>
            <a:off x="6950400" y="2323350"/>
            <a:ext cx="432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ε</a:t>
            </a:r>
            <a:r>
              <a:rPr b="1" baseline="-25000"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</a:t>
            </a:r>
            <a:endParaRPr/>
          </a:p>
        </p:txBody>
      </p:sp>
      <p:sp>
        <p:nvSpPr>
          <p:cNvPr id="415" name="Google Shape;415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 forma Visual</a:t>
            </a:r>
            <a:endParaRPr/>
          </a:p>
        </p:txBody>
      </p:sp>
      <p:sp>
        <p:nvSpPr>
          <p:cNvPr id="421" name="Google Shape;421;p52"/>
          <p:cNvSpPr txBox="1"/>
          <p:nvPr/>
        </p:nvSpPr>
        <p:spPr>
          <a:xfrm>
            <a:off x="4754600" y="1068425"/>
            <a:ext cx="3415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Dados Normalizados</a:t>
            </a:r>
            <a:endParaRPr sz="2400"/>
          </a:p>
        </p:txBody>
      </p:sp>
      <p:pic>
        <p:nvPicPr>
          <p:cNvPr id="422" name="Google Shape;42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638" y="1484850"/>
            <a:ext cx="3324225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2"/>
          <p:cNvSpPr txBox="1"/>
          <p:nvPr/>
        </p:nvSpPr>
        <p:spPr>
          <a:xfrm>
            <a:off x="5719725" y="2650375"/>
            <a:ext cx="9405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(0, 0)</a:t>
            </a:r>
            <a:endParaRPr b="1" sz="2400"/>
          </a:p>
        </p:txBody>
      </p:sp>
      <p:grpSp>
        <p:nvGrpSpPr>
          <p:cNvPr id="424" name="Google Shape;424;p52"/>
          <p:cNvGrpSpPr/>
          <p:nvPr/>
        </p:nvGrpSpPr>
        <p:grpSpPr>
          <a:xfrm>
            <a:off x="6523093" y="2638764"/>
            <a:ext cx="1473900" cy="1133100"/>
            <a:chOff x="2347568" y="2461439"/>
            <a:chExt cx="1473900" cy="1133100"/>
          </a:xfrm>
        </p:grpSpPr>
        <p:cxnSp>
          <p:nvCxnSpPr>
            <p:cNvPr id="425" name="Google Shape;425;p52"/>
            <p:cNvCxnSpPr/>
            <p:nvPr/>
          </p:nvCxnSpPr>
          <p:spPr>
            <a:xfrm>
              <a:off x="24614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6" name="Google Shape;426;p52"/>
            <p:cNvSpPr txBox="1"/>
            <p:nvPr/>
          </p:nvSpPr>
          <p:spPr>
            <a:xfrm>
              <a:off x="23475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1</a:t>
              </a:r>
              <a:endParaRPr b="1" sz="2400"/>
            </a:p>
          </p:txBody>
        </p:sp>
        <p:cxnSp>
          <p:nvCxnSpPr>
            <p:cNvPr id="427" name="Google Shape;427;p52"/>
            <p:cNvCxnSpPr/>
            <p:nvPr/>
          </p:nvCxnSpPr>
          <p:spPr>
            <a:xfrm>
              <a:off x="32162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8" name="Google Shape;428;p52"/>
            <p:cNvSpPr txBox="1"/>
            <p:nvPr/>
          </p:nvSpPr>
          <p:spPr>
            <a:xfrm>
              <a:off x="2880968" y="24614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</a:t>
              </a:r>
              <a:endParaRPr b="1" sz="2400"/>
            </a:p>
          </p:txBody>
        </p:sp>
      </p:grpSp>
      <p:sp>
        <p:nvSpPr>
          <p:cNvPr id="429" name="Google Shape;429;p52"/>
          <p:cNvSpPr/>
          <p:nvPr/>
        </p:nvSpPr>
        <p:spPr>
          <a:xfrm>
            <a:off x="6880800" y="21946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2"/>
          <p:cNvSpPr/>
          <p:nvPr/>
        </p:nvSpPr>
        <p:spPr>
          <a:xfrm>
            <a:off x="7719000" y="3109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52"/>
          <p:cNvSpPr/>
          <p:nvPr/>
        </p:nvSpPr>
        <p:spPr>
          <a:xfrm>
            <a:off x="7414200" y="34138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2"/>
          <p:cNvSpPr/>
          <p:nvPr/>
        </p:nvSpPr>
        <p:spPr>
          <a:xfrm>
            <a:off x="6576000" y="3490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2"/>
          <p:cNvSpPr/>
          <p:nvPr/>
        </p:nvSpPr>
        <p:spPr>
          <a:xfrm>
            <a:off x="6423600" y="36424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52"/>
          <p:cNvSpPr/>
          <p:nvPr/>
        </p:nvSpPr>
        <p:spPr>
          <a:xfrm>
            <a:off x="5661600" y="3109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2"/>
          <p:cNvSpPr/>
          <p:nvPr/>
        </p:nvSpPr>
        <p:spPr>
          <a:xfrm>
            <a:off x="6652200" y="28042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2"/>
          <p:cNvSpPr/>
          <p:nvPr/>
        </p:nvSpPr>
        <p:spPr>
          <a:xfrm>
            <a:off x="5509200" y="35662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Adicionando um termo de erro:</a:t>
            </a:r>
            <a:br>
              <a:rPr lang="pt-BR">
                <a:solidFill>
                  <a:schemeClr val="dk2"/>
                </a:solidFill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=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+ ε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b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endParaRPr baseline="-25000"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Queremos que este erro seja pequeno</a:t>
            </a:r>
            <a:br>
              <a:rPr lang="pt-BR">
                <a:solidFill>
                  <a:schemeClr val="dk1"/>
                </a:solidFill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ε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br>
              <a:rPr b="1" baseline="-25000" lang="pt-BR">
                <a:solidFill>
                  <a:schemeClr val="dk2"/>
                </a:solidFill>
              </a:rPr>
            </a:br>
            <a:endParaRPr b="1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Como proceder? Vamos elevar ao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quadrado</a:t>
            </a:r>
            <a:br>
              <a:rPr lang="pt-BR">
                <a:solidFill>
                  <a:schemeClr val="dk1"/>
                </a:solidFill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ε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br>
              <a:rPr b="1" baseline="30000" lang="pt-BR">
                <a:solidFill>
                  <a:schemeClr val="dk2"/>
                </a:solidFill>
              </a:rPr>
            </a:br>
            <a:endParaRPr b="1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Somar e definir uma função</a:t>
            </a:r>
            <a:br>
              <a:rPr lang="pt-BR"/>
            </a:b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) = Σ</a:t>
            </a:r>
            <a: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n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438" name="Google Shape;438;p52"/>
          <p:cNvCxnSpPr/>
          <p:nvPr/>
        </p:nvCxnSpPr>
        <p:spPr>
          <a:xfrm>
            <a:off x="6950400" y="2323350"/>
            <a:ext cx="0" cy="640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52"/>
          <p:cNvCxnSpPr/>
          <p:nvPr/>
        </p:nvCxnSpPr>
        <p:spPr>
          <a:xfrm>
            <a:off x="5727750" y="3248250"/>
            <a:ext cx="0" cy="30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52"/>
          <p:cNvCxnSpPr/>
          <p:nvPr/>
        </p:nvCxnSpPr>
        <p:spPr>
          <a:xfrm>
            <a:off x="7483800" y="3156400"/>
            <a:ext cx="0" cy="251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52"/>
          <p:cNvCxnSpPr/>
          <p:nvPr/>
        </p:nvCxnSpPr>
        <p:spPr>
          <a:xfrm>
            <a:off x="7788600" y="2601775"/>
            <a:ext cx="0" cy="480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52"/>
          <p:cNvSpPr txBox="1"/>
          <p:nvPr/>
        </p:nvSpPr>
        <p:spPr>
          <a:xfrm>
            <a:off x="6950400" y="2323350"/>
            <a:ext cx="432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ε</a:t>
            </a:r>
            <a:r>
              <a:rPr b="1" baseline="-25000"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</a:t>
            </a:r>
            <a:endParaRPr/>
          </a:p>
        </p:txBody>
      </p:sp>
      <p:sp>
        <p:nvSpPr>
          <p:cNvPr id="443" name="Google Shape;443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Lembrando da Aula de Risco (Aula 7)</a:t>
            </a:r>
            <a:endParaRPr/>
          </a:p>
        </p:txBody>
      </p:sp>
      <p:sp>
        <p:nvSpPr>
          <p:cNvPr id="449" name="Google Shape;449;p5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Lá a ideia era achar o melhor ponto</a:t>
            </a:r>
            <a:br>
              <a:rPr lang="pt-BR"/>
            </a:br>
            <a:r>
              <a:rPr lang="pt-BR"/>
              <a:t>que sumariza os dados. </a:t>
            </a:r>
            <a:br>
              <a:rPr lang="pt-BR"/>
            </a:br>
            <a:br>
              <a:rPr lang="pt-BR"/>
            </a:br>
            <a:br>
              <a:rPr lang="pt-BR"/>
            </a:br>
            <a:r>
              <a:rPr lang="pt-BR"/>
              <a:t>Via erro quadrado isto é média!</a:t>
            </a:r>
            <a:br>
              <a:rPr lang="pt-BR"/>
            </a:br>
            <a:br>
              <a:rPr lang="pt-BR"/>
            </a:br>
            <a:r>
              <a:rPr lang="pt-BR"/>
              <a:t>Ao usarmos a perda abaixo na</a:t>
            </a:r>
            <a:br>
              <a:rPr lang="pt-BR"/>
            </a:br>
            <a:r>
              <a:rPr lang="pt-BR"/>
              <a:t>regressão:</a:t>
            </a:r>
            <a:br>
              <a:rPr lang="pt-BR"/>
            </a:br>
            <a:r>
              <a:rPr lang="pt-BR"/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= Σ</a:t>
            </a:r>
            <a: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b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b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lang="pt-BR">
                <a:solidFill>
                  <a:schemeClr val="dk1"/>
                </a:solidFill>
              </a:rPr>
              <a:t>Também usamos um erro quadrado,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porém agora queremos a tendência média em BETA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lang="pt-BR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450" name="Google Shape;450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(\hat{\theta}) = {1 \over n}\sum_{i=1}^{n} (\hat{\theta} - x_i)^2" id="451" name="Google Shape;451;p53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522" y="1796924"/>
            <a:ext cx="2272400" cy="31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4700" y="1280588"/>
            <a:ext cx="4527600" cy="3109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3" name="Google Shape;453;p53"/>
          <p:cNvCxnSpPr/>
          <p:nvPr/>
        </p:nvCxnSpPr>
        <p:spPr>
          <a:xfrm>
            <a:off x="4936200" y="2754000"/>
            <a:ext cx="0" cy="1340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" name="Google Shape;454;p53"/>
          <p:cNvSpPr txBox="1"/>
          <p:nvPr/>
        </p:nvSpPr>
        <p:spPr>
          <a:xfrm>
            <a:off x="4936200" y="2754000"/>
            <a:ext cx="33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Source Sans Pro"/>
                <a:ea typeface="Source Sans Pro"/>
                <a:cs typeface="Source Sans Pro"/>
                <a:sym typeface="Source Sans Pro"/>
              </a:rPr>
              <a:t>?</a:t>
            </a:r>
            <a:endParaRPr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455" name="Google Shape;455;p53"/>
          <p:cNvCxnSpPr/>
          <p:nvPr/>
        </p:nvCxnSpPr>
        <p:spPr>
          <a:xfrm>
            <a:off x="6400950" y="2754000"/>
            <a:ext cx="0" cy="1340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53"/>
          <p:cNvSpPr txBox="1"/>
          <p:nvPr/>
        </p:nvSpPr>
        <p:spPr>
          <a:xfrm>
            <a:off x="6400950" y="2754000"/>
            <a:ext cx="33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Source Sans Pro"/>
                <a:ea typeface="Source Sans Pro"/>
                <a:cs typeface="Source Sans Pro"/>
                <a:sym typeface="Source Sans Pro"/>
              </a:rPr>
              <a:t>?</a:t>
            </a:r>
            <a:endParaRPr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457" name="Google Shape;457;p53"/>
          <p:cNvCxnSpPr/>
          <p:nvPr/>
        </p:nvCxnSpPr>
        <p:spPr>
          <a:xfrm>
            <a:off x="7530600" y="2754000"/>
            <a:ext cx="0" cy="1340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" name="Google Shape;458;p53"/>
          <p:cNvSpPr txBox="1"/>
          <p:nvPr/>
        </p:nvSpPr>
        <p:spPr>
          <a:xfrm>
            <a:off x="7530600" y="2754000"/>
            <a:ext cx="33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Source Sans Pro"/>
                <a:ea typeface="Source Sans Pro"/>
                <a:cs typeface="Source Sans Pro"/>
                <a:sym typeface="Source Sans Pro"/>
              </a:rPr>
              <a:t>?</a:t>
            </a:r>
            <a:endParaRPr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459" name="Google Shape;459;p53"/>
          <p:cNvCxnSpPr/>
          <p:nvPr/>
        </p:nvCxnSpPr>
        <p:spPr>
          <a:xfrm>
            <a:off x="6736050" y="2754000"/>
            <a:ext cx="0" cy="1340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" name="Google Shape;460;p53"/>
          <p:cNvSpPr txBox="1"/>
          <p:nvPr/>
        </p:nvSpPr>
        <p:spPr>
          <a:xfrm>
            <a:off x="6736050" y="2754000"/>
            <a:ext cx="33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Source Sans Pro"/>
                <a:ea typeface="Source Sans Pro"/>
                <a:cs typeface="Source Sans Pro"/>
                <a:sym typeface="Source Sans Pro"/>
              </a:rPr>
              <a:t>?</a:t>
            </a:r>
            <a:endParaRPr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61" name="Google Shape;461;p53"/>
          <p:cNvSpPr/>
          <p:nvPr/>
        </p:nvSpPr>
        <p:spPr>
          <a:xfrm>
            <a:off x="1173700" y="1796925"/>
            <a:ext cx="229800" cy="393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Função de Perda (Loss Function)</a:t>
            </a:r>
            <a:endParaRPr/>
          </a:p>
        </p:txBody>
      </p:sp>
      <p:sp>
        <p:nvSpPr>
          <p:cNvPr id="467" name="Google Shape;467;p5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= Σ</a:t>
            </a:r>
            <a: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n</a:t>
            </a:r>
            <a:endParaRPr baseline="30000" i="1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Ponto de partida de grande parte dos problemas de machine learning. Encontrar o melhor beta?</a:t>
            </a:r>
            <a:br>
              <a:rPr lang="pt-BR"/>
            </a:br>
            <a:br>
              <a:rPr lang="pt-BR"/>
            </a:br>
            <a:r>
              <a:rPr lang="pt-BR"/>
              <a:t>Observe que estamos atrás do melhor beta </a:t>
            </a:r>
            <a:r>
              <a:rPr b="1" lang="pt-BR"/>
              <a:t>na média.</a:t>
            </a:r>
            <a:r>
              <a:rPr lang="pt-BR"/>
              <a:t> Similar à </a:t>
            </a:r>
            <a:r>
              <a:rPr lang="pt-BR"/>
              <a:t>ideia</a:t>
            </a:r>
            <a:r>
              <a:rPr lang="pt-BR"/>
              <a:t> dos vizinhos nos slides anteriores.</a:t>
            </a:r>
            <a:endParaRPr baseline="30000" i="1"/>
          </a:p>
        </p:txBody>
      </p:sp>
      <p:sp>
        <p:nvSpPr>
          <p:cNvPr id="468" name="Google Shape;46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Função de Perda (Loss Function)</a:t>
            </a:r>
            <a:endParaRPr/>
          </a:p>
        </p:txBody>
      </p:sp>
      <p:sp>
        <p:nvSpPr>
          <p:cNvPr id="474" name="Google Shape;474;p5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= Σ</a:t>
            </a:r>
            <a: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n</a:t>
            </a:r>
            <a:endParaRPr baseline="30000" i="1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Ponto de partida de grande parte dos problemas de machine learning. Encontrar o melhor beta?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=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n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 βx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 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= n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- 2βy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+ β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 sz="1600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Derivando em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b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)/d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= 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n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- 2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+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))'</a:t>
            </a:r>
            <a:endParaRPr baseline="30000" i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)/d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= n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-2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+ 2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)/d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= 2n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+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endParaRPr baseline="30000" i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75" name="Google Shape;47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Função de Perda (Loss Function)</a:t>
            </a:r>
            <a:endParaRPr/>
          </a:p>
        </p:txBody>
      </p:sp>
      <p:sp>
        <p:nvSpPr>
          <p:cNvPr id="481" name="Google Shape;481;p5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= Σ</a:t>
            </a:r>
            <a: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n</a:t>
            </a:r>
            <a:endParaRPr baseline="30000"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Como resolvemos agora: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)/d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= 2n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+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)/dβ = 0</a:t>
            </a:r>
            <a:b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br>
              <a:rPr b="1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0 = 2n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(-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+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0 = 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(-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+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= 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b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b="1"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b="1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= (Σ</a:t>
            </a:r>
            <a:r>
              <a:rPr b="1"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="1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="1"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="1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="1"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b="1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/ (Σ</a:t>
            </a:r>
            <a:r>
              <a:rPr b="1"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="1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="1"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="1"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b="1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endParaRPr b="1" baseline="30000" i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82" name="Google Shape;482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vamos ligar com a correlação!</a:t>
            </a:r>
            <a:endParaRPr/>
          </a:p>
        </p:txBody>
      </p:sp>
      <p:sp>
        <p:nvSpPr>
          <p:cNvPr id="488" name="Google Shape;488;p5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= Σ</a:t>
            </a:r>
            <a: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n</a:t>
            </a:r>
            <a:endParaRPr baseline="30000"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Lembrando que a média é zero, os termos novos não mudam nada!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(Σ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/ (Σ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*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(Σ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endParaRPr i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Dividindo por n-1 o numerador e o denominador. Não muda nada, mas deixa claro o fato (sabendo que a variância e o desvio é igual a 1 (dados normalizados)):</a:t>
            </a:r>
            <a:endParaRPr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(n-1)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*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((n-1)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Cov(x, y) / Var(x)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=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Cov(x, y) / SD(x)</a:t>
            </a:r>
            <a:endParaRPr/>
          </a:p>
        </p:txBody>
      </p:sp>
      <p:sp>
        <p:nvSpPr>
          <p:cNvPr id="489" name="Google Shape;489;p57"/>
          <p:cNvSpPr txBox="1"/>
          <p:nvPr/>
        </p:nvSpPr>
        <p:spPr>
          <a:xfrm>
            <a:off x="1336475" y="2469750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490" name="Google Shape;490;p57"/>
          <p:cNvSpPr txBox="1"/>
          <p:nvPr/>
        </p:nvSpPr>
        <p:spPr>
          <a:xfrm>
            <a:off x="2128550" y="2469750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491" name="Google Shape;491;p57"/>
          <p:cNvSpPr txBox="1"/>
          <p:nvPr/>
        </p:nvSpPr>
        <p:spPr>
          <a:xfrm>
            <a:off x="3191750" y="2469750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492" name="Google Shape;492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93" name="Google Shape;493;p57"/>
          <p:cNvSpPr txBox="1"/>
          <p:nvPr/>
        </p:nvSpPr>
        <p:spPr>
          <a:xfrm>
            <a:off x="2693475" y="4085275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494" name="Google Shape;494;p57"/>
          <p:cNvSpPr txBox="1"/>
          <p:nvPr/>
        </p:nvSpPr>
        <p:spPr>
          <a:xfrm>
            <a:off x="1930625" y="4085275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495" name="Google Shape;495;p57"/>
          <p:cNvSpPr txBox="1"/>
          <p:nvPr/>
        </p:nvSpPr>
        <p:spPr>
          <a:xfrm>
            <a:off x="4371175" y="4085275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vamos ligar com a correlação!</a:t>
            </a:r>
            <a:endParaRPr/>
          </a:p>
        </p:txBody>
      </p:sp>
      <p:sp>
        <p:nvSpPr>
          <p:cNvPr id="501" name="Google Shape;501;p5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= Σ</a:t>
            </a:r>
            <a: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n</a:t>
            </a:r>
            <a:endParaRPr baseline="30000"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Lembrando que a média é zero, os termos novos não mudam nada!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(Σ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/ (Σ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*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(Σ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endParaRPr i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Porém, podemos re-escrever sem mudar nada (sabendo que os dados são normalizados e os dois desvios são 1)</a:t>
            </a:r>
            <a:endParaRPr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(n-1)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*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((n-1)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Cov(x, y) / Var(x)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=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Cov(x, y)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( SD(x) *  SD(y) )</a:t>
            </a:r>
            <a:endParaRPr/>
          </a:p>
        </p:txBody>
      </p:sp>
      <p:sp>
        <p:nvSpPr>
          <p:cNvPr id="502" name="Google Shape;502;p58"/>
          <p:cNvSpPr txBox="1"/>
          <p:nvPr/>
        </p:nvSpPr>
        <p:spPr>
          <a:xfrm>
            <a:off x="1336475" y="2469750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503" name="Google Shape;503;p58"/>
          <p:cNvSpPr txBox="1"/>
          <p:nvPr/>
        </p:nvSpPr>
        <p:spPr>
          <a:xfrm>
            <a:off x="2128550" y="2469750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504" name="Google Shape;504;p58"/>
          <p:cNvSpPr txBox="1"/>
          <p:nvPr/>
        </p:nvSpPr>
        <p:spPr>
          <a:xfrm>
            <a:off x="3191750" y="2469750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505" name="Google Shape;505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6" name="Google Shape;506;p58"/>
          <p:cNvSpPr txBox="1"/>
          <p:nvPr/>
        </p:nvSpPr>
        <p:spPr>
          <a:xfrm>
            <a:off x="2693475" y="4085275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507" name="Google Shape;507;p58"/>
          <p:cNvSpPr txBox="1"/>
          <p:nvPr/>
        </p:nvSpPr>
        <p:spPr>
          <a:xfrm>
            <a:off x="1930625" y="4085275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508" name="Google Shape;508;p58"/>
          <p:cNvSpPr txBox="1"/>
          <p:nvPr/>
        </p:nvSpPr>
        <p:spPr>
          <a:xfrm>
            <a:off x="4371175" y="4085275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vamos ligar com a correlação!</a:t>
            </a:r>
            <a:endParaRPr/>
          </a:p>
        </p:txBody>
      </p:sp>
      <p:sp>
        <p:nvSpPr>
          <p:cNvPr id="514" name="Google Shape;514;p5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= Σ</a:t>
            </a:r>
            <a: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n</a:t>
            </a:r>
            <a:endParaRPr baseline="30000"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Lembrando que a média é zero, os termos novos não mudam nada!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(Σ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/ (Σ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*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(Σ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endParaRPr i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Chegando ao resultado de que a inclinação,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, </a:t>
            </a:r>
            <a:r>
              <a:rPr b="1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após z-normalizar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é a correlação!</a:t>
            </a:r>
            <a:endParaRPr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(n-1)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*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((n-1)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Cov(x, y) / Var(x)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=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Cov(x, y) / SD(x)= Cov(x, y) / 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SD(x)SD(y)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endParaRPr sz="2000"/>
          </a:p>
        </p:txBody>
      </p:sp>
      <p:sp>
        <p:nvSpPr>
          <p:cNvPr id="515" name="Google Shape;515;p59"/>
          <p:cNvSpPr txBox="1"/>
          <p:nvPr/>
        </p:nvSpPr>
        <p:spPr>
          <a:xfrm>
            <a:off x="1336475" y="2469750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516" name="Google Shape;516;p59"/>
          <p:cNvSpPr txBox="1"/>
          <p:nvPr/>
        </p:nvSpPr>
        <p:spPr>
          <a:xfrm>
            <a:off x="2128550" y="2469750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517" name="Google Shape;517;p59"/>
          <p:cNvSpPr txBox="1"/>
          <p:nvPr/>
        </p:nvSpPr>
        <p:spPr>
          <a:xfrm>
            <a:off x="3191750" y="2469750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518" name="Google Shape;518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19" name="Google Shape;51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650" y="4585325"/>
            <a:ext cx="2017100" cy="4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Pontos importante</a:t>
            </a:r>
            <a:endParaRPr/>
          </a:p>
        </p:txBody>
      </p:sp>
      <p:sp>
        <p:nvSpPr>
          <p:cNvPr id="525" name="Google Shape;525;p6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F0000"/>
                </a:solidFill>
                <a:latin typeface="STIX Two Text"/>
                <a:ea typeface="STIX Two Text"/>
                <a:cs typeface="STIX Two Text"/>
                <a:sym typeface="STIX Two Text"/>
              </a:rPr>
              <a:t>β </a:t>
            </a:r>
            <a:r>
              <a:rPr i="1" lang="pt-BR">
                <a:solidFill>
                  <a:schemeClr val="dk1"/>
                </a:solidFill>
                <a:latin typeface="STIX Two Text"/>
                <a:ea typeface="STIX Two Text"/>
                <a:cs typeface="STIX Two Text"/>
                <a:sym typeface="STIX Two Text"/>
              </a:rPr>
              <a:t>= Cov(x, y) / Var(x)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→ </a:t>
            </a:r>
            <a:r>
              <a:rPr lang="pt-BR">
                <a:solidFill>
                  <a:schemeClr val="dk1"/>
                </a:solidFill>
              </a:rPr>
              <a:t>é uma relação que vai valer tanto para dados não </a:t>
            </a:r>
            <a:r>
              <a:rPr b="1" lang="pt-BR">
                <a:solidFill>
                  <a:schemeClr val="dk1"/>
                </a:solidFill>
                <a:highlight>
                  <a:srgbClr val="D9EAD3"/>
                </a:highlight>
              </a:rPr>
              <a:t>normalizados quanto para dados normalizados</a:t>
            </a:r>
            <a:endParaRPr b="1">
              <a:solidFill>
                <a:schemeClr val="dk1"/>
              </a:solidFill>
              <a:highlight>
                <a:srgbClr val="D9EAD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F0000"/>
                </a:solidFill>
                <a:latin typeface="STIX Two Text"/>
                <a:ea typeface="STIX Two Text"/>
                <a:cs typeface="STIX Two Text"/>
                <a:sym typeface="STIX Two Text"/>
              </a:rPr>
              <a:t>r(X, Y) = β </a:t>
            </a:r>
            <a:r>
              <a:rPr i="1" lang="pt-BR">
                <a:solidFill>
                  <a:schemeClr val="dk1"/>
                </a:solidFill>
                <a:latin typeface="STIX Two Text"/>
                <a:ea typeface="STIX Two Text"/>
                <a:cs typeface="STIX Two Text"/>
                <a:sym typeface="STIX Two Text"/>
              </a:rPr>
              <a:t>= Cov(x, y) / (SD(x) * SD(y) 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→ </a:t>
            </a:r>
            <a:r>
              <a:rPr lang="pt-BR">
                <a:solidFill>
                  <a:schemeClr val="dk1"/>
                </a:solidFill>
              </a:rPr>
              <a:t>é uma relação que vai valer </a:t>
            </a:r>
            <a:r>
              <a:rPr b="1" lang="pt-BR">
                <a:solidFill>
                  <a:schemeClr val="dk1"/>
                </a:solidFill>
                <a:highlight>
                  <a:srgbClr val="F4CCCC"/>
                </a:highlight>
              </a:rPr>
              <a:t>apenas para </a:t>
            </a:r>
            <a:r>
              <a:rPr lang="pt-BR">
                <a:solidFill>
                  <a:schemeClr val="dk1"/>
                </a:solidFill>
                <a:highlight>
                  <a:srgbClr val="F4CCCC"/>
                </a:highlight>
              </a:rPr>
              <a:t>dados normalizados.</a:t>
            </a:r>
            <a:endParaRPr>
              <a:solidFill>
                <a:schemeClr val="dk1"/>
              </a:solidFill>
              <a:highlight>
                <a:srgbClr val="F4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4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chemeClr val="lt1"/>
                </a:highlight>
              </a:rPr>
              <a:t>O segundo ponto vem do fato de que para dados normalizados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chemeClr val="lt1"/>
                </a:highlight>
              </a:rPr>
              <a:t>Var(x) = Var(y) = SD(x) = SD(y) = 1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526" name="Google Shape;526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Pontos importante</a:t>
            </a:r>
            <a:endParaRPr/>
          </a:p>
        </p:txBody>
      </p:sp>
      <p:sp>
        <p:nvSpPr>
          <p:cNvPr id="532" name="Google Shape;532;p6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F0000"/>
                </a:solidFill>
                <a:latin typeface="STIX Two Text"/>
                <a:ea typeface="STIX Two Text"/>
                <a:cs typeface="STIX Two Text"/>
                <a:sym typeface="STIX Two Text"/>
              </a:rPr>
              <a:t>β </a:t>
            </a:r>
            <a:r>
              <a:rPr i="1" lang="pt-BR">
                <a:solidFill>
                  <a:schemeClr val="dk1"/>
                </a:solidFill>
                <a:latin typeface="STIX Two Text"/>
                <a:ea typeface="STIX Two Text"/>
                <a:cs typeface="STIX Two Text"/>
                <a:sym typeface="STIX Two Text"/>
              </a:rPr>
              <a:t>= Cov(x, y) / Var(x)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→ </a:t>
            </a:r>
            <a:r>
              <a:rPr lang="pt-BR">
                <a:solidFill>
                  <a:schemeClr val="dk1"/>
                </a:solidFill>
              </a:rPr>
              <a:t>é uma relação que vai valer tanto para dados não </a:t>
            </a:r>
            <a:r>
              <a:rPr b="1" lang="pt-BR">
                <a:solidFill>
                  <a:schemeClr val="dk1"/>
                </a:solidFill>
                <a:highlight>
                  <a:srgbClr val="D9EAD3"/>
                </a:highlight>
              </a:rPr>
              <a:t>normalizados quanto para dados normalizados</a:t>
            </a:r>
            <a:endParaRPr b="1">
              <a:solidFill>
                <a:schemeClr val="dk1"/>
              </a:solidFill>
              <a:highlight>
                <a:srgbClr val="D9EAD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F0000"/>
                </a:solidFill>
                <a:latin typeface="STIX Two Text"/>
                <a:ea typeface="STIX Two Text"/>
                <a:cs typeface="STIX Two Text"/>
                <a:sym typeface="STIX Two Text"/>
              </a:rPr>
              <a:t>r(X, Y) = </a:t>
            </a:r>
            <a:r>
              <a:rPr i="1" lang="pt-BR">
                <a:solidFill>
                  <a:srgbClr val="FF0000"/>
                </a:solidFill>
                <a:latin typeface="STIX Two Text"/>
                <a:ea typeface="STIX Two Text"/>
                <a:cs typeface="STIX Two Text"/>
                <a:sym typeface="STIX Two Text"/>
              </a:rPr>
              <a:t>β </a:t>
            </a:r>
            <a:r>
              <a:rPr i="1" lang="pt-BR">
                <a:solidFill>
                  <a:schemeClr val="dk1"/>
                </a:solidFill>
                <a:latin typeface="STIX Two Text"/>
                <a:ea typeface="STIX Two Text"/>
                <a:cs typeface="STIX Two Text"/>
                <a:sym typeface="STIX Two Text"/>
              </a:rPr>
              <a:t>= Cov(x, y) / (SD(x) * SD(y) 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→ </a:t>
            </a:r>
            <a:r>
              <a:rPr lang="pt-BR">
                <a:solidFill>
                  <a:schemeClr val="dk1"/>
                </a:solidFill>
              </a:rPr>
              <a:t>é uma relação que vai valer </a:t>
            </a:r>
            <a:r>
              <a:rPr b="1" lang="pt-BR">
                <a:solidFill>
                  <a:schemeClr val="dk1"/>
                </a:solidFill>
                <a:highlight>
                  <a:srgbClr val="F4CCCC"/>
                </a:highlight>
              </a:rPr>
              <a:t>apenas para </a:t>
            </a:r>
            <a:r>
              <a:rPr lang="pt-BR">
                <a:solidFill>
                  <a:schemeClr val="dk1"/>
                </a:solidFill>
                <a:highlight>
                  <a:srgbClr val="F4CCCC"/>
                </a:highlight>
              </a:rPr>
              <a:t>dados normalizados.</a:t>
            </a:r>
            <a:endParaRPr>
              <a:solidFill>
                <a:schemeClr val="dk1"/>
              </a:solidFill>
              <a:highlight>
                <a:srgbClr val="F4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4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chemeClr val="lt1"/>
                </a:highlight>
              </a:rPr>
              <a:t>O segundo ponto vem do fato de que para dados normalizados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chemeClr val="lt1"/>
                </a:highlight>
              </a:rPr>
              <a:t>Var(x) = Var(y) = SD(x) = SD(y) = 1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chemeClr val="lt1"/>
                </a:highlight>
              </a:rPr>
              <a:t>Porém esse segundo ponto é útil e nos ajuda a entender a inclinação.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533" name="Google Shape;533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Até Agora</a:t>
            </a:r>
            <a:endParaRPr/>
          </a:p>
        </p:txBody>
      </p:sp>
      <p:sp>
        <p:nvSpPr>
          <p:cNvPr id="539" name="Google Shape;539;p6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entender a regressão como uma tentativa de estimar a média de valores quando discretizar o eixo-x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Normalizamos os dados para ajudar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Chegamos a conclusão que a reta que minimiza os erros na média tem como inclinação a correlação de pearson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Vamos voltar para os dados originais</a:t>
            </a:r>
            <a:endParaRPr/>
          </a:p>
        </p:txBody>
      </p:sp>
      <p:sp>
        <p:nvSpPr>
          <p:cNvPr id="540" name="Google Shape;540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linha não muda ao transladar os dados</a:t>
            </a:r>
            <a:br>
              <a:rPr lang="pt-BR"/>
            </a:br>
            <a:r>
              <a:rPr lang="pt-BR" sz="1400"/>
              <a:t>(transladar → somar ou reduzir uma constante, ainda não fiz a divisão pelo desvio)</a:t>
            </a:r>
            <a:endParaRPr sz="1400"/>
          </a:p>
        </p:txBody>
      </p:sp>
      <p:sp>
        <p:nvSpPr>
          <p:cNvPr id="546" name="Google Shape;546;p63"/>
          <p:cNvSpPr txBox="1"/>
          <p:nvPr/>
        </p:nvSpPr>
        <p:spPr>
          <a:xfrm>
            <a:off x="588000" y="1152475"/>
            <a:ext cx="3415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Dados Normalizados</a:t>
            </a:r>
            <a:endParaRPr sz="2400"/>
          </a:p>
        </p:txBody>
      </p:sp>
      <p:pic>
        <p:nvPicPr>
          <p:cNvPr id="547" name="Google Shape;54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038" y="1568900"/>
            <a:ext cx="3324225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63"/>
          <p:cNvSpPr txBox="1"/>
          <p:nvPr/>
        </p:nvSpPr>
        <p:spPr>
          <a:xfrm>
            <a:off x="1553125" y="2734425"/>
            <a:ext cx="9405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(0, 0)</a:t>
            </a:r>
            <a:endParaRPr b="1" sz="2400"/>
          </a:p>
        </p:txBody>
      </p:sp>
      <p:grpSp>
        <p:nvGrpSpPr>
          <p:cNvPr id="549" name="Google Shape;549;p63"/>
          <p:cNvGrpSpPr/>
          <p:nvPr/>
        </p:nvGrpSpPr>
        <p:grpSpPr>
          <a:xfrm>
            <a:off x="2356493" y="2722814"/>
            <a:ext cx="1473900" cy="1133100"/>
            <a:chOff x="2347568" y="2461439"/>
            <a:chExt cx="1473900" cy="1133100"/>
          </a:xfrm>
        </p:grpSpPr>
        <p:cxnSp>
          <p:nvCxnSpPr>
            <p:cNvPr id="550" name="Google Shape;550;p63"/>
            <p:cNvCxnSpPr/>
            <p:nvPr/>
          </p:nvCxnSpPr>
          <p:spPr>
            <a:xfrm>
              <a:off x="24614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1" name="Google Shape;551;p63"/>
            <p:cNvSpPr txBox="1"/>
            <p:nvPr/>
          </p:nvSpPr>
          <p:spPr>
            <a:xfrm>
              <a:off x="23475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1</a:t>
              </a:r>
              <a:endParaRPr b="1" sz="2400"/>
            </a:p>
          </p:txBody>
        </p:sp>
        <p:cxnSp>
          <p:nvCxnSpPr>
            <p:cNvPr id="552" name="Google Shape;552;p63"/>
            <p:cNvCxnSpPr/>
            <p:nvPr/>
          </p:nvCxnSpPr>
          <p:spPr>
            <a:xfrm>
              <a:off x="32162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3" name="Google Shape;553;p63"/>
            <p:cNvSpPr txBox="1"/>
            <p:nvPr/>
          </p:nvSpPr>
          <p:spPr>
            <a:xfrm>
              <a:off x="2880968" y="24614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</a:t>
              </a:r>
              <a:endParaRPr b="1" sz="2400"/>
            </a:p>
          </p:txBody>
        </p:sp>
      </p:grpSp>
      <p:sp>
        <p:nvSpPr>
          <p:cNvPr id="554" name="Google Shape;554;p63"/>
          <p:cNvSpPr/>
          <p:nvPr/>
        </p:nvSpPr>
        <p:spPr>
          <a:xfrm>
            <a:off x="2714200" y="22787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63"/>
          <p:cNvSpPr/>
          <p:nvPr/>
        </p:nvSpPr>
        <p:spPr>
          <a:xfrm>
            <a:off x="3552400" y="31931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63"/>
          <p:cNvSpPr/>
          <p:nvPr/>
        </p:nvSpPr>
        <p:spPr>
          <a:xfrm>
            <a:off x="3247600" y="34979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63"/>
          <p:cNvSpPr/>
          <p:nvPr/>
        </p:nvSpPr>
        <p:spPr>
          <a:xfrm>
            <a:off x="2409400" y="35741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63"/>
          <p:cNvSpPr/>
          <p:nvPr/>
        </p:nvSpPr>
        <p:spPr>
          <a:xfrm>
            <a:off x="2257000" y="37265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63"/>
          <p:cNvSpPr/>
          <p:nvPr/>
        </p:nvSpPr>
        <p:spPr>
          <a:xfrm>
            <a:off x="1495000" y="31931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63"/>
          <p:cNvSpPr/>
          <p:nvPr/>
        </p:nvSpPr>
        <p:spPr>
          <a:xfrm>
            <a:off x="2485600" y="28883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63"/>
          <p:cNvSpPr/>
          <p:nvPr/>
        </p:nvSpPr>
        <p:spPr>
          <a:xfrm>
            <a:off x="1342600" y="36503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2" name="Google Shape;56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2888" y="1568900"/>
            <a:ext cx="3324225" cy="3352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3" name="Google Shape;563;p63"/>
          <p:cNvGrpSpPr/>
          <p:nvPr/>
        </p:nvGrpSpPr>
        <p:grpSpPr>
          <a:xfrm>
            <a:off x="4779000" y="1152475"/>
            <a:ext cx="3371913" cy="3735875"/>
            <a:chOff x="4846275" y="891100"/>
            <a:chExt cx="3371913" cy="3735875"/>
          </a:xfrm>
        </p:grpSpPr>
        <p:sp>
          <p:nvSpPr>
            <p:cNvPr id="564" name="Google Shape;564;p63"/>
            <p:cNvSpPr txBox="1"/>
            <p:nvPr/>
          </p:nvSpPr>
          <p:spPr>
            <a:xfrm>
              <a:off x="4846275" y="891100"/>
              <a:ext cx="2542800" cy="7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/>
                <a:t>Dados Originais</a:t>
              </a:r>
              <a:endParaRPr sz="2400"/>
            </a:p>
          </p:txBody>
        </p:sp>
        <p:pic>
          <p:nvPicPr>
            <p:cNvPr id="565" name="Google Shape;565;p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51113" y="1340850"/>
              <a:ext cx="3267075" cy="328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63"/>
            <p:cNvSpPr txBox="1"/>
            <p:nvPr/>
          </p:nvSpPr>
          <p:spPr>
            <a:xfrm>
              <a:off x="5088361" y="2203082"/>
              <a:ext cx="16752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00"/>
                <a:t>(Average x,</a:t>
              </a:r>
              <a:br>
                <a:rPr b="1" lang="pt-BR" sz="2000"/>
              </a:br>
              <a:r>
                <a:rPr b="1" lang="pt-BR" sz="2000"/>
                <a:t> Average y)</a:t>
              </a:r>
              <a:endParaRPr b="1" sz="2000"/>
            </a:p>
          </p:txBody>
        </p:sp>
        <p:cxnSp>
          <p:nvCxnSpPr>
            <p:cNvPr id="567" name="Google Shape;567;p63"/>
            <p:cNvCxnSpPr/>
            <p:nvPr/>
          </p:nvCxnSpPr>
          <p:spPr>
            <a:xfrm>
              <a:off x="65762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63"/>
            <p:cNvCxnSpPr/>
            <p:nvPr/>
          </p:nvCxnSpPr>
          <p:spPr>
            <a:xfrm>
              <a:off x="73310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9" name="Google Shape;569;p63"/>
            <p:cNvSpPr/>
            <p:nvPr/>
          </p:nvSpPr>
          <p:spPr>
            <a:xfrm>
              <a:off x="6820075" y="20173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63"/>
            <p:cNvSpPr/>
            <p:nvPr/>
          </p:nvSpPr>
          <p:spPr>
            <a:xfrm>
              <a:off x="76582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63"/>
            <p:cNvSpPr/>
            <p:nvPr/>
          </p:nvSpPr>
          <p:spPr>
            <a:xfrm>
              <a:off x="7353475" y="32365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63"/>
            <p:cNvSpPr/>
            <p:nvPr/>
          </p:nvSpPr>
          <p:spPr>
            <a:xfrm>
              <a:off x="6515275" y="3312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63"/>
            <p:cNvSpPr/>
            <p:nvPr/>
          </p:nvSpPr>
          <p:spPr>
            <a:xfrm>
              <a:off x="6362875" y="34651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63"/>
            <p:cNvSpPr/>
            <p:nvPr/>
          </p:nvSpPr>
          <p:spPr>
            <a:xfrm>
              <a:off x="56008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63"/>
            <p:cNvSpPr/>
            <p:nvPr/>
          </p:nvSpPr>
          <p:spPr>
            <a:xfrm>
              <a:off x="6591475" y="2626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63"/>
            <p:cNvSpPr/>
            <p:nvPr/>
          </p:nvSpPr>
          <p:spPr>
            <a:xfrm>
              <a:off x="5524675" y="3388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7" name="Google Shape;577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Lembrando que o desvio padrão é 1 unidade</a:t>
            </a:r>
            <a:endParaRPr/>
          </a:p>
        </p:txBody>
      </p:sp>
      <p:sp>
        <p:nvSpPr>
          <p:cNvPr id="583" name="Google Shape;583;p64"/>
          <p:cNvSpPr txBox="1"/>
          <p:nvPr/>
        </p:nvSpPr>
        <p:spPr>
          <a:xfrm>
            <a:off x="588000" y="1152475"/>
            <a:ext cx="3415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Dados Normalizados</a:t>
            </a:r>
            <a:endParaRPr sz="2400"/>
          </a:p>
        </p:txBody>
      </p:sp>
      <p:pic>
        <p:nvPicPr>
          <p:cNvPr id="584" name="Google Shape;58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038" y="1568900"/>
            <a:ext cx="3324225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64"/>
          <p:cNvSpPr txBox="1"/>
          <p:nvPr/>
        </p:nvSpPr>
        <p:spPr>
          <a:xfrm>
            <a:off x="1553125" y="2734425"/>
            <a:ext cx="9405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(0, 0)</a:t>
            </a:r>
            <a:endParaRPr b="1" sz="2400"/>
          </a:p>
        </p:txBody>
      </p:sp>
      <p:grpSp>
        <p:nvGrpSpPr>
          <p:cNvPr id="586" name="Google Shape;586;p64"/>
          <p:cNvGrpSpPr/>
          <p:nvPr/>
        </p:nvGrpSpPr>
        <p:grpSpPr>
          <a:xfrm>
            <a:off x="2356493" y="2722814"/>
            <a:ext cx="1473900" cy="1133100"/>
            <a:chOff x="2347568" y="2461439"/>
            <a:chExt cx="1473900" cy="1133100"/>
          </a:xfrm>
        </p:grpSpPr>
        <p:cxnSp>
          <p:nvCxnSpPr>
            <p:cNvPr id="587" name="Google Shape;587;p64"/>
            <p:cNvCxnSpPr/>
            <p:nvPr/>
          </p:nvCxnSpPr>
          <p:spPr>
            <a:xfrm>
              <a:off x="24614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88" name="Google Shape;588;p64"/>
            <p:cNvSpPr txBox="1"/>
            <p:nvPr/>
          </p:nvSpPr>
          <p:spPr>
            <a:xfrm>
              <a:off x="23475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1</a:t>
              </a:r>
              <a:endParaRPr b="1" sz="2400"/>
            </a:p>
          </p:txBody>
        </p:sp>
        <p:cxnSp>
          <p:nvCxnSpPr>
            <p:cNvPr id="589" name="Google Shape;589;p64"/>
            <p:cNvCxnSpPr/>
            <p:nvPr/>
          </p:nvCxnSpPr>
          <p:spPr>
            <a:xfrm>
              <a:off x="32162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90" name="Google Shape;590;p64"/>
            <p:cNvSpPr txBox="1"/>
            <p:nvPr/>
          </p:nvSpPr>
          <p:spPr>
            <a:xfrm>
              <a:off x="2880968" y="24614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</a:t>
              </a:r>
              <a:endParaRPr b="1" sz="2400"/>
            </a:p>
          </p:txBody>
        </p:sp>
      </p:grpSp>
      <p:sp>
        <p:nvSpPr>
          <p:cNvPr id="591" name="Google Shape;591;p64"/>
          <p:cNvSpPr/>
          <p:nvPr/>
        </p:nvSpPr>
        <p:spPr>
          <a:xfrm>
            <a:off x="2714200" y="22787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64"/>
          <p:cNvSpPr/>
          <p:nvPr/>
        </p:nvSpPr>
        <p:spPr>
          <a:xfrm>
            <a:off x="3552400" y="31931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64"/>
          <p:cNvSpPr/>
          <p:nvPr/>
        </p:nvSpPr>
        <p:spPr>
          <a:xfrm>
            <a:off x="3247600" y="34979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64"/>
          <p:cNvSpPr/>
          <p:nvPr/>
        </p:nvSpPr>
        <p:spPr>
          <a:xfrm>
            <a:off x="2409400" y="35741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64"/>
          <p:cNvSpPr/>
          <p:nvPr/>
        </p:nvSpPr>
        <p:spPr>
          <a:xfrm>
            <a:off x="2257000" y="37265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64"/>
          <p:cNvSpPr/>
          <p:nvPr/>
        </p:nvSpPr>
        <p:spPr>
          <a:xfrm>
            <a:off x="1495000" y="31931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64"/>
          <p:cNvSpPr/>
          <p:nvPr/>
        </p:nvSpPr>
        <p:spPr>
          <a:xfrm>
            <a:off x="2485600" y="28883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64"/>
          <p:cNvSpPr/>
          <p:nvPr/>
        </p:nvSpPr>
        <p:spPr>
          <a:xfrm>
            <a:off x="1342600" y="36503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9" name="Google Shape;599;p64"/>
          <p:cNvGrpSpPr/>
          <p:nvPr/>
        </p:nvGrpSpPr>
        <p:grpSpPr>
          <a:xfrm>
            <a:off x="4855200" y="1152475"/>
            <a:ext cx="3371913" cy="3735875"/>
            <a:chOff x="4846275" y="891100"/>
            <a:chExt cx="3371913" cy="3735875"/>
          </a:xfrm>
        </p:grpSpPr>
        <p:sp>
          <p:nvSpPr>
            <p:cNvPr id="600" name="Google Shape;600;p64"/>
            <p:cNvSpPr txBox="1"/>
            <p:nvPr/>
          </p:nvSpPr>
          <p:spPr>
            <a:xfrm>
              <a:off x="4846275" y="891100"/>
              <a:ext cx="2542800" cy="7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/>
                <a:t>Dados Originais</a:t>
              </a:r>
              <a:endParaRPr sz="2400"/>
            </a:p>
          </p:txBody>
        </p:sp>
        <p:pic>
          <p:nvPicPr>
            <p:cNvPr id="601" name="Google Shape;601;p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51113" y="1340850"/>
              <a:ext cx="3267075" cy="328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2" name="Google Shape;602;p64"/>
            <p:cNvSpPr txBox="1"/>
            <p:nvPr/>
          </p:nvSpPr>
          <p:spPr>
            <a:xfrm>
              <a:off x="5088361" y="2203082"/>
              <a:ext cx="16752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00"/>
                <a:t>(Average x,</a:t>
              </a:r>
              <a:br>
                <a:rPr b="1" lang="pt-BR" sz="2000"/>
              </a:br>
              <a:r>
                <a:rPr b="1" lang="pt-BR" sz="2000"/>
                <a:t> Average y)</a:t>
              </a:r>
              <a:endParaRPr b="1" sz="2000"/>
            </a:p>
          </p:txBody>
        </p:sp>
        <p:cxnSp>
          <p:nvCxnSpPr>
            <p:cNvPr id="603" name="Google Shape;603;p64"/>
            <p:cNvCxnSpPr/>
            <p:nvPr/>
          </p:nvCxnSpPr>
          <p:spPr>
            <a:xfrm>
              <a:off x="65762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4" name="Google Shape;604;p64"/>
            <p:cNvCxnSpPr/>
            <p:nvPr/>
          </p:nvCxnSpPr>
          <p:spPr>
            <a:xfrm>
              <a:off x="73310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5" name="Google Shape;605;p64"/>
            <p:cNvSpPr/>
            <p:nvPr/>
          </p:nvSpPr>
          <p:spPr>
            <a:xfrm>
              <a:off x="6820075" y="20173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64"/>
            <p:cNvSpPr/>
            <p:nvPr/>
          </p:nvSpPr>
          <p:spPr>
            <a:xfrm>
              <a:off x="76582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64"/>
            <p:cNvSpPr/>
            <p:nvPr/>
          </p:nvSpPr>
          <p:spPr>
            <a:xfrm>
              <a:off x="7353475" y="32365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64"/>
            <p:cNvSpPr/>
            <p:nvPr/>
          </p:nvSpPr>
          <p:spPr>
            <a:xfrm>
              <a:off x="6515275" y="3312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64"/>
            <p:cNvSpPr/>
            <p:nvPr/>
          </p:nvSpPr>
          <p:spPr>
            <a:xfrm>
              <a:off x="6362875" y="34651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64"/>
            <p:cNvSpPr/>
            <p:nvPr/>
          </p:nvSpPr>
          <p:spPr>
            <a:xfrm>
              <a:off x="56008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64"/>
            <p:cNvSpPr/>
            <p:nvPr/>
          </p:nvSpPr>
          <p:spPr>
            <a:xfrm>
              <a:off x="6591475" y="2626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64"/>
            <p:cNvSpPr/>
            <p:nvPr/>
          </p:nvSpPr>
          <p:spPr>
            <a:xfrm>
              <a:off x="5524675" y="3388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64"/>
          <p:cNvGrpSpPr/>
          <p:nvPr/>
        </p:nvGrpSpPr>
        <p:grpSpPr>
          <a:xfrm>
            <a:off x="6471293" y="2722825"/>
            <a:ext cx="2361012" cy="1133089"/>
            <a:chOff x="6462368" y="2461450"/>
            <a:chExt cx="2361012" cy="1133089"/>
          </a:xfrm>
        </p:grpSpPr>
        <p:sp>
          <p:nvSpPr>
            <p:cNvPr id="614" name="Google Shape;614;p64"/>
            <p:cNvSpPr txBox="1"/>
            <p:nvPr/>
          </p:nvSpPr>
          <p:spPr>
            <a:xfrm>
              <a:off x="64623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SD x</a:t>
              </a:r>
              <a:endParaRPr b="1" sz="2400"/>
            </a:p>
          </p:txBody>
        </p:sp>
        <p:sp>
          <p:nvSpPr>
            <p:cNvPr id="615" name="Google Shape;615;p64"/>
            <p:cNvSpPr txBox="1"/>
            <p:nvPr/>
          </p:nvSpPr>
          <p:spPr>
            <a:xfrm>
              <a:off x="7148180" y="2461450"/>
              <a:ext cx="16752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 * SD y</a:t>
              </a:r>
              <a:endParaRPr b="1" sz="2400"/>
            </a:p>
          </p:txBody>
        </p:sp>
      </p:grpSp>
      <p:sp>
        <p:nvSpPr>
          <p:cNvPr id="616" name="Google Shape;616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Correlação de Pearson</a:t>
            </a:r>
            <a:endParaRPr/>
          </a:p>
        </p:txBody>
      </p:sp>
      <p:sp>
        <p:nvSpPr>
          <p:cNvPr id="622" name="Google Shape;622;p6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Invariante à translação, preocupa-se com a reta apenas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Então, podemos agora chegar em um prova visual do valor da correlação</a:t>
            </a:r>
            <a:endParaRPr/>
          </a:p>
        </p:txBody>
      </p:sp>
      <p:sp>
        <p:nvSpPr>
          <p:cNvPr id="623" name="Google Shape;623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é o valor de beta para os dados originais?</a:t>
            </a:r>
            <a:endParaRPr/>
          </a:p>
        </p:txBody>
      </p:sp>
      <p:grpSp>
        <p:nvGrpSpPr>
          <p:cNvPr id="629" name="Google Shape;629;p66"/>
          <p:cNvGrpSpPr/>
          <p:nvPr/>
        </p:nvGrpSpPr>
        <p:grpSpPr>
          <a:xfrm>
            <a:off x="4855200" y="1152475"/>
            <a:ext cx="3371913" cy="3735875"/>
            <a:chOff x="4846275" y="891100"/>
            <a:chExt cx="3371913" cy="3735875"/>
          </a:xfrm>
        </p:grpSpPr>
        <p:sp>
          <p:nvSpPr>
            <p:cNvPr id="630" name="Google Shape;630;p66"/>
            <p:cNvSpPr txBox="1"/>
            <p:nvPr/>
          </p:nvSpPr>
          <p:spPr>
            <a:xfrm>
              <a:off x="4846275" y="891100"/>
              <a:ext cx="2542800" cy="7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/>
                <a:t>Dados Originais</a:t>
              </a:r>
              <a:endParaRPr sz="2400"/>
            </a:p>
          </p:txBody>
        </p:sp>
        <p:pic>
          <p:nvPicPr>
            <p:cNvPr id="631" name="Google Shape;631;p6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51113" y="1340850"/>
              <a:ext cx="3267075" cy="328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66"/>
            <p:cNvSpPr txBox="1"/>
            <p:nvPr/>
          </p:nvSpPr>
          <p:spPr>
            <a:xfrm>
              <a:off x="5088361" y="2203082"/>
              <a:ext cx="16752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00"/>
                <a:t>(Average x,</a:t>
              </a:r>
              <a:br>
                <a:rPr b="1" lang="pt-BR" sz="2000"/>
              </a:br>
              <a:r>
                <a:rPr b="1" lang="pt-BR" sz="2000"/>
                <a:t> Average y)</a:t>
              </a:r>
              <a:endParaRPr b="1" sz="2000"/>
            </a:p>
          </p:txBody>
        </p:sp>
        <p:cxnSp>
          <p:nvCxnSpPr>
            <p:cNvPr id="633" name="Google Shape;633;p66"/>
            <p:cNvCxnSpPr/>
            <p:nvPr/>
          </p:nvCxnSpPr>
          <p:spPr>
            <a:xfrm>
              <a:off x="65762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4" name="Google Shape;634;p66"/>
            <p:cNvCxnSpPr/>
            <p:nvPr/>
          </p:nvCxnSpPr>
          <p:spPr>
            <a:xfrm>
              <a:off x="73310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5" name="Google Shape;635;p66"/>
            <p:cNvSpPr/>
            <p:nvPr/>
          </p:nvSpPr>
          <p:spPr>
            <a:xfrm>
              <a:off x="6820075" y="20173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66"/>
            <p:cNvSpPr/>
            <p:nvPr/>
          </p:nvSpPr>
          <p:spPr>
            <a:xfrm>
              <a:off x="76582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66"/>
            <p:cNvSpPr/>
            <p:nvPr/>
          </p:nvSpPr>
          <p:spPr>
            <a:xfrm>
              <a:off x="7353475" y="32365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66"/>
            <p:cNvSpPr/>
            <p:nvPr/>
          </p:nvSpPr>
          <p:spPr>
            <a:xfrm>
              <a:off x="6515275" y="3312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66"/>
            <p:cNvSpPr/>
            <p:nvPr/>
          </p:nvSpPr>
          <p:spPr>
            <a:xfrm>
              <a:off x="6362875" y="34651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66"/>
            <p:cNvSpPr/>
            <p:nvPr/>
          </p:nvSpPr>
          <p:spPr>
            <a:xfrm>
              <a:off x="56008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66"/>
            <p:cNvSpPr/>
            <p:nvPr/>
          </p:nvSpPr>
          <p:spPr>
            <a:xfrm>
              <a:off x="6591475" y="2626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66"/>
            <p:cNvSpPr/>
            <p:nvPr/>
          </p:nvSpPr>
          <p:spPr>
            <a:xfrm>
              <a:off x="5524675" y="3388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3" name="Google Shape;643;p66"/>
          <p:cNvGrpSpPr/>
          <p:nvPr/>
        </p:nvGrpSpPr>
        <p:grpSpPr>
          <a:xfrm>
            <a:off x="6471293" y="2722825"/>
            <a:ext cx="2361012" cy="1133089"/>
            <a:chOff x="6462368" y="2461450"/>
            <a:chExt cx="2361012" cy="1133089"/>
          </a:xfrm>
        </p:grpSpPr>
        <p:sp>
          <p:nvSpPr>
            <p:cNvPr id="644" name="Google Shape;644;p66"/>
            <p:cNvSpPr txBox="1"/>
            <p:nvPr/>
          </p:nvSpPr>
          <p:spPr>
            <a:xfrm>
              <a:off x="64623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SD x</a:t>
              </a:r>
              <a:endParaRPr b="1" sz="2400"/>
            </a:p>
          </p:txBody>
        </p:sp>
        <p:sp>
          <p:nvSpPr>
            <p:cNvPr id="645" name="Google Shape;645;p66"/>
            <p:cNvSpPr txBox="1"/>
            <p:nvPr/>
          </p:nvSpPr>
          <p:spPr>
            <a:xfrm>
              <a:off x="7148180" y="2461450"/>
              <a:ext cx="16752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 * SD y</a:t>
              </a:r>
              <a:endParaRPr b="1" sz="2400"/>
            </a:p>
          </p:txBody>
        </p:sp>
      </p:grpSp>
      <p:cxnSp>
        <p:nvCxnSpPr>
          <p:cNvPr id="646" name="Google Shape;646;p66"/>
          <p:cNvCxnSpPr/>
          <p:nvPr/>
        </p:nvCxnSpPr>
        <p:spPr>
          <a:xfrm>
            <a:off x="703125" y="2025313"/>
            <a:ext cx="0" cy="19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47" name="Google Shape;647;p66"/>
          <p:cNvCxnSpPr/>
          <p:nvPr/>
        </p:nvCxnSpPr>
        <p:spPr>
          <a:xfrm>
            <a:off x="703125" y="3948913"/>
            <a:ext cx="236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8" name="Google Shape;648;p66"/>
          <p:cNvCxnSpPr/>
          <p:nvPr/>
        </p:nvCxnSpPr>
        <p:spPr>
          <a:xfrm flipH="1" rot="10800000">
            <a:off x="703125" y="2603938"/>
            <a:ext cx="1950600" cy="52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66"/>
          <p:cNvCxnSpPr/>
          <p:nvPr/>
        </p:nvCxnSpPr>
        <p:spPr>
          <a:xfrm>
            <a:off x="717075" y="3154388"/>
            <a:ext cx="1923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50" name="Google Shape;650;p66"/>
          <p:cNvSpPr txBox="1"/>
          <p:nvPr/>
        </p:nvSpPr>
        <p:spPr>
          <a:xfrm>
            <a:off x="2655225" y="2672963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Δy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651" name="Google Shape;651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8625" y="2203388"/>
            <a:ext cx="1772412" cy="6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66"/>
          <p:cNvSpPr txBox="1"/>
          <p:nvPr/>
        </p:nvSpPr>
        <p:spPr>
          <a:xfrm>
            <a:off x="174900" y="2896388"/>
            <a:ext cx="692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(x, y)</a:t>
            </a:r>
            <a:r>
              <a:rPr baseline="-25000" lang="pt-BR"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endParaRPr baseline="-25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53" name="Google Shape;653;p66"/>
          <p:cNvSpPr txBox="1"/>
          <p:nvPr/>
        </p:nvSpPr>
        <p:spPr>
          <a:xfrm>
            <a:off x="2465025" y="2264488"/>
            <a:ext cx="692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(x, y)</a:t>
            </a:r>
            <a:r>
              <a:rPr baseline="-25000" lang="pt-BR">
                <a:latin typeface="Source Sans Pro"/>
                <a:ea typeface="Source Sans Pro"/>
                <a:cs typeface="Source Sans Pro"/>
                <a:sym typeface="Source Sans Pro"/>
              </a:rPr>
              <a:t>2</a:t>
            </a:r>
            <a:endParaRPr baseline="-25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54" name="Google Shape;654;p66"/>
          <p:cNvSpPr/>
          <p:nvPr/>
        </p:nvSpPr>
        <p:spPr>
          <a:xfrm>
            <a:off x="3226725" y="3337725"/>
            <a:ext cx="1539300" cy="87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5" name="Google Shape;655;p66"/>
          <p:cNvCxnSpPr/>
          <p:nvPr/>
        </p:nvCxnSpPr>
        <p:spPr>
          <a:xfrm rot="10800000">
            <a:off x="2634900" y="2603950"/>
            <a:ext cx="0" cy="51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56" name="Google Shape;656;p66"/>
          <p:cNvSpPr txBox="1"/>
          <p:nvPr/>
        </p:nvSpPr>
        <p:spPr>
          <a:xfrm>
            <a:off x="1613850" y="3161725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Δx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descr="\beta = \Delta_y / \Delta_x" id="657" name="Google Shape;657;p66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9558" y="2920363"/>
            <a:ext cx="1370526" cy="323791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\beta = corr(x,y) * s_y / s_x" id="659" name="Google Shape;659;p66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69450" y="4351525"/>
            <a:ext cx="2514876" cy="32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Mas agora precisamos do intercepto </a:t>
            </a:r>
            <a:r>
              <a:rPr b="1" lang="pt-BR" sz="26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α </a:t>
            </a:r>
            <a:r>
              <a:rPr lang="pt-BR"/>
              <a:t>(alpha)</a:t>
            </a:r>
            <a:br>
              <a:rPr lang="pt-BR"/>
            </a:br>
            <a:r>
              <a:rPr lang="pt-BR"/>
              <a:t>(não é mais zero, estamos </a:t>
            </a: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sem </a:t>
            </a:r>
            <a:r>
              <a:rPr lang="pt-BR"/>
              <a:t>z-normalizar)</a:t>
            </a:r>
            <a:endParaRPr/>
          </a:p>
        </p:txBody>
      </p:sp>
      <p:grpSp>
        <p:nvGrpSpPr>
          <p:cNvPr id="665" name="Google Shape;665;p67"/>
          <p:cNvGrpSpPr/>
          <p:nvPr/>
        </p:nvGrpSpPr>
        <p:grpSpPr>
          <a:xfrm>
            <a:off x="4855200" y="1152475"/>
            <a:ext cx="3371913" cy="3735875"/>
            <a:chOff x="4846275" y="891100"/>
            <a:chExt cx="3371913" cy="3735875"/>
          </a:xfrm>
        </p:grpSpPr>
        <p:sp>
          <p:nvSpPr>
            <p:cNvPr id="666" name="Google Shape;666;p67"/>
            <p:cNvSpPr txBox="1"/>
            <p:nvPr/>
          </p:nvSpPr>
          <p:spPr>
            <a:xfrm>
              <a:off x="4846275" y="891100"/>
              <a:ext cx="2542800" cy="7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/>
                <a:t>Dados Originais</a:t>
              </a:r>
              <a:endParaRPr sz="2400"/>
            </a:p>
          </p:txBody>
        </p:sp>
        <p:pic>
          <p:nvPicPr>
            <p:cNvPr id="667" name="Google Shape;667;p6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51113" y="1340850"/>
              <a:ext cx="3267075" cy="328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8" name="Google Shape;668;p67"/>
            <p:cNvSpPr txBox="1"/>
            <p:nvPr/>
          </p:nvSpPr>
          <p:spPr>
            <a:xfrm>
              <a:off x="5088361" y="2203082"/>
              <a:ext cx="16752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00"/>
                <a:t>(Average x,</a:t>
              </a:r>
              <a:br>
                <a:rPr b="1" lang="pt-BR" sz="2000"/>
              </a:br>
              <a:r>
                <a:rPr b="1" lang="pt-BR" sz="2000"/>
                <a:t> Average y)</a:t>
              </a:r>
              <a:endParaRPr b="1" sz="2000"/>
            </a:p>
          </p:txBody>
        </p:sp>
        <p:cxnSp>
          <p:nvCxnSpPr>
            <p:cNvPr id="669" name="Google Shape;669;p67"/>
            <p:cNvCxnSpPr/>
            <p:nvPr/>
          </p:nvCxnSpPr>
          <p:spPr>
            <a:xfrm>
              <a:off x="65762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0" name="Google Shape;670;p67"/>
            <p:cNvCxnSpPr/>
            <p:nvPr/>
          </p:nvCxnSpPr>
          <p:spPr>
            <a:xfrm>
              <a:off x="73310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71" name="Google Shape;671;p67"/>
            <p:cNvSpPr/>
            <p:nvPr/>
          </p:nvSpPr>
          <p:spPr>
            <a:xfrm>
              <a:off x="6820075" y="20173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67"/>
            <p:cNvSpPr/>
            <p:nvPr/>
          </p:nvSpPr>
          <p:spPr>
            <a:xfrm>
              <a:off x="76582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67"/>
            <p:cNvSpPr/>
            <p:nvPr/>
          </p:nvSpPr>
          <p:spPr>
            <a:xfrm>
              <a:off x="7353475" y="32365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67"/>
            <p:cNvSpPr/>
            <p:nvPr/>
          </p:nvSpPr>
          <p:spPr>
            <a:xfrm>
              <a:off x="6515275" y="3312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67"/>
            <p:cNvSpPr/>
            <p:nvPr/>
          </p:nvSpPr>
          <p:spPr>
            <a:xfrm>
              <a:off x="6362875" y="34651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67"/>
            <p:cNvSpPr/>
            <p:nvPr/>
          </p:nvSpPr>
          <p:spPr>
            <a:xfrm>
              <a:off x="56008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67"/>
            <p:cNvSpPr/>
            <p:nvPr/>
          </p:nvSpPr>
          <p:spPr>
            <a:xfrm>
              <a:off x="6591475" y="2626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67"/>
            <p:cNvSpPr/>
            <p:nvPr/>
          </p:nvSpPr>
          <p:spPr>
            <a:xfrm>
              <a:off x="5524675" y="3388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9" name="Google Shape;679;p67"/>
          <p:cNvGrpSpPr/>
          <p:nvPr/>
        </p:nvGrpSpPr>
        <p:grpSpPr>
          <a:xfrm>
            <a:off x="6471293" y="2722825"/>
            <a:ext cx="2361012" cy="1133089"/>
            <a:chOff x="6462368" y="2461450"/>
            <a:chExt cx="2361012" cy="1133089"/>
          </a:xfrm>
        </p:grpSpPr>
        <p:sp>
          <p:nvSpPr>
            <p:cNvPr id="680" name="Google Shape;680;p67"/>
            <p:cNvSpPr txBox="1"/>
            <p:nvPr/>
          </p:nvSpPr>
          <p:spPr>
            <a:xfrm>
              <a:off x="64623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SD x</a:t>
              </a:r>
              <a:endParaRPr b="1" sz="2400"/>
            </a:p>
          </p:txBody>
        </p:sp>
        <p:sp>
          <p:nvSpPr>
            <p:cNvPr id="681" name="Google Shape;681;p67"/>
            <p:cNvSpPr txBox="1"/>
            <p:nvPr/>
          </p:nvSpPr>
          <p:spPr>
            <a:xfrm>
              <a:off x="7148180" y="2461450"/>
              <a:ext cx="16752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 * SD y</a:t>
              </a:r>
              <a:endParaRPr b="1" sz="2400"/>
            </a:p>
          </p:txBody>
        </p:sp>
      </p:grpSp>
      <p:cxnSp>
        <p:nvCxnSpPr>
          <p:cNvPr id="682" name="Google Shape;682;p67"/>
          <p:cNvCxnSpPr/>
          <p:nvPr/>
        </p:nvCxnSpPr>
        <p:spPr>
          <a:xfrm>
            <a:off x="703125" y="2025313"/>
            <a:ext cx="0" cy="19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83" name="Google Shape;683;p67"/>
          <p:cNvCxnSpPr/>
          <p:nvPr/>
        </p:nvCxnSpPr>
        <p:spPr>
          <a:xfrm>
            <a:off x="703125" y="3948913"/>
            <a:ext cx="236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4" name="Google Shape;684;p67"/>
          <p:cNvCxnSpPr/>
          <p:nvPr/>
        </p:nvCxnSpPr>
        <p:spPr>
          <a:xfrm flipH="1" rot="10800000">
            <a:off x="703125" y="2603938"/>
            <a:ext cx="1950600" cy="52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67"/>
          <p:cNvCxnSpPr/>
          <p:nvPr/>
        </p:nvCxnSpPr>
        <p:spPr>
          <a:xfrm>
            <a:off x="717075" y="3154388"/>
            <a:ext cx="1923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86" name="Google Shape;686;p67"/>
          <p:cNvSpPr txBox="1"/>
          <p:nvPr/>
        </p:nvSpPr>
        <p:spPr>
          <a:xfrm>
            <a:off x="2655225" y="2672963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Δy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687" name="Google Shape;687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8625" y="2203388"/>
            <a:ext cx="1772412" cy="6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67"/>
          <p:cNvSpPr txBox="1"/>
          <p:nvPr/>
        </p:nvSpPr>
        <p:spPr>
          <a:xfrm>
            <a:off x="174900" y="2896388"/>
            <a:ext cx="692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(x, y)</a:t>
            </a:r>
            <a:r>
              <a:rPr baseline="-25000" lang="pt-BR"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endParaRPr baseline="-25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89" name="Google Shape;689;p67"/>
          <p:cNvSpPr txBox="1"/>
          <p:nvPr/>
        </p:nvSpPr>
        <p:spPr>
          <a:xfrm>
            <a:off x="2465025" y="2264488"/>
            <a:ext cx="692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(x, y)</a:t>
            </a:r>
            <a:r>
              <a:rPr baseline="-25000" lang="pt-BR">
                <a:latin typeface="Source Sans Pro"/>
                <a:ea typeface="Source Sans Pro"/>
                <a:cs typeface="Source Sans Pro"/>
                <a:sym typeface="Source Sans Pro"/>
              </a:rPr>
              <a:t>2</a:t>
            </a:r>
            <a:endParaRPr baseline="-25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90" name="Google Shape;690;p67"/>
          <p:cNvSpPr/>
          <p:nvPr/>
        </p:nvSpPr>
        <p:spPr>
          <a:xfrm>
            <a:off x="3226725" y="3337725"/>
            <a:ext cx="1539300" cy="87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1" name="Google Shape;691;p67"/>
          <p:cNvCxnSpPr/>
          <p:nvPr/>
        </p:nvCxnSpPr>
        <p:spPr>
          <a:xfrm rot="10800000">
            <a:off x="2634900" y="2603950"/>
            <a:ext cx="0" cy="51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92" name="Google Shape;692;p67"/>
          <p:cNvSpPr txBox="1"/>
          <p:nvPr/>
        </p:nvSpPr>
        <p:spPr>
          <a:xfrm>
            <a:off x="1613850" y="3161725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Δx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descr="\beta = \Delta_y / \Delta_x" id="693" name="Google Shape;693;p67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9558" y="2920363"/>
            <a:ext cx="1370526" cy="323791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\beta = corr(x,y) * s_y / s_x" id="695" name="Google Shape;695;p67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69450" y="4351525"/>
            <a:ext cx="2514876" cy="32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701" name="Google Shape;701;p6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particular, você supõe que existem constantes </a:t>
            </a:r>
            <a:r>
              <a:rPr b="1" lang="pt-BR">
                <a:solidFill>
                  <a:srgbClr val="0000FF"/>
                </a:solidFill>
              </a:rPr>
              <a:t>α</a:t>
            </a:r>
            <a:r>
              <a:rPr b="1" lang="pt-BR"/>
              <a:t> (alfa)</a:t>
            </a:r>
            <a:r>
              <a:rPr lang="pt-BR"/>
              <a:t> e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 (beta)</a:t>
            </a:r>
            <a:r>
              <a:rPr lang="pt-BR"/>
              <a:t> tais que:</a:t>
            </a:r>
            <a:br>
              <a:rPr lang="pt-BR"/>
            </a:br>
            <a:br>
              <a:rPr lang="pt-BR"/>
            </a:br>
            <a:r>
              <a:rPr b="1" lang="pt-BR"/>
              <a:t>y</a:t>
            </a:r>
            <a:r>
              <a:rPr b="1" baseline="-25000" lang="pt-BR"/>
              <a:t>i</a:t>
            </a:r>
            <a:r>
              <a:rPr b="1" lang="pt-BR"/>
              <a:t> =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x</a:t>
            </a:r>
            <a:r>
              <a:rPr b="1" baseline="-25000" lang="pt-BR"/>
              <a:t>i</a:t>
            </a:r>
            <a:r>
              <a:rPr b="1" lang="pt-BR"/>
              <a:t> + </a:t>
            </a:r>
            <a:r>
              <a:rPr b="1" lang="pt-BR">
                <a:solidFill>
                  <a:srgbClr val="0000FF"/>
                </a:solidFill>
              </a:rPr>
              <a:t>α</a:t>
            </a:r>
            <a:br>
              <a:rPr lang="pt-BR"/>
            </a:br>
            <a:br>
              <a:rPr lang="pt-BR"/>
            </a:br>
            <a:r>
              <a:rPr lang="pt-BR"/>
              <a:t>em que </a:t>
            </a:r>
            <a:r>
              <a:rPr b="1" lang="pt-BR"/>
              <a:t>y</a:t>
            </a:r>
            <a:r>
              <a:rPr b="1" baseline="-25000" lang="pt-BR"/>
              <a:t>i</a:t>
            </a:r>
            <a:r>
              <a:rPr lang="pt-BR"/>
              <a:t> é a altura de uma criança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/>
              <a:t>x</a:t>
            </a:r>
            <a:r>
              <a:rPr b="1" baseline="-25000" lang="pt-BR"/>
              <a:t>i</a:t>
            </a:r>
            <a:r>
              <a:rPr lang="pt-BR"/>
              <a:t> é altura média dos dois pais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b="1" lang="pt-BR">
                <a:solidFill>
                  <a:srgbClr val="FF0000"/>
                </a:solidFill>
              </a:rPr>
              <a:t>Com na discussão acima, qual é o valor de beta?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6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708" name="Google Shape;708;p6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particular, você supõe que existem constantes </a:t>
            </a:r>
            <a:r>
              <a:rPr b="1" lang="pt-BR">
                <a:solidFill>
                  <a:srgbClr val="0000FF"/>
                </a:solidFill>
              </a:rPr>
              <a:t>α</a:t>
            </a:r>
            <a:r>
              <a:rPr b="1" lang="pt-BR"/>
              <a:t> (alfa)</a:t>
            </a:r>
            <a:r>
              <a:rPr lang="pt-BR"/>
              <a:t> e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 (beta)</a:t>
            </a:r>
            <a:r>
              <a:rPr lang="pt-BR"/>
              <a:t> tais que:</a:t>
            </a:r>
            <a:br>
              <a:rPr lang="pt-BR"/>
            </a:br>
            <a:br>
              <a:rPr lang="pt-BR"/>
            </a:br>
            <a:r>
              <a:rPr b="1" lang="pt-BR"/>
              <a:t>y</a:t>
            </a:r>
            <a:r>
              <a:rPr b="1" baseline="-25000" lang="pt-BR"/>
              <a:t>i</a:t>
            </a:r>
            <a:r>
              <a:rPr b="1" lang="pt-BR"/>
              <a:t> =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x</a:t>
            </a:r>
            <a:r>
              <a:rPr b="1" baseline="-25000" lang="pt-BR"/>
              <a:t>i</a:t>
            </a:r>
            <a:r>
              <a:rPr b="1" lang="pt-BR"/>
              <a:t> + </a:t>
            </a:r>
            <a:r>
              <a:rPr b="1" lang="pt-BR">
                <a:solidFill>
                  <a:srgbClr val="0000FF"/>
                </a:solidFill>
              </a:rPr>
              <a:t>α</a:t>
            </a:r>
            <a:br>
              <a:rPr lang="pt-BR"/>
            </a:br>
            <a:br>
              <a:rPr lang="pt-BR"/>
            </a:br>
            <a:r>
              <a:rPr lang="pt-BR"/>
              <a:t>em que </a:t>
            </a:r>
            <a:r>
              <a:rPr b="1" lang="pt-BR"/>
              <a:t>y</a:t>
            </a:r>
            <a:r>
              <a:rPr b="1" baseline="-25000" lang="pt-BR"/>
              <a:t>i</a:t>
            </a:r>
            <a:r>
              <a:rPr lang="pt-BR"/>
              <a:t> é a altura de uma criança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/>
              <a:t>x</a:t>
            </a:r>
            <a:r>
              <a:rPr b="1" baseline="-25000" lang="pt-BR"/>
              <a:t>i</a:t>
            </a:r>
            <a:r>
              <a:rPr lang="pt-BR"/>
              <a:t> é altura média dos dois pais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b="1" lang="pt-BR">
                <a:solidFill>
                  <a:srgbClr val="FF0000"/>
                </a:solidFill>
              </a:rPr>
              <a:t>Com base na discussão acima: β = corr * s</a:t>
            </a:r>
            <a:r>
              <a:rPr b="1" baseline="-25000" lang="pt-BR">
                <a:solidFill>
                  <a:srgbClr val="FF0000"/>
                </a:solidFill>
              </a:rPr>
              <a:t>y</a:t>
            </a:r>
            <a:r>
              <a:rPr b="1" lang="pt-BR">
                <a:solidFill>
                  <a:srgbClr val="FF0000"/>
                </a:solidFill>
              </a:rPr>
              <a:t> / s</a:t>
            </a:r>
            <a:r>
              <a:rPr b="1" baseline="-25000" lang="pt-BR">
                <a:solidFill>
                  <a:srgbClr val="FF0000"/>
                </a:solidFill>
              </a:rPr>
              <a:t>x</a:t>
            </a:r>
            <a:endParaRPr b="1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b="1" lang="pt-BR">
                <a:solidFill>
                  <a:srgbClr val="0000FF"/>
                </a:solidFill>
              </a:rPr>
              <a:t>Para um ponto: podemos resolver α  = y</a:t>
            </a:r>
            <a:r>
              <a:rPr b="1" baseline="-25000" lang="pt-BR">
                <a:solidFill>
                  <a:srgbClr val="0000FF"/>
                </a:solidFill>
              </a:rPr>
              <a:t>i</a:t>
            </a:r>
            <a:r>
              <a:rPr b="1" lang="pt-BR">
                <a:solidFill>
                  <a:srgbClr val="0000FF"/>
                </a:solidFill>
              </a:rPr>
              <a:t> - βx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7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715" name="Google Shape;715;p7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particular, você supõe que existem constantes </a:t>
            </a:r>
            <a:r>
              <a:rPr b="1" lang="pt-BR">
                <a:solidFill>
                  <a:srgbClr val="0000FF"/>
                </a:solidFill>
              </a:rPr>
              <a:t>α</a:t>
            </a:r>
            <a:r>
              <a:rPr b="1" lang="pt-BR"/>
              <a:t> (alfa)</a:t>
            </a:r>
            <a:r>
              <a:rPr lang="pt-BR"/>
              <a:t> e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 (beta)</a:t>
            </a:r>
            <a:r>
              <a:rPr lang="pt-BR"/>
              <a:t> tais que:</a:t>
            </a:r>
            <a:br>
              <a:rPr lang="pt-BR"/>
            </a:br>
            <a:br>
              <a:rPr lang="pt-BR"/>
            </a:br>
            <a:r>
              <a:rPr b="1" lang="pt-BR"/>
              <a:t>y</a:t>
            </a:r>
            <a:r>
              <a:rPr b="1" baseline="-25000" lang="pt-BR"/>
              <a:t>i</a:t>
            </a:r>
            <a:r>
              <a:rPr b="1" lang="pt-BR"/>
              <a:t> =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x</a:t>
            </a:r>
            <a:r>
              <a:rPr b="1" baseline="-25000" lang="pt-BR"/>
              <a:t>i</a:t>
            </a:r>
            <a:r>
              <a:rPr b="1" lang="pt-BR"/>
              <a:t> + </a:t>
            </a:r>
            <a:r>
              <a:rPr b="1" lang="pt-BR">
                <a:solidFill>
                  <a:srgbClr val="0000FF"/>
                </a:solidFill>
              </a:rPr>
              <a:t>α</a:t>
            </a:r>
            <a:br>
              <a:rPr lang="pt-BR"/>
            </a:br>
            <a:br>
              <a:rPr lang="pt-BR"/>
            </a:br>
            <a:r>
              <a:rPr lang="pt-BR"/>
              <a:t>em que </a:t>
            </a:r>
            <a:r>
              <a:rPr b="1" lang="pt-BR"/>
              <a:t>y</a:t>
            </a:r>
            <a:r>
              <a:rPr b="1" baseline="-25000" lang="pt-BR"/>
              <a:t>i</a:t>
            </a:r>
            <a:r>
              <a:rPr lang="pt-BR"/>
              <a:t> é a altura de uma criança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/>
              <a:t>x</a:t>
            </a:r>
            <a:r>
              <a:rPr b="1" baseline="-25000" lang="pt-BR"/>
              <a:t>i</a:t>
            </a:r>
            <a:r>
              <a:rPr lang="pt-BR"/>
              <a:t> é altura média dos dois pais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b="1" lang="pt-BR">
                <a:solidFill>
                  <a:srgbClr val="FF0000"/>
                </a:solidFill>
              </a:rPr>
              <a:t>Com base na discussão acima: β = corr * s</a:t>
            </a:r>
            <a:r>
              <a:rPr b="1" baseline="-25000" lang="pt-BR">
                <a:solidFill>
                  <a:srgbClr val="FF0000"/>
                </a:solidFill>
              </a:rPr>
              <a:t>y</a:t>
            </a:r>
            <a:r>
              <a:rPr b="1" lang="pt-BR">
                <a:solidFill>
                  <a:srgbClr val="FF0000"/>
                </a:solidFill>
              </a:rPr>
              <a:t> / s</a:t>
            </a:r>
            <a:r>
              <a:rPr b="1" baseline="-25000" lang="pt-BR">
                <a:solidFill>
                  <a:srgbClr val="FF0000"/>
                </a:solidFill>
              </a:rPr>
              <a:t>x</a:t>
            </a:r>
            <a:endParaRPr b="1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b="1" lang="pt-BR">
                <a:solidFill>
                  <a:srgbClr val="0000FF"/>
                </a:solidFill>
              </a:rPr>
              <a:t>Para um ponto: podemos resolver α  = y</a:t>
            </a:r>
            <a:r>
              <a:rPr b="1" baseline="-25000" lang="pt-BR">
                <a:solidFill>
                  <a:srgbClr val="0000FF"/>
                </a:solidFill>
              </a:rPr>
              <a:t>i</a:t>
            </a:r>
            <a:r>
              <a:rPr b="1" lang="pt-BR">
                <a:solidFill>
                  <a:srgbClr val="0000FF"/>
                </a:solidFill>
              </a:rPr>
              <a:t> - βx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endParaRPr b="1"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b="1" lang="pt-BR">
                <a:solidFill>
                  <a:srgbClr val="0000FF"/>
                </a:solidFill>
              </a:rPr>
              <a:t>Na média α = mean(y) - β mean(x)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7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722" name="Google Shape;722;p7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particular, você supõe que existem constantes </a:t>
            </a:r>
            <a:r>
              <a:rPr b="1" lang="pt-BR">
                <a:solidFill>
                  <a:srgbClr val="0000FF"/>
                </a:solidFill>
              </a:rPr>
              <a:t>α</a:t>
            </a:r>
            <a:r>
              <a:rPr b="1" lang="pt-BR"/>
              <a:t> (alfa)</a:t>
            </a:r>
            <a:r>
              <a:rPr lang="pt-BR"/>
              <a:t> e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 (beta)</a:t>
            </a:r>
            <a:r>
              <a:rPr lang="pt-BR"/>
              <a:t> tais que:</a:t>
            </a:r>
            <a:br>
              <a:rPr lang="pt-BR"/>
            </a:br>
            <a:br>
              <a:rPr lang="pt-BR"/>
            </a:br>
            <a:r>
              <a:rPr b="1" lang="pt-BR"/>
              <a:t>y</a:t>
            </a:r>
            <a:r>
              <a:rPr b="1" baseline="-25000" lang="pt-BR"/>
              <a:t>i</a:t>
            </a:r>
            <a:r>
              <a:rPr b="1" lang="pt-BR"/>
              <a:t> =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x</a:t>
            </a:r>
            <a:r>
              <a:rPr b="1" baseline="-25000" lang="pt-BR"/>
              <a:t>i</a:t>
            </a:r>
            <a:r>
              <a:rPr b="1" lang="pt-BR"/>
              <a:t> + </a:t>
            </a:r>
            <a:r>
              <a:rPr b="1" lang="pt-BR">
                <a:solidFill>
                  <a:srgbClr val="0000FF"/>
                </a:solidFill>
              </a:rPr>
              <a:t>α</a:t>
            </a:r>
            <a:br>
              <a:rPr lang="pt-BR"/>
            </a:br>
            <a:br>
              <a:rPr lang="pt-BR"/>
            </a:br>
            <a:r>
              <a:rPr lang="pt-BR"/>
              <a:t>em que </a:t>
            </a:r>
            <a:r>
              <a:rPr b="1" lang="pt-BR"/>
              <a:t>y</a:t>
            </a:r>
            <a:r>
              <a:rPr b="1" baseline="-25000" lang="pt-BR"/>
              <a:t>i</a:t>
            </a:r>
            <a:r>
              <a:rPr lang="pt-BR"/>
              <a:t> é a altura de uma criança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/>
              <a:t>x</a:t>
            </a:r>
            <a:r>
              <a:rPr b="1" baseline="-25000" lang="pt-BR"/>
              <a:t>i</a:t>
            </a:r>
            <a:r>
              <a:rPr lang="pt-BR"/>
              <a:t> é altura média dos dois pais 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723" name="Google Shape;72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900" y="3594799"/>
            <a:ext cx="6646199" cy="125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7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Ponto de Vista ML</a:t>
            </a:r>
            <a:endParaRPr/>
          </a:p>
        </p:txBody>
      </p:sp>
      <p:sp>
        <p:nvSpPr>
          <p:cNvPr id="730" name="Google Shape;730;p7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particular, você supõe que existem constantes </a:t>
            </a:r>
            <a:r>
              <a:rPr b="1" lang="pt-BR">
                <a:solidFill>
                  <a:srgbClr val="0000FF"/>
                </a:solidFill>
              </a:rPr>
              <a:t>α</a:t>
            </a:r>
            <a:r>
              <a:rPr b="1" lang="pt-BR"/>
              <a:t> (alfa)</a:t>
            </a:r>
            <a:r>
              <a:rPr lang="pt-BR"/>
              <a:t> e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 (beta)</a:t>
            </a:r>
            <a:r>
              <a:rPr lang="pt-BR"/>
              <a:t> tais que:</a:t>
            </a:r>
            <a:br>
              <a:rPr lang="pt-BR"/>
            </a:br>
            <a:br>
              <a:rPr lang="pt-BR"/>
            </a:br>
            <a:r>
              <a:rPr b="1" lang="pt-BR"/>
              <a:t>y</a:t>
            </a:r>
            <a:r>
              <a:rPr b="1" baseline="-25000" lang="pt-BR"/>
              <a:t>i</a:t>
            </a:r>
            <a:r>
              <a:rPr b="1" lang="pt-BR"/>
              <a:t> =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x</a:t>
            </a:r>
            <a:r>
              <a:rPr b="1" baseline="-25000" lang="pt-BR"/>
              <a:t>i</a:t>
            </a:r>
            <a:r>
              <a:rPr b="1" lang="pt-BR"/>
              <a:t> + </a:t>
            </a:r>
            <a:r>
              <a:rPr b="1" lang="pt-BR">
                <a:solidFill>
                  <a:srgbClr val="0000FF"/>
                </a:solidFill>
              </a:rPr>
              <a:t>α</a:t>
            </a:r>
            <a:r>
              <a:rPr b="1" lang="pt-BR"/>
              <a:t> + ε</a:t>
            </a:r>
            <a:r>
              <a:rPr b="1" baseline="-25000" lang="pt-BR"/>
              <a:t>i</a:t>
            </a:r>
            <a:br>
              <a:rPr b="1" baseline="-25000" lang="pt-BR"/>
            </a:br>
            <a:r>
              <a:rPr b="1" lang="pt-BR"/>
              <a:t>ε</a:t>
            </a:r>
            <a:r>
              <a:rPr b="1" baseline="-25000" lang="pt-BR"/>
              <a:t>i </a:t>
            </a:r>
            <a:r>
              <a:rPr b="1" lang="pt-BR"/>
              <a:t>= y</a:t>
            </a:r>
            <a:r>
              <a:rPr b="1" baseline="-25000" lang="pt-BR"/>
              <a:t>i </a:t>
            </a:r>
            <a:r>
              <a:rPr b="1" lang="pt-BR"/>
              <a:t> -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x</a:t>
            </a:r>
            <a:r>
              <a:rPr b="1" baseline="-25000" lang="pt-BR"/>
              <a:t>i</a:t>
            </a:r>
            <a:r>
              <a:rPr b="1" lang="pt-BR"/>
              <a:t> - </a:t>
            </a:r>
            <a:r>
              <a:rPr b="1" lang="pt-BR">
                <a:solidFill>
                  <a:srgbClr val="0000FF"/>
                </a:solidFill>
              </a:rPr>
              <a:t>α</a:t>
            </a:r>
            <a:br>
              <a:rPr lang="pt-BR"/>
            </a:br>
            <a:br>
              <a:rPr lang="pt-BR"/>
            </a:br>
            <a:r>
              <a:rPr lang="pt-BR"/>
              <a:t>em que </a:t>
            </a:r>
            <a:r>
              <a:rPr b="1" lang="pt-BR"/>
              <a:t>y</a:t>
            </a:r>
            <a:r>
              <a:rPr b="1" baseline="-25000" lang="pt-BR"/>
              <a:t>i</a:t>
            </a:r>
            <a:r>
              <a:rPr lang="pt-BR"/>
              <a:t> é a altura de uma criança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/>
              <a:t>x</a:t>
            </a:r>
            <a:r>
              <a:rPr b="1" baseline="-25000" lang="pt-BR"/>
              <a:t>i</a:t>
            </a:r>
            <a:r>
              <a:rPr lang="pt-BR"/>
              <a:t> é altura média dos dois pais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/>
              <a:t>ε</a:t>
            </a:r>
            <a:r>
              <a:rPr b="1" baseline="-25000" lang="pt-BR"/>
              <a:t>i</a:t>
            </a:r>
            <a:r>
              <a:rPr lang="pt-BR"/>
              <a:t> é um termo de erro (esperançosamente pequeno) que representa o fato de que existem outros fatores não explicados por este modelo simples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7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Seria possível chegar no mesmo resultado derivando em alpha e beta</a:t>
            </a:r>
            <a:br>
              <a:rPr lang="pt-BR"/>
            </a:br>
            <a:r>
              <a:rPr lang="pt-BR"/>
              <a:t>(próximos slides)</a:t>
            </a:r>
            <a:endParaRPr/>
          </a:p>
        </p:txBody>
      </p:sp>
      <p:sp>
        <p:nvSpPr>
          <p:cNvPr id="737" name="Google Shape;737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Ponto de Vista ML</a:t>
            </a:r>
            <a:endParaRPr/>
          </a:p>
        </p:txBody>
      </p:sp>
      <p:sp>
        <p:nvSpPr>
          <p:cNvPr id="743" name="Google Shape;743;p7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Inicialmente não é o melhor. Qual o erro do mesmo?</a:t>
            </a:r>
            <a:endParaRPr/>
          </a:p>
        </p:txBody>
      </p:sp>
      <p:pic>
        <p:nvPicPr>
          <p:cNvPr id="744" name="Google Shape;74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8025" y="1669575"/>
            <a:ext cx="4881491" cy="341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5" name="Google Shape;745;p74"/>
          <p:cNvCxnSpPr/>
          <p:nvPr/>
        </p:nvCxnSpPr>
        <p:spPr>
          <a:xfrm>
            <a:off x="6262750" y="2074950"/>
            <a:ext cx="0" cy="496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6" name="Google Shape;746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7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752" name="Google Shape;752;p7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escolhemos alfa e beta?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Qualquer escolha de alfa e beta nos dá uma previsão </a:t>
            </a:r>
            <a:r>
              <a:rPr b="1" lang="pt-BR"/>
              <a:t>ŷ</a:t>
            </a:r>
            <a:r>
              <a:rPr b="1" baseline="-25000" lang="pt-BR"/>
              <a:t>i</a:t>
            </a:r>
            <a:r>
              <a:rPr lang="pt-BR"/>
              <a:t> para cada entrada </a:t>
            </a:r>
            <a:r>
              <a:rPr b="1" lang="pt-BR"/>
              <a:t>x</a:t>
            </a:r>
            <a:r>
              <a:rPr b="1" baseline="-25000" lang="pt-BR"/>
              <a:t>i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sabemos a saída real </a:t>
            </a:r>
            <a:r>
              <a:rPr b="1" lang="pt-BR"/>
              <a:t>y</a:t>
            </a:r>
            <a:r>
              <a:rPr b="1" baseline="-25000" lang="pt-BR"/>
              <a:t>i</a:t>
            </a:r>
            <a:r>
              <a:rPr lang="pt-BR"/>
              <a:t>, podemos calcular o erro por par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 fim, teremos um erro total de: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Note que estamos escrevendo uma mesmo como uma função de </a:t>
            </a:r>
            <a:br>
              <a:rPr lang="pt-BR"/>
            </a:br>
            <a:r>
              <a:rPr b="1" lang="pt-BR">
                <a:solidFill>
                  <a:srgbClr val="0000FF"/>
                </a:solidFill>
              </a:rPr>
              <a:t>α</a:t>
            </a:r>
            <a:r>
              <a:rPr b="1" lang="pt-BR">
                <a:solidFill>
                  <a:schemeClr val="dk2"/>
                </a:solidFill>
              </a:rPr>
              <a:t> (alfa)</a:t>
            </a:r>
            <a:r>
              <a:rPr lang="pt-BR">
                <a:solidFill>
                  <a:schemeClr val="dk2"/>
                </a:solidFill>
              </a:rPr>
              <a:t> e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>
                <a:solidFill>
                  <a:schemeClr val="dk2"/>
                </a:solidFill>
              </a:rPr>
              <a:t> (beta)</a:t>
            </a:r>
            <a:r>
              <a:rPr lang="pt-BR">
                <a:solidFill>
                  <a:schemeClr val="dk2"/>
                </a:solidFill>
              </a:rPr>
              <a:t>. </a:t>
            </a:r>
            <a:r>
              <a:rPr lang="pt-BR"/>
              <a:t>Como que achamos os melhores valores?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(\Theta) = \sum_i (y_i - \hat{y}_i)^2&#10;" id="754" name="Google Shape;754;p75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300" y="3200850"/>
            <a:ext cx="4034326" cy="56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(\Theta) = \sum_i (y_i - \beta x_i - \alpha)^2&#10;" id="755" name="Google Shape;755;p75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5925" y="3915550"/>
            <a:ext cx="5122190" cy="56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(\Theta) = err(\alpha, \beta)&#10;" id="756" name="Google Shape;756;p75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0350" y="2265975"/>
            <a:ext cx="2446330" cy="37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7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</a:t>
            </a:r>
            <a:endParaRPr/>
          </a:p>
        </p:txBody>
      </p:sp>
      <p:sp>
        <p:nvSpPr>
          <p:cNvPr id="762" name="Google Shape;762;p7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2400"/>
              <a:t>Encontrar o valor </a:t>
            </a:r>
            <a:r>
              <a:rPr b="1" i="1" lang="pt-BR" sz="2400"/>
              <a:t>Θ</a:t>
            </a:r>
            <a:r>
              <a:rPr lang="pt-BR" sz="2400">
                <a:solidFill>
                  <a:schemeClr val="dk2"/>
                </a:solidFill>
              </a:rPr>
              <a:t> (</a:t>
            </a:r>
            <a:r>
              <a:rPr b="1" lang="pt-BR" sz="2400">
                <a:solidFill>
                  <a:srgbClr val="0000FF"/>
                </a:solidFill>
              </a:rPr>
              <a:t>α</a:t>
            </a:r>
            <a:r>
              <a:rPr lang="pt-BR" sz="2400">
                <a:solidFill>
                  <a:schemeClr val="dk2"/>
                </a:solidFill>
              </a:rPr>
              <a:t> e </a:t>
            </a:r>
            <a:r>
              <a:rPr b="1" lang="pt-BR" sz="2400">
                <a:solidFill>
                  <a:srgbClr val="FF0000"/>
                </a:solidFill>
              </a:rPr>
              <a:t>β</a:t>
            </a:r>
            <a:r>
              <a:rPr lang="pt-BR" sz="2400"/>
              <a:t>)</a:t>
            </a:r>
            <a:br>
              <a:rPr lang="pt-BR" sz="2400">
                <a:solidFill>
                  <a:schemeClr val="dk2"/>
                </a:solidFill>
              </a:rPr>
            </a:br>
            <a:r>
              <a:rPr lang="pt-BR" sz="2400"/>
              <a:t>que minimiza a função de erro </a:t>
            </a:r>
            <a:r>
              <a:rPr b="1" i="1" lang="pt-BR" sz="2400"/>
              <a:t>L(Θ)</a:t>
            </a:r>
            <a:endParaRPr sz="2400"/>
          </a:p>
        </p:txBody>
      </p:sp>
      <p:sp>
        <p:nvSpPr>
          <p:cNvPr id="763" name="Google Shape;763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\displaystyle \text{arg}\min\limits_{\theta}\ L(\theta) = \sum_i(y_i - \beta x_i - \alpha)^2 \\ \theta = [\alpha, \beta]" id="764" name="Google Shape;764;p7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150" y="2225675"/>
            <a:ext cx="5029702" cy="127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7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Soma dos Erros ao Quadrado (ALC)</a:t>
            </a:r>
            <a:endParaRPr/>
          </a:p>
        </p:txBody>
      </p:sp>
      <p:sp>
        <p:nvSpPr>
          <p:cNvPr id="770" name="Google Shape;770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(\Theta) = \sum_i (y_i - \beta x_i - \alpha)^2" id="771" name="Google Shape;771;p77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399" y="1987763"/>
            <a:ext cx="2428476" cy="26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(\Theta) = \sum_i (y_i - \hat{y}_i)^2" id="772" name="Google Shape;772;p77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8401" y="1580375"/>
            <a:ext cx="1903424" cy="26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(\Theta) = \sum_i (y_i^2 - 2 \beta x_i y_i - 2 \alpha y_i + x_i^2\beta^2 + 2 \beta \alpha x_i + \alpha^2)" id="773" name="Google Shape;773;p77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8394" y="2832813"/>
            <a:ext cx="4695106" cy="26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frac{d}{d\alpha} L(\Theta)= \sum_i (- 2 y_i + 2 \beta x_i + 2\alpha)" id="774" name="Google Shape;774;p77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38389" y="3613650"/>
            <a:ext cx="2891332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frac{d}{d\beta} L(\Theta) = \sum_i (- 2 x_i y_i + 2x_i^2\beta + 2 \alpha x_i)" id="775" name="Google Shape;775;p77" title="MathEquation,#00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38408" y="4515850"/>
            <a:ext cx="3207192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77"/>
          <p:cNvSpPr txBox="1"/>
          <p:nvPr/>
        </p:nvSpPr>
        <p:spPr>
          <a:xfrm>
            <a:off x="1280650" y="1099750"/>
            <a:ext cx="6376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Seja  </a:t>
            </a:r>
            <a:r>
              <a:rPr b="1" i="1" lang="pt-BR">
                <a:latin typeface="Source Sans Pro"/>
                <a:ea typeface="Source Sans Pro"/>
                <a:cs typeface="Source Sans Pro"/>
                <a:sym typeface="Source Sans Pro"/>
              </a:rPr>
              <a:t>Θ = [α, β]</a:t>
            </a: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 o vetor de parâmetros a serem estimados: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77" name="Google Shape;777;p77"/>
          <p:cNvSpPr txBox="1"/>
          <p:nvPr/>
        </p:nvSpPr>
        <p:spPr>
          <a:xfrm>
            <a:off x="1307700" y="2303150"/>
            <a:ext cx="63762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Resolvendo a exponenciação ao quadrado dentro do somatório, temos: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78" name="Google Shape;778;p77"/>
          <p:cNvSpPr txBox="1"/>
          <p:nvPr/>
        </p:nvSpPr>
        <p:spPr>
          <a:xfrm>
            <a:off x="1307700" y="3149250"/>
            <a:ext cx="6376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Derivando em relação a </a:t>
            </a:r>
            <a:r>
              <a:rPr b="1" i="1" lang="pt-BR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α</a:t>
            </a: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: 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79" name="Google Shape;779;p77"/>
          <p:cNvSpPr txBox="1"/>
          <p:nvPr/>
        </p:nvSpPr>
        <p:spPr>
          <a:xfrm>
            <a:off x="1280650" y="3995350"/>
            <a:ext cx="63762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Derivando em relação a </a:t>
            </a:r>
            <a:r>
              <a:rPr b="1" i="1" lang="pt-BR">
                <a:latin typeface="Source Sans Pro"/>
                <a:ea typeface="Source Sans Pro"/>
                <a:cs typeface="Source Sans Pro"/>
                <a:sym typeface="Source Sans Pro"/>
              </a:rPr>
              <a:t>β</a:t>
            </a: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: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785" name="Google Shape;785;p7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</a:t>
            </a:r>
            <a:r>
              <a:rPr b="1" lang="pt-BR"/>
              <a:t>solução de mínimos quadrados</a:t>
            </a:r>
            <a:r>
              <a:rPr lang="pt-BR"/>
              <a:t> (</a:t>
            </a:r>
            <a:r>
              <a:rPr i="1" lang="pt-BR"/>
              <a:t>least squares solution</a:t>
            </a:r>
            <a:r>
              <a:rPr lang="pt-BR"/>
              <a:t>)  é escolher o </a:t>
            </a:r>
            <a:r>
              <a:rPr b="1" lang="pt-BR">
                <a:solidFill>
                  <a:srgbClr val="0000FF"/>
                </a:solidFill>
              </a:rPr>
              <a:t>alfa</a:t>
            </a:r>
            <a:r>
              <a:rPr lang="pt-BR"/>
              <a:t> e o </a:t>
            </a:r>
            <a:r>
              <a:rPr b="1" lang="pt-BR">
                <a:solidFill>
                  <a:srgbClr val="FF0000"/>
                </a:solidFill>
              </a:rPr>
              <a:t>beta</a:t>
            </a:r>
            <a:r>
              <a:rPr lang="pt-BR"/>
              <a:t> que tornam o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sum_of_squared_errors</a:t>
            </a:r>
            <a:r>
              <a:rPr lang="pt-BR"/>
              <a:t> o menor possível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Usando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álgebra</a:t>
            </a:r>
            <a:r>
              <a:rPr lang="pt-BR"/>
              <a:t>, o alfa e beta minimizadores de erros são dados por: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786" name="Google Shape;786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6625" y="2280575"/>
            <a:ext cx="5638850" cy="266565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793" name="Google Shape;793;p7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escrever  beta como uma função da correlação de pearson (r)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794" name="Google Shape;79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200" y="2275725"/>
            <a:ext cx="3710800" cy="17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4000" y="1946001"/>
            <a:ext cx="3940325" cy="2912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8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802" name="Google Shape;802;p8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Vamos pensar em por que isso pode ser uma solução razoável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escolha do </a:t>
            </a:r>
            <a:r>
              <a:rPr b="1" lang="pt-BR">
                <a:solidFill>
                  <a:srgbClr val="0000FF"/>
                </a:solidFill>
              </a:rPr>
              <a:t>alfa</a:t>
            </a:r>
            <a:r>
              <a:rPr lang="pt-BR"/>
              <a:t> simplesmente diz que quando vemos o valor médio da variável independente </a:t>
            </a:r>
            <a:r>
              <a:rPr b="1" lang="pt-BR"/>
              <a:t>x</a:t>
            </a:r>
            <a:r>
              <a:rPr lang="pt-BR"/>
              <a:t>, </a:t>
            </a:r>
            <a:r>
              <a:rPr lang="pt-BR"/>
              <a:t>predizem</a:t>
            </a:r>
            <a:r>
              <a:rPr lang="pt-BR"/>
              <a:t> o valor médio da variável dependente </a:t>
            </a:r>
            <a:r>
              <a:rPr b="1" lang="pt-BR"/>
              <a:t>y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8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modelo: interpretação estatística</a:t>
            </a:r>
            <a:endParaRPr/>
          </a:p>
        </p:txBody>
      </p:sp>
      <p:sp>
        <p:nvSpPr>
          <p:cNvPr id="809" name="Google Shape;809;p81"/>
          <p:cNvSpPr txBox="1"/>
          <p:nvPr>
            <p:ph idx="1" type="body"/>
          </p:nvPr>
        </p:nvSpPr>
        <p:spPr>
          <a:xfrm>
            <a:off x="311700" y="1013625"/>
            <a:ext cx="487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Aumentar um desvio padrão em x</a:t>
            </a:r>
            <a:br>
              <a:rPr lang="pt-BR"/>
            </a:br>
            <a:r>
              <a:rPr lang="pt-BR"/>
              <a:t>captura correlação * desvio de 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Quanto do desvio é explicado!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 caso em que </a:t>
            </a:r>
            <a:r>
              <a:rPr b="1" lang="pt-BR"/>
              <a:t>x</a:t>
            </a:r>
            <a:r>
              <a:rPr lang="pt-BR"/>
              <a:t> e </a:t>
            </a:r>
            <a:r>
              <a:rPr b="1" lang="pt-BR"/>
              <a:t>y</a:t>
            </a:r>
            <a:r>
              <a:rPr lang="pt-BR"/>
              <a:t> estão perfeitamente correlacionados, um aumento de um desvio padrão em </a:t>
            </a:r>
            <a:r>
              <a:rPr b="1" lang="pt-BR"/>
              <a:t>x</a:t>
            </a:r>
            <a:r>
              <a:rPr lang="pt-BR"/>
              <a:t> resulta em um aumento de um desvio padrão de </a:t>
            </a:r>
            <a:r>
              <a:rPr b="1" lang="pt-BR"/>
              <a:t>y</a:t>
            </a:r>
            <a:r>
              <a:rPr lang="pt-BR"/>
              <a:t> na predição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Quando a correlação é </a:t>
            </a:r>
            <a:r>
              <a:rPr i="1" lang="pt-BR"/>
              <a:t>zero</a:t>
            </a:r>
            <a:r>
              <a:rPr lang="pt-BR"/>
              <a:t>, o beta é </a:t>
            </a:r>
            <a:r>
              <a:rPr i="1" lang="pt-BR"/>
              <a:t>zero</a:t>
            </a:r>
            <a:r>
              <a:rPr lang="pt-BR"/>
              <a:t>, o que significa que as alterações em </a:t>
            </a:r>
            <a:r>
              <a:rPr b="1" lang="pt-BR"/>
              <a:t>x</a:t>
            </a:r>
            <a:r>
              <a:rPr lang="pt-BR"/>
              <a:t> não afetam a previsão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811" name="Google Shape;811;p81"/>
          <p:cNvGrpSpPr/>
          <p:nvPr/>
        </p:nvGrpSpPr>
        <p:grpSpPr>
          <a:xfrm>
            <a:off x="5114200" y="1152475"/>
            <a:ext cx="3371913" cy="3735875"/>
            <a:chOff x="4846275" y="891100"/>
            <a:chExt cx="3371913" cy="3735875"/>
          </a:xfrm>
        </p:grpSpPr>
        <p:sp>
          <p:nvSpPr>
            <p:cNvPr id="812" name="Google Shape;812;p81"/>
            <p:cNvSpPr txBox="1"/>
            <p:nvPr/>
          </p:nvSpPr>
          <p:spPr>
            <a:xfrm>
              <a:off x="4846275" y="891100"/>
              <a:ext cx="2542800" cy="7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/>
                <a:t>Dados Originais</a:t>
              </a:r>
              <a:endParaRPr sz="2400"/>
            </a:p>
          </p:txBody>
        </p:sp>
        <p:pic>
          <p:nvPicPr>
            <p:cNvPr id="813" name="Google Shape;813;p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51113" y="1340850"/>
              <a:ext cx="3267075" cy="328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4" name="Google Shape;814;p81"/>
            <p:cNvSpPr txBox="1"/>
            <p:nvPr/>
          </p:nvSpPr>
          <p:spPr>
            <a:xfrm>
              <a:off x="5088361" y="2203082"/>
              <a:ext cx="16752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00"/>
                <a:t>(Average x,</a:t>
              </a:r>
              <a:br>
                <a:rPr b="1" lang="pt-BR" sz="2000"/>
              </a:br>
              <a:r>
                <a:rPr b="1" lang="pt-BR" sz="2000"/>
                <a:t> Average y)</a:t>
              </a:r>
              <a:endParaRPr b="1" sz="2000"/>
            </a:p>
          </p:txBody>
        </p:sp>
        <p:cxnSp>
          <p:nvCxnSpPr>
            <p:cNvPr id="815" name="Google Shape;815;p81"/>
            <p:cNvCxnSpPr/>
            <p:nvPr/>
          </p:nvCxnSpPr>
          <p:spPr>
            <a:xfrm>
              <a:off x="65762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6" name="Google Shape;816;p81"/>
            <p:cNvCxnSpPr/>
            <p:nvPr/>
          </p:nvCxnSpPr>
          <p:spPr>
            <a:xfrm>
              <a:off x="73310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17" name="Google Shape;817;p81"/>
            <p:cNvSpPr/>
            <p:nvPr/>
          </p:nvSpPr>
          <p:spPr>
            <a:xfrm>
              <a:off x="6820075" y="20173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81"/>
            <p:cNvSpPr/>
            <p:nvPr/>
          </p:nvSpPr>
          <p:spPr>
            <a:xfrm>
              <a:off x="76582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81"/>
            <p:cNvSpPr/>
            <p:nvPr/>
          </p:nvSpPr>
          <p:spPr>
            <a:xfrm>
              <a:off x="7353475" y="32365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81"/>
            <p:cNvSpPr/>
            <p:nvPr/>
          </p:nvSpPr>
          <p:spPr>
            <a:xfrm>
              <a:off x="6515275" y="3312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81"/>
            <p:cNvSpPr/>
            <p:nvPr/>
          </p:nvSpPr>
          <p:spPr>
            <a:xfrm>
              <a:off x="6362875" y="34651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81"/>
            <p:cNvSpPr/>
            <p:nvPr/>
          </p:nvSpPr>
          <p:spPr>
            <a:xfrm>
              <a:off x="56008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81"/>
            <p:cNvSpPr/>
            <p:nvPr/>
          </p:nvSpPr>
          <p:spPr>
            <a:xfrm>
              <a:off x="6591475" y="2626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81"/>
            <p:cNvSpPr/>
            <p:nvPr/>
          </p:nvSpPr>
          <p:spPr>
            <a:xfrm>
              <a:off x="5524675" y="3388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5" name="Google Shape;825;p81"/>
          <p:cNvGrpSpPr/>
          <p:nvPr/>
        </p:nvGrpSpPr>
        <p:grpSpPr>
          <a:xfrm>
            <a:off x="6730293" y="2722825"/>
            <a:ext cx="2361012" cy="1133089"/>
            <a:chOff x="6462368" y="2461450"/>
            <a:chExt cx="2361012" cy="1133089"/>
          </a:xfrm>
        </p:grpSpPr>
        <p:sp>
          <p:nvSpPr>
            <p:cNvPr id="826" name="Google Shape;826;p81"/>
            <p:cNvSpPr txBox="1"/>
            <p:nvPr/>
          </p:nvSpPr>
          <p:spPr>
            <a:xfrm>
              <a:off x="64623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SD x</a:t>
              </a:r>
              <a:endParaRPr b="1" sz="2400"/>
            </a:p>
          </p:txBody>
        </p:sp>
        <p:sp>
          <p:nvSpPr>
            <p:cNvPr id="827" name="Google Shape;827;p81"/>
            <p:cNvSpPr txBox="1"/>
            <p:nvPr/>
          </p:nvSpPr>
          <p:spPr>
            <a:xfrm>
              <a:off x="7148180" y="2461450"/>
              <a:ext cx="16752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 * SD y</a:t>
              </a:r>
              <a:endParaRPr b="1" sz="2400"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8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833" name="Google Shape;833;p8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Abaixo, plotamos a linha de previsão para ter uma noção de quão bem o modelo se ajusta aos dados observados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podemos saber a qualidade do mesmo?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9894" y="2331250"/>
            <a:ext cx="3844200" cy="26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8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Qualidade do modelo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8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Uma medida comum é o </a:t>
            </a:r>
            <a:r>
              <a:rPr i="1" lang="pt-BR"/>
              <a:t>coeficiente de determinação</a:t>
            </a:r>
            <a:r>
              <a:rPr lang="pt-BR"/>
              <a:t> (ou </a:t>
            </a:r>
            <a:r>
              <a:rPr b="1" lang="pt-BR"/>
              <a:t>R-quadrado</a:t>
            </a:r>
            <a:r>
              <a:rPr lang="pt-BR"/>
              <a:t>, ou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, ou </a:t>
            </a:r>
            <a:r>
              <a:rPr b="1" lang="pt-BR"/>
              <a:t>R-dois</a:t>
            </a:r>
            <a:r>
              <a:rPr lang="pt-BR"/>
              <a:t>). Qual seria um modelo muito ruim mas razoável?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Qualidade do modelo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8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Uma medida comum é o </a:t>
            </a:r>
            <a:r>
              <a:rPr i="1" lang="pt-BR"/>
              <a:t>coeficiente de determinação</a:t>
            </a:r>
            <a:r>
              <a:rPr lang="pt-BR"/>
              <a:t> (ou </a:t>
            </a:r>
            <a:r>
              <a:rPr b="1" lang="pt-BR"/>
              <a:t>R-quadrado</a:t>
            </a:r>
            <a:r>
              <a:rPr lang="pt-BR"/>
              <a:t>, ou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, ou </a:t>
            </a:r>
            <a:r>
              <a:rPr b="1" lang="pt-BR"/>
              <a:t>R-dois</a:t>
            </a:r>
            <a:r>
              <a:rPr lang="pt-BR"/>
              <a:t>). Qual seria um modelo muito ruim mas razoável?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Prever a média de y para todos os pontos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8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Qualidade do modelo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8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Uma medida comum é o </a:t>
            </a:r>
            <a:r>
              <a:rPr i="1" lang="pt-BR"/>
              <a:t>coeficiente de determinação</a:t>
            </a:r>
            <a:r>
              <a:rPr lang="pt-BR"/>
              <a:t> (ou </a:t>
            </a:r>
            <a:r>
              <a:rPr b="1" lang="pt-BR"/>
              <a:t>R-quadrado</a:t>
            </a:r>
            <a:r>
              <a:rPr lang="pt-BR"/>
              <a:t>, ou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, ou </a:t>
            </a:r>
            <a:r>
              <a:rPr b="1" lang="pt-BR"/>
              <a:t>R-dois</a:t>
            </a:r>
            <a:r>
              <a:rPr lang="pt-BR"/>
              <a:t>). Qual seria um modelo muito ruim mas razoável?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Prever a média de y para todos os pontos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 mede a fração da variação total na variável dependente (</a:t>
            </a:r>
            <a:r>
              <a:rPr b="1" lang="pt-BR"/>
              <a:t>y</a:t>
            </a:r>
            <a:r>
              <a:rPr lang="pt-BR"/>
              <a:t>) que é capturada pelo modelo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ST=\sum _{i}(y_{i}-{\bar {y}})^{2}" id="861" name="Google Shape;861;p8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200" y="2171293"/>
            <a:ext cx="4218984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SE=\sum _{i}(y_{i}-\hat{y}_{i})^{2}=\sum _{i}\epsilon_{i}^{2}" id="862" name="Google Shape;862;p86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1175" y="3037750"/>
            <a:ext cx="5743952" cy="61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^{2} = 1-{SSE \over SST} = {{SST - SSE} \over SST}" id="863" name="Google Shape;863;p86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3025" y="4011060"/>
            <a:ext cx="5517932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8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Qualidade do modelo</a:t>
            </a:r>
            <a:endParaRPr/>
          </a:p>
        </p:txBody>
      </p:sp>
      <p:sp>
        <p:nvSpPr>
          <p:cNvPr id="865" name="Google Shape;865;p86"/>
          <p:cNvSpPr txBox="1"/>
          <p:nvPr>
            <p:ph idx="1" type="body"/>
          </p:nvPr>
        </p:nvSpPr>
        <p:spPr>
          <a:xfrm>
            <a:off x="311700" y="1152475"/>
            <a:ext cx="8520600" cy="6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800"/>
              <a:buChar char="●"/>
            </a:pPr>
            <a:r>
              <a:rPr lang="pt-BR"/>
              <a:t>O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 mede a fração da variação total na variável dependente (</a:t>
            </a:r>
            <a:r>
              <a:rPr b="1" lang="pt-BR"/>
              <a:t>y</a:t>
            </a:r>
            <a:r>
              <a:rPr lang="pt-BR"/>
              <a:t>) que é capturada pelo modelo</a:t>
            </a:r>
            <a:endParaRPr/>
          </a:p>
        </p:txBody>
      </p:sp>
      <p:sp>
        <p:nvSpPr>
          <p:cNvPr id="866" name="Google Shape;866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ST=\sum _{i}(y_{i}-{\bar {y}})^{2}" id="871" name="Google Shape;871;p87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200" y="2171293"/>
            <a:ext cx="4218984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SE=\sum _{i}(y_{i}-\hat{y}_{i})^{2}=\sum _{i}\epsilon_{i}^{2}" id="872" name="Google Shape;872;p87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1175" y="3037750"/>
            <a:ext cx="5743952" cy="61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^{2} = 1-{SSE \over SST} = {{SST - SSE} \over SST}" id="873" name="Google Shape;873;p87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3025" y="4011060"/>
            <a:ext cx="5517932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8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Qualidade do modelo</a:t>
            </a:r>
            <a:endParaRPr/>
          </a:p>
        </p:txBody>
      </p:sp>
      <p:sp>
        <p:nvSpPr>
          <p:cNvPr id="875" name="Google Shape;875;p87"/>
          <p:cNvSpPr txBox="1"/>
          <p:nvPr>
            <p:ph idx="1" type="body"/>
          </p:nvPr>
        </p:nvSpPr>
        <p:spPr>
          <a:xfrm>
            <a:off x="311700" y="1152475"/>
            <a:ext cx="8520600" cy="6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800"/>
              <a:buChar char="●"/>
            </a:pPr>
            <a:r>
              <a:rPr lang="pt-BR"/>
              <a:t>O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 mede a fração da variação total na variável dependente (</a:t>
            </a:r>
            <a:r>
              <a:rPr b="1" lang="pt-BR"/>
              <a:t>y</a:t>
            </a:r>
            <a:r>
              <a:rPr lang="pt-BR"/>
              <a:t>) que é capturada pelo modelo</a:t>
            </a:r>
            <a:endParaRPr/>
          </a:p>
        </p:txBody>
      </p:sp>
      <p:sp>
        <p:nvSpPr>
          <p:cNvPr id="876" name="Google Shape;876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7" name="Google Shape;877;p87"/>
          <p:cNvSpPr/>
          <p:nvPr/>
        </p:nvSpPr>
        <p:spPr>
          <a:xfrm rot="2700000">
            <a:off x="4551035" y="3015471"/>
            <a:ext cx="1340250" cy="93635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Quanto da variância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78" name="Google Shape;878;p87"/>
          <p:cNvSpPr/>
          <p:nvPr/>
        </p:nvSpPr>
        <p:spPr>
          <a:xfrm rot="2700000">
            <a:off x="5201087" y="2811098"/>
            <a:ext cx="1918522" cy="93635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É capturada pela regressão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8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884" name="Google Shape;884;p8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Agora, escolhemos o alfa e o beta que minimizaram a soma dos quadrados dos erros de previsão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 modelo linear que poderíamos ter escolhido é "</a:t>
            </a:r>
            <a:r>
              <a:rPr b="1" lang="pt-BR"/>
              <a:t>sempre prever a média de y</a:t>
            </a:r>
            <a:r>
              <a:rPr lang="pt-BR"/>
              <a:t>"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correspondendo a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alpha = np.mean(y)</a:t>
            </a:r>
            <a:r>
              <a:rPr lang="pt-BR"/>
              <a:t> e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beta = 0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Neste caso, a soma dos erros quadrados é exatamente igual a sua soma total de quadrados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Isso significa um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 de </a:t>
            </a:r>
            <a:r>
              <a:rPr b="1" lang="pt-BR"/>
              <a:t>zero</a:t>
            </a:r>
            <a:r>
              <a:rPr lang="pt-BR"/>
              <a:t>, que indica um modelo que (obviamente, neste caso) não funciona melhor do que apenas prever a média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8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891" name="Google Shape;891;p8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Claramente, o modelo de mínimos quadrados deve ser pelo menos tão bom quanto esse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soma dos erros quadrados é no máximo a soma total de quadrados, o que significa que o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 deve ser pelo menos </a:t>
            </a:r>
            <a:r>
              <a:rPr b="1" lang="pt-BR"/>
              <a:t>zero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soma dos erros quadrados deve ser pelo menos </a:t>
            </a:r>
            <a:r>
              <a:rPr b="1" lang="pt-BR"/>
              <a:t>0</a:t>
            </a:r>
            <a:r>
              <a:rPr lang="pt-BR"/>
              <a:t>, o que significa que o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 pode ser no máximo </a:t>
            </a:r>
            <a:r>
              <a:rPr b="1" lang="pt-BR"/>
              <a:t>1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Quanto maior for o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, melhor o nosso modelo se ajusta aos dados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Aqui nós calculamos um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 de </a:t>
            </a:r>
            <a:r>
              <a:rPr b="1" lang="pt-BR"/>
              <a:t>0.10</a:t>
            </a:r>
            <a:r>
              <a:rPr lang="pt-BR"/>
              <a:t>, o que nos diz que o nosso modelo está mal em ajustar os dados, e que claramente existem outros fatores em jogo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9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898" name="Google Shape;898;p9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É possível obter um </a:t>
            </a:r>
            <a:r>
              <a:rPr b="1" lang="pt-BR"/>
              <a:t>R</a:t>
            </a:r>
            <a:r>
              <a:rPr b="1" baseline="30000" lang="pt-BR"/>
              <a:t>2 </a:t>
            </a:r>
            <a:r>
              <a:rPr lang="pt-BR"/>
              <a:t>negativo?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9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905" name="Google Shape;905;p9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É possível obter um </a:t>
            </a:r>
            <a:r>
              <a:rPr b="1" lang="pt-BR"/>
              <a:t>R</a:t>
            </a:r>
            <a:r>
              <a:rPr b="1" baseline="30000" lang="pt-BR"/>
              <a:t>2 </a:t>
            </a:r>
            <a:r>
              <a:rPr lang="pt-BR"/>
              <a:t>negativo?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 na regressão linear “pura”. Por pura quero dizer que estimamos alfa e beta. Além do mais, que minimizamos o erro quadrado.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Esta é a única situação onde garantimos que R2 é sempre positivo.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9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Quase nunca temos uma população</a:t>
            </a:r>
            <a:endParaRPr/>
          </a:p>
        </p:txBody>
      </p:sp>
      <p:sp>
        <p:nvSpPr>
          <p:cNvPr id="912" name="Google Shape;912;p9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Então alfa e beta são estimados de uma amostra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determinar um intervalo de confiança para os valores?</a:t>
            </a:r>
            <a:endParaRPr/>
          </a:p>
        </p:txBody>
      </p:sp>
      <p:sp>
        <p:nvSpPr>
          <p:cNvPr id="913" name="Google Shape;913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9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Quase nunca temos uma população</a:t>
            </a:r>
            <a:endParaRPr/>
          </a:p>
        </p:txBody>
      </p:sp>
      <p:sp>
        <p:nvSpPr>
          <p:cNvPr id="919" name="Google Shape;919;p9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Então alfa e beta são estimados de uma amostra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determinar um intervalo de confiança para os valores?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Bootstrap nos dados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Seleção com repetição de pontos (x, y)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10,000 estimações de alfa e beta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Notebook desta aula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determinar um valor-p?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Permutação em Y (ou em X)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 outra coluna fica fixa (se permutas em Y, X fica fixo)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10,000 estimações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Probabilidade do valor mais extremo na hipótese nula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P[X &gt; corr]</a:t>
            </a:r>
            <a:endParaRPr/>
          </a:p>
        </p:txBody>
      </p:sp>
      <p:sp>
        <p:nvSpPr>
          <p:cNvPr id="920" name="Google Shape;920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9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Regressão Linear no Statsmodels/R</a:t>
            </a:r>
            <a:endParaRPr/>
          </a:p>
        </p:txBody>
      </p:sp>
      <p:sp>
        <p:nvSpPr>
          <p:cNvPr id="926" name="Google Shape;926;p9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urce Sans Pro"/>
              <a:buChar char="●"/>
            </a:pPr>
            <a:r>
              <a:rPr lang="pt-BR"/>
              <a:t>Os resultados vêm acompanhados dos ICs/valores-p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(vide notebook)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Modelo é bem ruim :-( </a:t>
            </a:r>
            <a:endParaRPr/>
          </a:p>
        </p:txBody>
      </p:sp>
      <p:sp>
        <p:nvSpPr>
          <p:cNvPr id="927" name="Google Shape;927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28" name="Google Shape;92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395" y="2122925"/>
            <a:ext cx="4095225" cy="2866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3" name="Google Shape;93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7650" y="1812625"/>
            <a:ext cx="5644276" cy="322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9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Regressão Linear</a:t>
            </a:r>
            <a:endParaRPr/>
          </a:p>
        </p:txBody>
      </p:sp>
      <p:sp>
        <p:nvSpPr>
          <p:cNvPr id="935" name="Google Shape;935;p9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Note como um pacote estilo statsmodels traz várias informações. Com bootstrap e permutações conseguimos entender o IC [0.025 0.975] e o P &gt; |t |.</a:t>
            </a:r>
            <a:endParaRPr/>
          </a:p>
        </p:txBody>
      </p:sp>
      <p:sp>
        <p:nvSpPr>
          <p:cNvPr id="936" name="Google Shape;936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9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942" name="Google Shape;942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9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Tamanho da Cabeça de Gambás</a:t>
            </a:r>
            <a:endParaRPr/>
          </a:p>
        </p:txBody>
      </p:sp>
      <p:sp>
        <p:nvSpPr>
          <p:cNvPr id="948" name="Google Shape;948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949" name="Google Shape;949;p9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Dados de 140 gambás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Relação entre comprimento do corpo</a:t>
            </a:r>
            <a:br>
              <a:rPr lang="pt-BR"/>
            </a:br>
            <a:r>
              <a:rPr lang="pt-BR"/>
              <a:t>e da cabeça</a:t>
            </a:r>
            <a:endParaRPr i="1" sz="25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950" name="Google Shape;95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926" y="2571750"/>
            <a:ext cx="2444324" cy="1629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1178" y="1144251"/>
            <a:ext cx="2569951" cy="1711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120270"/>
            <a:ext cx="4010575" cy="26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9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Contato</a:t>
            </a:r>
            <a:endParaRPr/>
          </a:p>
        </p:txBody>
      </p:sp>
      <p:sp>
        <p:nvSpPr>
          <p:cNvPr id="958" name="Google Shape;958;p9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Flavio Vinicius Diniz de Figueiredo</a:t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flavio@dcc.ufmg.br</a:t>
            </a:r>
            <a:r>
              <a:rPr lang="pt-BR"/>
              <a:t> </a:t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Introdução à Ciência dos Dados</a:t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