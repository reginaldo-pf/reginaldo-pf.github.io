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</p:sldIdLst>
  <p:sldSz cy="5143500" cx="9144000"/>
  <p:notesSz cx="6858000" cy="9144000"/>
  <p:embeddedFontLst>
    <p:embeddedFont>
      <p:font typeface="Montserrat SemiBold"/>
      <p:regular r:id="rId133"/>
      <p:bold r:id="rId134"/>
      <p:italic r:id="rId135"/>
      <p:boldItalic r:id="rId136"/>
    </p:embeddedFont>
    <p:embeddedFont>
      <p:font typeface="Roboto"/>
      <p:regular r:id="rId137"/>
      <p:bold r:id="rId138"/>
      <p:italic r:id="rId139"/>
      <p:boldItalic r:id="rId140"/>
    </p:embeddedFont>
    <p:embeddedFont>
      <p:font typeface="Montserrat"/>
      <p:regular r:id="rId141"/>
      <p:bold r:id="rId142"/>
      <p:italic r:id="rId143"/>
      <p:boldItalic r:id="rId144"/>
    </p:embeddedFont>
    <p:embeddedFont>
      <p:font typeface="Permanent Marker"/>
      <p:regular r:id="rId145"/>
    </p:embeddedFont>
    <p:embeddedFont>
      <p:font typeface="Book Antiqua"/>
      <p:regular r:id="rId146"/>
      <p:bold r:id="rId147"/>
      <p:italic r:id="rId148"/>
      <p:boldItalic r:id="rId149"/>
    </p:embeddedFont>
    <p:embeddedFont>
      <p:font typeface="Roboto Light"/>
      <p:regular r:id="rId150"/>
      <p:bold r:id="rId151"/>
      <p:italic r:id="rId152"/>
      <p:boldItalic r:id="rId1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font" Target="fonts/RobotoLight-regular.fntdata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BookAntiqua-boldItalic.fntdata"/><Relationship Id="rId4" Type="http://schemas.openxmlformats.org/officeDocument/2006/relationships/slideMaster" Target="slideMasters/slideMaster1.xml"/><Relationship Id="rId148" Type="http://schemas.openxmlformats.org/officeDocument/2006/relationships/font" Target="fonts/BookAntiqua-italic.fntdata"/><Relationship Id="rId9" Type="http://schemas.openxmlformats.org/officeDocument/2006/relationships/slide" Target="slides/slide3.xml"/><Relationship Id="rId143" Type="http://schemas.openxmlformats.org/officeDocument/2006/relationships/font" Target="fonts/Montserrat-italic.fntdata"/><Relationship Id="rId142" Type="http://schemas.openxmlformats.org/officeDocument/2006/relationships/font" Target="fonts/Montserrat-bold.fntdata"/><Relationship Id="rId141" Type="http://schemas.openxmlformats.org/officeDocument/2006/relationships/font" Target="fonts/Montserrat-regular.fntdata"/><Relationship Id="rId140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147" Type="http://schemas.openxmlformats.org/officeDocument/2006/relationships/font" Target="fonts/BookAntiqua-bold.fntdata"/><Relationship Id="rId6" Type="http://schemas.openxmlformats.org/officeDocument/2006/relationships/notesMaster" Target="notesMasters/notesMaster1.xml"/><Relationship Id="rId146" Type="http://schemas.openxmlformats.org/officeDocument/2006/relationships/font" Target="fonts/BookAntiqua-regular.fntdata"/><Relationship Id="rId7" Type="http://schemas.openxmlformats.org/officeDocument/2006/relationships/slide" Target="slides/slide1.xml"/><Relationship Id="rId145" Type="http://schemas.openxmlformats.org/officeDocument/2006/relationships/font" Target="fonts/PermanentMarker-regular.fntdata"/><Relationship Id="rId8" Type="http://schemas.openxmlformats.org/officeDocument/2006/relationships/slide" Target="slides/slide2.xml"/><Relationship Id="rId144" Type="http://schemas.openxmlformats.org/officeDocument/2006/relationships/font" Target="fonts/Montserrat-boldItalic.fntdata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font" Target="fonts/Roboto-italic.fntdata"/><Relationship Id="rId138" Type="http://schemas.openxmlformats.org/officeDocument/2006/relationships/font" Target="fonts/Roboto-bold.fntdata"/><Relationship Id="rId137" Type="http://schemas.openxmlformats.org/officeDocument/2006/relationships/font" Target="fonts/Roboto-regular.fntdata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font" Target="fonts/MontserratSemiBold-boldItalic.fntdata"/><Relationship Id="rId135" Type="http://schemas.openxmlformats.org/officeDocument/2006/relationships/font" Target="fonts/MontserratSemiBold-italic.fntdata"/><Relationship Id="rId134" Type="http://schemas.openxmlformats.org/officeDocument/2006/relationships/font" Target="fonts/MontserratSemiBold-bold.fntdata"/><Relationship Id="rId133" Type="http://schemas.openxmlformats.org/officeDocument/2006/relationships/font" Target="fonts/MontserratSemiBold-regular.fnt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153" Type="http://schemas.openxmlformats.org/officeDocument/2006/relationships/font" Target="fonts/RobotoLight-boldItalic.fntdata"/><Relationship Id="rId152" Type="http://schemas.openxmlformats.org/officeDocument/2006/relationships/font" Target="fonts/RobotoLight-italic.fntdata"/><Relationship Id="rId151" Type="http://schemas.openxmlformats.org/officeDocument/2006/relationships/font" Target="fonts/Roboto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28e503945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28e503945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9b7d8476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99b7d8476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9b7d847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9b7d847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99b7d8476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99b7d8476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99b7d8476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99b7d8476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99b7d8476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99b7d8476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9b7d8476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9b7d8476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9a5c8d52b5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9a5c8d52b5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9b7d8476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9b7d8476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99b7d8476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99b7d8476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9b7d8476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99b7d8476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99b7d84769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99b7d8476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9a5c8d52b5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9a5c8d52b5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99b7d8476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99b7d8476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99b7d8476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99b7d8476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99b7d8476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99b7d8476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99b7d8476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99b7d8476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99b7d8476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99b7d8476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99b7d84769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99b7d84769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99b7d84769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99b7d84769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99b7d84769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99b7d84769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9b7d84769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9b7d84769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99b7d84769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99b7d8476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99b7d8476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99b7d8476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99b7d84769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99b7d84769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99b7d84769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99b7d8476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b7d84769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b7d84769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99b7d84769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99b7d84769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99b7d84769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99b7d84769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9b7d84769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9b7d84769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99b7d84769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99b7d84769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9b7d8476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99b7d8476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99b7d84769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99b7d84769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99b7d84769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99b7d84769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99b7d84769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99b7d84769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99b7d8476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99b7d8476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99b7d84769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99b7d84769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99b7d84769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99b7d84769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99b7d84769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99b7d84769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99b7d84769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99b7d84769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99b7d84769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99b7d84769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99b7d84769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99b7d84769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99b7d84769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99b7d84769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99b7d84769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99b7d84769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99b7d84769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99b7d84769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99b7d84769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99b7d84769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99b7d84769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99b7d84769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9a5c8d52b5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9a5c8d52b5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99b7d84769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99b7d84769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99b7d84769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99b7d84769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99b7d84769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99b7d84769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9a5c8d52b5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9a5c8d52b5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99b7d84769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99b7d84769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99b7d84769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99b7d84769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99b7d84769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99b7d84769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99b7d84769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99b7d84769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99b7d84769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99b7d84769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99b7d84769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99b7d84769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9a5c8d52b5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9a5c8d52b5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99b7d84769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99b7d84769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99b7d84769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99b7d84769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99b7d84769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99b7d84769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99b7d84769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99b7d84769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99b7d84769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99b7d84769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9a5c8d52b5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9a5c8d52b5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99b7d84769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99b7d84769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99b7d84769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99b7d84769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9a5c8d52b5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9a5c8d52b5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0b30944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30b30944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99b7d84769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99b7d84769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99b7d8476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99b7d8476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9a5c8d52b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9a5c8d52b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9a5c8d52b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9a5c8d52b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9a5c8d52b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9a5c8d52b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9a5c8d52b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9a5c8d52b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9a5c8d52b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9a5c8d52b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9a5c8d52b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9a5c8d52b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9a5c8d52b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9a5c8d52b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9a5c8d52b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9a5c8d52b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9a5c8d52b5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9a5c8d52b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9a5c8d52b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9a5c8d52b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9a5c8d52b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9a5c8d52b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9a5c8d52b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9a5c8d52b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99b7d84769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99b7d84769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9a5c8d52b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9a5c8d52b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99b7d84769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99b7d84769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99b7d84769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99b7d84769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9a5c8d52b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9a5c8d52b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9a5c8d52b5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9a5c8d52b5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9a5c8d52b5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9a5c8d52b5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99b7d84769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99b7d84769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99b7d84769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99b7d84769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99b7d84769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99b7d84769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9a5c8d52b5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9a5c8d52b5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9a5c8d52b5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9a5c8d52b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9a5c8d52b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9a5c8d52b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9a5c8d52b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9a5c8d52b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9a5c8d52b5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9a5c8d52b5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9a5c8d52b5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9a5c8d52b5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9a5c8d52b5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9a5c8d52b5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9a5c8d52b5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9a5c8d52b5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9a5c8d52b5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9a5c8d52b5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9a5c8d52b5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9a5c8d52b5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9a5c8d52b5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9a5c8d52b5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9a5c8d52b5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9a5c8d52b5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9a5c8d52b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9a5c8d52b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9a5c8d52b5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9a5c8d52b5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9a5c8d52b5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9a5c8d52b5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9a5c8d52b5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9a5c8d52b5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9a5c8d52b5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9a5c8d52b5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9a5c8d52b5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9a5c8d52b5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130b309440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130b309440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9a5c8d52b5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9a5c8d52b5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9a5c8d52b5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9a5c8d52b5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9a5c8d52b5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9a5c8d52b5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9a5c8d52b5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9a5c8d52b5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9a5c8d52b5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9a5c8d52b5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9a5c8d52b5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9a5c8d52b5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9a5c8d52b5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9a5c8d52b5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9a5c8d52b5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9a5c8d52b5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9a5c8d52b5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9a5c8d52b5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9a5c8d52b5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9a5c8d52b5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9a5c8d52b5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9a5c8d52b5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9a5c8d52b5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9a5c8d52b5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9a5c8d52b5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9a5c8d52b5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92cc4b5339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92cc4b5339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icd-ufmg.github.io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mailto:flavio@dcc.ufmg.br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311700" y="1972200"/>
            <a:ext cx="8520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56" name="Google Shape;56;p14"/>
          <p:cNvSpPr txBox="1"/>
          <p:nvPr/>
        </p:nvSpPr>
        <p:spPr>
          <a:xfrm>
            <a:off x="1116000" y="2561400"/>
            <a:ext cx="691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Montserrat"/>
                <a:ea typeface="Montserrat"/>
                <a:cs typeface="Montserrat"/>
                <a:sym typeface="Montserrat"/>
              </a:rPr>
              <a:t>Introdução à Ciência dos Dados</a:t>
            </a:r>
            <a:br>
              <a:rPr lang="pt-BR" sz="17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2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https://icd-ufmg.github.io/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" y="4428000"/>
            <a:ext cx="11664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2000" y="180000"/>
            <a:ext cx="1139915" cy="46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000000"/>
                </a:solidFill>
              </a:defRPr>
            </a:lvl1pPr>
            <a:lvl2pPr lvl="1" rtl="0">
              <a:buNone/>
              <a:defRPr sz="1300">
                <a:solidFill>
                  <a:srgbClr val="000000"/>
                </a:solidFill>
              </a:defRPr>
            </a:lvl2pPr>
            <a:lvl3pPr lvl="2" rtl="0">
              <a:buNone/>
              <a:defRPr sz="1300">
                <a:solidFill>
                  <a:srgbClr val="000000"/>
                </a:solidFill>
              </a:defRPr>
            </a:lvl3pPr>
            <a:lvl4pPr lvl="3" rtl="0">
              <a:buNone/>
              <a:defRPr sz="1300">
                <a:solidFill>
                  <a:srgbClr val="000000"/>
                </a:solidFill>
              </a:defRPr>
            </a:lvl4pPr>
            <a:lvl5pPr lvl="4" rtl="0">
              <a:buNone/>
              <a:defRPr sz="1300">
                <a:solidFill>
                  <a:srgbClr val="000000"/>
                </a:solidFill>
              </a:defRPr>
            </a:lvl5pPr>
            <a:lvl6pPr lvl="5" rtl="0">
              <a:buNone/>
              <a:defRPr sz="1300">
                <a:solidFill>
                  <a:srgbClr val="000000"/>
                </a:solidFill>
              </a:defRPr>
            </a:lvl6pPr>
            <a:lvl7pPr lvl="6" rtl="0">
              <a:buNone/>
              <a:defRPr sz="1300">
                <a:solidFill>
                  <a:srgbClr val="000000"/>
                </a:solidFill>
              </a:defRPr>
            </a:lvl7pPr>
            <a:lvl8pPr lvl="7" rtl="0">
              <a:buNone/>
              <a:defRPr sz="1300">
                <a:solidFill>
                  <a:srgbClr val="000000"/>
                </a:solidFill>
              </a:defRPr>
            </a:lvl8pPr>
            <a:lvl9pPr lvl="8" rtl="0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140200" y="4359025"/>
            <a:ext cx="3692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Flavio Vinicius Diniz de Figueiredo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flavio@dcc.ufmg.br</a:t>
            </a: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B2352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  <a:defRPr b="1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9" name="Google Shape;9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2" name="Google Shape;10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p2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5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2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n.wikipedia.org/wiki/Bernoulli_distribution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9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3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5.png"/><Relationship Id="rId4" Type="http://schemas.openxmlformats.org/officeDocument/2006/relationships/image" Target="../media/image30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55.png"/><Relationship Id="rId4" Type="http://schemas.openxmlformats.org/officeDocument/2006/relationships/image" Target="../media/image30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55.png"/><Relationship Id="rId4" Type="http://schemas.openxmlformats.org/officeDocument/2006/relationships/image" Target="../media/image30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55.png"/><Relationship Id="rId4" Type="http://schemas.openxmlformats.org/officeDocument/2006/relationships/image" Target="../media/image30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55.png"/><Relationship Id="rId4" Type="http://schemas.openxmlformats.org/officeDocument/2006/relationships/image" Target="../media/image30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5.png"/><Relationship Id="rId4" Type="http://schemas.openxmlformats.org/officeDocument/2006/relationships/image" Target="../media/image30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0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6.png"/><Relationship Id="rId4" Type="http://schemas.openxmlformats.org/officeDocument/2006/relationships/image" Target="../media/image4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1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2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42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4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4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4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7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9.xml"/><Relationship Id="rId3" Type="http://schemas.openxmlformats.org/officeDocument/2006/relationships/hyperlink" Target="http://mathworld.wolfram.com/LeastSquaresFitting.html" TargetMode="External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47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9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54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54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54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4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4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57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57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2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6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3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8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6.xml"/><Relationship Id="rId3" Type="http://schemas.openxmlformats.org/officeDocument/2006/relationships/hyperlink" Target="mailto:flavio@dcc.ufmg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/>
        </p:nvSpPr>
        <p:spPr>
          <a:xfrm>
            <a:off x="311700" y="1841975"/>
            <a:ext cx="85206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Montserrat SemiBold"/>
                <a:ea typeface="Montserrat SemiBold"/>
                <a:cs typeface="Montserrat SemiBold"/>
                <a:sym typeface="Montserrat SemiBold"/>
              </a:rPr>
              <a:t>Verossimilhança</a:t>
            </a:r>
            <a:endParaRPr sz="2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24" name="Google Shape;124;p2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Você já parou para pensar?!</a:t>
            </a:r>
            <a:endParaRPr/>
          </a:p>
        </p:txBody>
      </p:sp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que as estatísticas se ligam com as distribuições teóricas?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Por exemplo, qual o motivo da Normal ser estimada via a média e variância?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Ou, outro exemplo, a Bernoulli ter seu parâmetro aproximado pela média?</a:t>
            </a:r>
            <a:endParaRPr/>
          </a:p>
        </p:txBody>
      </p:sp>
      <p:pic>
        <p:nvPicPr>
          <p:cNvPr descr="X \sim Normal(\mu, \sigma^2) \\&#10;\mu \approx \bar{x} \quad&#10;\sigma² \approx s^2" id="126" name="Google Shape;126;p2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775" y="2182036"/>
            <a:ext cx="2370900" cy="779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\sim Bernoulli(\theta) \\&#10;\theta \approx \bar{x}" id="127" name="Google Shape;127;p2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75" y="2254215"/>
            <a:ext cx="2114938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Você já parou para pensar?!</a:t>
            </a:r>
            <a:endParaRPr/>
          </a:p>
        </p:txBody>
      </p:sp>
      <p:sp>
        <p:nvSpPr>
          <p:cNvPr id="134" name="Google Shape;134;p2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que as estatísticas se ligam com as distribuições teóricas?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Por exemplo, qual o motivo da Normal ser estimada via a média e variância?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Ou, outro exemplo, a Bernoulli ter seu parâmetro aproximado pela média?</a:t>
            </a:r>
            <a:endParaRPr/>
          </a:p>
        </p:txBody>
      </p:sp>
      <p:pic>
        <p:nvPicPr>
          <p:cNvPr descr="X \sim Normal(\mu, \sigma^2) \\&#10;\mu \approx \bar{x} \quad&#10;\sigma² \approx s^2" id="135" name="Google Shape;135;p2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775" y="2182036"/>
            <a:ext cx="2370900" cy="77943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8"/>
          <p:cNvSpPr/>
          <p:nvPr/>
        </p:nvSpPr>
        <p:spPr>
          <a:xfrm>
            <a:off x="835800" y="3280325"/>
            <a:ext cx="7911000" cy="105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Como ligar a teoria com os dados?</a:t>
            </a:r>
            <a:endParaRPr sz="17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7791325" y="2961475"/>
            <a:ext cx="8892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pt-BR" sz="6200">
                <a:solidFill>
                  <a:schemeClr val="dk1"/>
                </a:solidFill>
              </a:rPr>
              <a:t>🤔</a:t>
            </a:r>
            <a:endParaRPr b="1" sz="6200">
              <a:solidFill>
                <a:schemeClr val="dk1"/>
              </a:solidFill>
            </a:endParaRPr>
          </a:p>
        </p:txBody>
      </p:sp>
      <p:pic>
        <p:nvPicPr>
          <p:cNvPr descr="X \sim Bernoulli(\theta) \\&#10;\theta \approx \bar{x}" id="138" name="Google Shape;138;p28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75" y="2254215"/>
            <a:ext cx="2114938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Máxima Verossimilhança</a:t>
            </a:r>
            <a:endParaRPr/>
          </a:p>
        </p:txBody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 \sim Normal(\mu, \sigma^2) \\&#10;\mu \approx \bar{x} \quad&#10;\sigma² \approx s^2" id="145" name="Google Shape;145;p29" title="MathEquation,#000000"/>
          <p:cNvPicPr preferRelativeResize="0"/>
          <p:nvPr/>
        </p:nvPicPr>
        <p:blipFill rotWithShape="1">
          <a:blip r:embed="rId3">
            <a:alphaModFix/>
          </a:blip>
          <a:srcRect b="49503" l="0" r="0" t="0"/>
          <a:stretch/>
        </p:blipFill>
        <p:spPr>
          <a:xfrm>
            <a:off x="4305800" y="2915231"/>
            <a:ext cx="23709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9"/>
          <p:cNvSpPr txBox="1"/>
          <p:nvPr/>
        </p:nvSpPr>
        <p:spPr>
          <a:xfrm>
            <a:off x="794100" y="1764775"/>
            <a:ext cx="83499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Os termos abaixos são modelos! isso é uma das belezas da estatística! Liga com computação.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nós também queremos modelar o mundo (abstrair)!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descr="X \sim Bernoulli(\theta) \\&#10;\theta \approx \bar{x}" id="147" name="Google Shape;147;p29" title="MathEquation,#000000"/>
          <p:cNvPicPr preferRelativeResize="0"/>
          <p:nvPr/>
        </p:nvPicPr>
        <p:blipFill rotWithShape="1">
          <a:blip r:embed="rId4">
            <a:alphaModFix/>
          </a:blip>
          <a:srcRect b="49625" l="0" r="0" t="0"/>
          <a:stretch/>
        </p:blipFill>
        <p:spPr>
          <a:xfrm>
            <a:off x="1417800" y="2915220"/>
            <a:ext cx="2114950" cy="3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Máxima Verossimilhança</a:t>
            </a:r>
            <a:endParaRPr/>
          </a:p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Para variar, a teoria da Máxima Verossimilhança foi desenvolvida por Fisher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 \sim Normal(\mu, \sigma^2) \\&#10;\mu \approx \bar{x} \quad&#10;\sigma² \approx s^2" id="155" name="Google Shape;155;p30" title="MathEquation,#000000"/>
          <p:cNvPicPr preferRelativeResize="0"/>
          <p:nvPr/>
        </p:nvPicPr>
        <p:blipFill rotWithShape="1">
          <a:blip r:embed="rId3">
            <a:alphaModFix/>
          </a:blip>
          <a:srcRect b="49503" l="0" r="0" t="0"/>
          <a:stretch/>
        </p:blipFill>
        <p:spPr>
          <a:xfrm>
            <a:off x="3386550" y="3867331"/>
            <a:ext cx="23709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\sim Bernoulli(\theta) \\&#10;p \approx \bar{x}" id="156" name="Google Shape;156;p30" title="MathEquation,#000000"/>
          <p:cNvPicPr preferRelativeResize="0"/>
          <p:nvPr/>
        </p:nvPicPr>
        <p:blipFill rotWithShape="1">
          <a:blip r:embed="rId4">
            <a:alphaModFix/>
          </a:blip>
          <a:srcRect b="47671" l="0" r="0" t="0"/>
          <a:stretch/>
        </p:blipFill>
        <p:spPr>
          <a:xfrm>
            <a:off x="573375" y="3895250"/>
            <a:ext cx="2073700" cy="3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Máxima</a:t>
            </a:r>
            <a:r>
              <a:rPr lang="pt-BR"/>
              <a:t> Verossimilhança</a:t>
            </a:r>
            <a:endParaRPr/>
          </a:p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Para variar, a teoria da Máxima Verossimilhança foi desenvolvida por Fisher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Ao ser enfrentado por problemas de entender dados 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Fisher teve uma brilhante ideia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O mesmo pensou, como maximizar a CHANCE dos dados para o modelo!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 \sim Normal(\mu, \sigma^2) \\&#10;\mu \approx \bar{x} \quad&#10;\sigma² \approx s^2" id="164" name="Google Shape;164;p31" title="MathEquation,#000000"/>
          <p:cNvPicPr preferRelativeResize="0"/>
          <p:nvPr/>
        </p:nvPicPr>
        <p:blipFill rotWithShape="1">
          <a:blip r:embed="rId3">
            <a:alphaModFix/>
          </a:blip>
          <a:srcRect b="49503" l="0" r="0" t="0"/>
          <a:stretch/>
        </p:blipFill>
        <p:spPr>
          <a:xfrm>
            <a:off x="3386550" y="3867331"/>
            <a:ext cx="23709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\sim Bernoulli(\theta) \\&#10;p \approx \bar{x}" id="165" name="Google Shape;165;p31" title="MathEquation,#000000"/>
          <p:cNvPicPr preferRelativeResize="0"/>
          <p:nvPr/>
        </p:nvPicPr>
        <p:blipFill rotWithShape="1">
          <a:blip r:embed="rId4">
            <a:alphaModFix/>
          </a:blip>
          <a:srcRect b="47671" l="0" r="0" t="0"/>
          <a:stretch/>
        </p:blipFill>
        <p:spPr>
          <a:xfrm>
            <a:off x="573375" y="3895250"/>
            <a:ext cx="2073700" cy="3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Máxima Verossimilhança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Para variar, a teoria da Máxima Verossimilhança foi desenvolvida por Fisher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Ao ser enfrentado por problemas de entender dados 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Fisher teve uma brilhante ideia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O mesmo pensou, como maximizar a CHANCE dos dados para o modelo!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Observe como os modelos abaixos JÁ capturam CHANCE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Via a função PDF!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3" name="Google Shape;1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475" y="2571748"/>
            <a:ext cx="2427825" cy="182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\sim Bernoulli(\theta) \\&#10;p \approx \bar{x}" id="174" name="Google Shape;174;p32" title="MathEquation,#000000"/>
          <p:cNvPicPr preferRelativeResize="0"/>
          <p:nvPr/>
        </p:nvPicPr>
        <p:blipFill rotWithShape="1">
          <a:blip r:embed="rId4">
            <a:alphaModFix/>
          </a:blip>
          <a:srcRect b="47671" l="0" r="0" t="0"/>
          <a:stretch/>
        </p:blipFill>
        <p:spPr>
          <a:xfrm>
            <a:off x="573375" y="3895250"/>
            <a:ext cx="2073700" cy="33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\sim Normal(\mu, \sigma^2) \\&#10;\mu \approx \bar{x} \quad&#10;\sigma² \approx s^2" id="175" name="Google Shape;175;p32" title="MathEquation,#000000"/>
          <p:cNvPicPr preferRelativeResize="0"/>
          <p:nvPr/>
        </p:nvPicPr>
        <p:blipFill rotWithShape="1">
          <a:blip r:embed="rId5">
            <a:alphaModFix/>
          </a:blip>
          <a:srcRect b="49503" l="0" r="0" t="0"/>
          <a:stretch/>
        </p:blipFill>
        <p:spPr>
          <a:xfrm>
            <a:off x="3386550" y="3867331"/>
            <a:ext cx="237090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Máxima Verossimilhança</a:t>
            </a:r>
            <a:endParaRPr/>
          </a:p>
        </p:txBody>
      </p:sp>
      <p:sp>
        <p:nvSpPr>
          <p:cNvPr id="181" name="Google Shape;18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estimar os parâmetros de qualquer modelo probabilístico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Imagine o seguinte caso, estamos observando variáveis categóricas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1 = Curado, 0 = Não Curado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modelar estes dados com uma Bernoulli</a:t>
            </a:r>
            <a:br>
              <a:rPr lang="pt-BR"/>
            </a:br>
            <a:r>
              <a:rPr lang="pt-BR"/>
              <a:t>(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https://en.wikipedia.org/wiki/Bernoulli_distribution</a:t>
            </a:r>
            <a:r>
              <a:rPr lang="pt-BR"/>
              <a:t>)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Máxima Verossimilhança</a:t>
            </a:r>
            <a:endParaRPr/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Ao falar que um dados </a:t>
            </a:r>
            <a:r>
              <a:rPr b="1" lang="pt-BR"/>
              <a:t>ponto</a:t>
            </a:r>
            <a:r>
              <a:rPr lang="pt-BR"/>
              <a:t> veio de uma Bernoulli existe uma função de densidade associada ao mesmo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como a função de densidade depende do parâmetro. Durante aulas passadas falamos que o parâmetro é a média. Qual o motivo?</a:t>
            </a:r>
            <a:endParaRPr/>
          </a:p>
        </p:txBody>
      </p:sp>
      <p:sp>
        <p:nvSpPr>
          <p:cNvPr id="189" name="Google Shape;18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_i \sim Bernoulli(\theta) \\&#10;p(x_i \mid \theta) = \theta^{x_i} (1-\theta)^{1-x_i}" id="190" name="Google Shape;190;p3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932" y="1771650"/>
            <a:ext cx="3168712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Máxima Verossimilhança</a:t>
            </a:r>
            <a:endParaRPr/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Ao falar que um dados </a:t>
            </a:r>
            <a:r>
              <a:rPr b="1" lang="pt-BR"/>
              <a:t>ponto</a:t>
            </a:r>
            <a:r>
              <a:rPr lang="pt-BR"/>
              <a:t> veio de uma Bernoulli existe uma função de densidade associada ao mesmo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como a função de densidade depende do parâmetro. Durante aulas passadas falamos que o parâmetro é a média. Qual o motivo?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REFLITA MUITO BEM NA LEITURA DA FUNÇÃO ACIMA!</a:t>
            </a:r>
            <a:endParaRPr/>
          </a:p>
        </p:txBody>
      </p:sp>
      <p:sp>
        <p:nvSpPr>
          <p:cNvPr id="197" name="Google Shape;19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_i \sim Bernoulli(\theta) \\&#10;p(x_i \mid \theta) = \theta^{x_i} (1-\theta)^{1-x_i}" id="198" name="Google Shape;198;p3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932" y="1771650"/>
            <a:ext cx="3168712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Máxima Verossimilhança</a:t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Ao falar que um dados </a:t>
            </a:r>
            <a:r>
              <a:rPr b="1" lang="pt-BR"/>
              <a:t>ponto</a:t>
            </a:r>
            <a:r>
              <a:rPr lang="pt-BR"/>
              <a:t> veio de uma Bernoulli existe uma função de densidade associada ao mesmo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como a função de densidade depende do parâmetro. Durante aulas passadas falamos que o parâmetro é a média. Qual o motivo?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REFLITA MUITO BEM NA LEITURA DA FUNÇÃO ACIMA!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a probabilidade do ponto xi</a:t>
            </a:r>
            <a:endParaRPr/>
          </a:p>
        </p:txBody>
      </p:sp>
      <p:sp>
        <p:nvSpPr>
          <p:cNvPr id="205" name="Google Shape;20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_i \sim Bernoulli(\theta) \\&#10;p(x_i \mid \theta) = \theta^{x_i} (1-\theta)^{1-x_i}" id="206" name="Google Shape;206;p3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932" y="1771650"/>
            <a:ext cx="3168712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6"/>
          <p:cNvSpPr/>
          <p:nvPr/>
        </p:nvSpPr>
        <p:spPr>
          <a:xfrm rot="-8097413">
            <a:off x="1350773" y="255676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Máxima Verossimilhança</a:t>
            </a:r>
            <a:endParaRPr/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Ao falar que um dados </a:t>
            </a:r>
            <a:r>
              <a:rPr b="1" lang="pt-BR"/>
              <a:t>ponto</a:t>
            </a:r>
            <a:r>
              <a:rPr lang="pt-BR"/>
              <a:t> veio de uma Bernoulli existe uma função de densidade associada ao mesmo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como a função de densidade depende do parâmetro. Durante aulas passadas falamos que o parâmetro é a média. Qual o motivo?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REFLITA MUITO BEM NA LEITURA DA FUNÇÃO ACIMA!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a probabilidade do ponto xi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CONDICIONADO (Bayes) em um parâmetro</a:t>
            </a:r>
            <a:endParaRPr/>
          </a:p>
        </p:txBody>
      </p:sp>
      <p:sp>
        <p:nvSpPr>
          <p:cNvPr id="214" name="Google Shape;21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_i \sim Bernoulli(\theta) \\&#10;p(x_i \mid \theta) = \theta^{x_i} (1-\theta)^{1-x_i}" id="215" name="Google Shape;215;p3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932" y="1771650"/>
            <a:ext cx="3168712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7"/>
          <p:cNvSpPr/>
          <p:nvPr/>
        </p:nvSpPr>
        <p:spPr>
          <a:xfrm rot="-8097413">
            <a:off x="1695198" y="255676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Bernoulli</a:t>
            </a:r>
            <a:endParaRPr/>
          </a:p>
        </p:txBody>
      </p:sp>
      <p:sp>
        <p:nvSpPr>
          <p:cNvPr id="222" name="Google Shape;22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Quando xi é 1, a probabilidade é de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Θ</a:t>
            </a:r>
            <a:r>
              <a:rPr lang="pt-BR"/>
              <a:t>.</a:t>
            </a:r>
            <a:br>
              <a:rPr lang="pt-BR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rnoulli(\theta) \\&#10;p(x_i \mid \theta) = \theta^{x_i} (1-\theta)^{1-x_i}" id="224" name="Google Shape;224;p3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157" y="1916100"/>
            <a:ext cx="3168712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Bernoulli</a:t>
            </a:r>
            <a:endParaRPr/>
          </a:p>
        </p:txBody>
      </p:sp>
      <p:sp>
        <p:nvSpPr>
          <p:cNvPr id="230" name="Google Shape;23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Quando xi é 1, a probabilidade é de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Θ</a:t>
            </a:r>
            <a:r>
              <a:rPr lang="pt-BR">
                <a:solidFill>
                  <a:schemeClr val="dk1"/>
                </a:solidFill>
              </a:rPr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como o termo da esquerda é cancelado!</a:t>
            </a:r>
            <a:br>
              <a:rPr lang="pt-BR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rnoulli(\theta) \\&#10;p(x_i \mid \theta) = \theta^{x_i} (1-\theta)^{1-x_i}" id="232" name="Google Shape;232;p3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157" y="1916100"/>
            <a:ext cx="3168712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9"/>
          <p:cNvSpPr/>
          <p:nvPr/>
        </p:nvSpPr>
        <p:spPr>
          <a:xfrm>
            <a:off x="2724850" y="2374875"/>
            <a:ext cx="1371900" cy="34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Bernoulli</a:t>
            </a:r>
            <a:endParaRPr/>
          </a:p>
        </p:txBody>
      </p:sp>
      <p:sp>
        <p:nvSpPr>
          <p:cNvPr id="239" name="Google Shape;23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Quando xi é 1, a probabilidade é de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Θ</a:t>
            </a:r>
            <a:r>
              <a:rPr lang="pt-BR">
                <a:solidFill>
                  <a:schemeClr val="dk1"/>
                </a:solidFill>
              </a:rPr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como o termo da esquerda é cancelado!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Quando xi é 0, a probabilidade é de 1-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Θ</a:t>
            </a:r>
            <a:r>
              <a:rPr lang="pt-BR">
                <a:solidFill>
                  <a:schemeClr val="dk1"/>
                </a:solidFill>
              </a:rPr>
              <a:t>.</a:t>
            </a:r>
            <a:br>
              <a:rPr lang="pt-BR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rnoulli(\theta) \\&#10;p(x_i \mid \theta) = \theta^{x_i} (1-\theta)^{1-x_i}" id="241" name="Google Shape;241;p4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157" y="1916100"/>
            <a:ext cx="3168712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0"/>
          <p:cNvSpPr/>
          <p:nvPr/>
        </p:nvSpPr>
        <p:spPr>
          <a:xfrm>
            <a:off x="2724850" y="2374875"/>
            <a:ext cx="1371900" cy="34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Bernoulli</a:t>
            </a:r>
            <a:endParaRPr/>
          </a:p>
        </p:txBody>
      </p:sp>
      <p:sp>
        <p:nvSpPr>
          <p:cNvPr id="248" name="Google Shape;24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9" name="Google Shape;249;p4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Quando xi é 1, a probabilidade é de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Θ</a:t>
            </a:r>
            <a:r>
              <a:rPr lang="pt-BR">
                <a:solidFill>
                  <a:schemeClr val="dk1"/>
                </a:solidFill>
              </a:rPr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como o termo da esquerda é cancelado!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Quando xi é 0, a probabilidade é de 1-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Θ</a:t>
            </a:r>
            <a:r>
              <a:rPr lang="pt-BR">
                <a:solidFill>
                  <a:schemeClr val="dk1"/>
                </a:solidFill>
              </a:rPr>
              <a:t>.</a:t>
            </a:r>
            <a:br>
              <a:rPr lang="pt-BR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rnoulli(\theta) \\&#10;p(x_i \mid \theta) = \theta^{x_i} (1-\theta)^{1-x_i}" id="250" name="Google Shape;250;p4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157" y="1916100"/>
            <a:ext cx="3168712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1"/>
          <p:cNvSpPr/>
          <p:nvPr/>
        </p:nvSpPr>
        <p:spPr>
          <a:xfrm>
            <a:off x="2334750" y="2398350"/>
            <a:ext cx="355500" cy="34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1"/>
          <p:cNvSpPr txBox="1"/>
          <p:nvPr/>
        </p:nvSpPr>
        <p:spPr>
          <a:xfrm>
            <a:off x="4112100" y="2178150"/>
            <a:ext cx="919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1-0 = 1</a:t>
            </a:r>
            <a:endParaRPr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br>
              <a:rPr lang="pt-BR">
                <a:solidFill>
                  <a:schemeClr val="dk1"/>
                </a:solidFill>
              </a:rPr>
            </a:br>
            <a:br>
              <a:rPr lang="pt-BR">
                <a:solidFill>
                  <a:schemeClr val="dk1"/>
                </a:solidFill>
              </a:rPr>
            </a:b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Aqui estamos dizendo que a variável aleatória associada aos dados segue uma Bernoulli. Pense um pouco no significado disto.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 \sim Bernoulli(\theta) \\&#10;\theta \approx \bar{x}" id="260" name="Google Shape;260;p42" title="MathEquation,#000000"/>
          <p:cNvPicPr preferRelativeResize="0"/>
          <p:nvPr/>
        </p:nvPicPr>
        <p:blipFill rotWithShape="1">
          <a:blip r:embed="rId3">
            <a:alphaModFix/>
          </a:blip>
          <a:srcRect b="48781" l="0" r="0" t="0"/>
          <a:stretch/>
        </p:blipFill>
        <p:spPr>
          <a:xfrm>
            <a:off x="828925" y="1876470"/>
            <a:ext cx="2114950" cy="33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br>
              <a:rPr lang="pt-BR">
                <a:solidFill>
                  <a:schemeClr val="dk1"/>
                </a:solidFill>
              </a:rPr>
            </a:br>
            <a:br>
              <a:rPr lang="pt-BR">
                <a:solidFill>
                  <a:schemeClr val="dk1"/>
                </a:solidFill>
              </a:rPr>
            </a:b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Aqui estamos dizendo que a variável aleatória associada aos dados segue uma Bernoulli. Pense um pouco no significado disto.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7" name="Google Shape;26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 \sim Bernoulli(\theta) \\&#10;\theta \approx \bar{x}" id="268" name="Google Shape;268;p43" title="MathEquation,#000000"/>
          <p:cNvPicPr preferRelativeResize="0"/>
          <p:nvPr/>
        </p:nvPicPr>
        <p:blipFill rotWithShape="1">
          <a:blip r:embed="rId3">
            <a:alphaModFix/>
          </a:blip>
          <a:srcRect b="48781" l="0" r="0" t="0"/>
          <a:stretch/>
        </p:blipFill>
        <p:spPr>
          <a:xfrm>
            <a:off x="828925" y="1876470"/>
            <a:ext cx="2114950" cy="33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</a:t>
            </a:r>
            <a:endParaRPr/>
          </a:p>
        </p:txBody>
      </p:sp>
      <p:sp>
        <p:nvSpPr>
          <p:cNvPr id="274" name="Google Shape;274;p4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Modelo estatístico: um conjunto de hipóteses que se supõem válidas para a distribuição de probabilidades das variáveis aleatórias medidas na amostra.</a:t>
            </a:r>
            <a:endParaRPr/>
          </a:p>
        </p:txBody>
      </p:sp>
      <p:sp>
        <p:nvSpPr>
          <p:cNvPr id="275" name="Google Shape;27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</a:t>
            </a:r>
            <a:endParaRPr/>
          </a:p>
        </p:txBody>
      </p:sp>
      <p:sp>
        <p:nvSpPr>
          <p:cNvPr id="281" name="Google Shape;281;p4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estatístico: um conjunto de hipóteses que se supõem válidas para a distribuição de probabilidades das variáveis aleatórias medidas na amostra.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Lembre-se dos nossos testes de hipóteses</a:t>
            </a:r>
            <a:endParaRPr/>
          </a:p>
        </p:txBody>
      </p:sp>
      <p:sp>
        <p:nvSpPr>
          <p:cNvPr id="282" name="Google Shape;28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</a:t>
            </a:r>
            <a:endParaRPr/>
          </a:p>
        </p:txBody>
      </p:sp>
      <p:sp>
        <p:nvSpPr>
          <p:cNvPr id="288" name="Google Shape;288;p4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estatístico: um conjunto de hipóteses que se supõem válidas para a distribuição de probabilidades das variáveis aleatórias medidas na amostra.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Lembre-se dos nossos testes de hipóteses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Cada hipótese nula era um modelo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Ao verificar a probabilidade da estatística observada, verificamos o quão verossímil são os dados para o modelo (probabilidade do valor observado)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Mesma ideia aqui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Porém não vamos usar para verificar hipóteses nulas</a:t>
            </a:r>
            <a:endParaRPr/>
          </a:p>
        </p:txBody>
      </p:sp>
      <p:sp>
        <p:nvSpPr>
          <p:cNvPr id="289" name="Google Shape;28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</a:t>
            </a:r>
            <a:endParaRPr/>
          </a:p>
        </p:txBody>
      </p:sp>
      <p:sp>
        <p:nvSpPr>
          <p:cNvPr id="295" name="Google Shape;295;p4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estatístico: um conjunto de hipóteses que se supõem válidas para a distribuição de probabilidades das variáveis aleatórias medidas na amostra.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Lembre-se dos nossos testes de hipóteses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aqui estamos falando de modelos paramétricos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Assumimos que o erro é uma normal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Assumimos uma função de densidade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modelo não paramétrico não assume uma função de densidade</a:t>
            </a:r>
            <a:endParaRPr/>
          </a:p>
        </p:txBody>
      </p:sp>
      <p:sp>
        <p:nvSpPr>
          <p:cNvPr id="296" name="Google Shape;29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p47"/>
          <p:cNvSpPr/>
          <p:nvPr/>
        </p:nvSpPr>
        <p:spPr>
          <a:xfrm>
            <a:off x="616500" y="3746975"/>
            <a:ext cx="7911000" cy="105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Eu estou assumindo que os dados vão ser modelados pela </a:t>
            </a:r>
            <a:r>
              <a:rPr b="1" lang="pt-BR" sz="1700">
                <a:latin typeface="Roboto"/>
                <a:ea typeface="Roboto"/>
                <a:cs typeface="Roboto"/>
                <a:sym typeface="Roboto"/>
              </a:rPr>
              <a:t>Bernoulli</a:t>
            </a: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!</a:t>
            </a:r>
            <a:endParaRPr sz="17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</a:t>
            </a:r>
            <a:r>
              <a:rPr lang="pt-BR">
                <a:solidFill>
                  <a:schemeClr val="dk1"/>
                </a:solidFill>
              </a:rPr>
              <a:t>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" name="Google Shape;30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" id="305" name="Google Shape;305;p4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950" y="2644325"/>
            <a:ext cx="242411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11" name="Google Shape;311;p4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2" name="Google Shape;31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" id="313" name="Google Shape;313;p4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950" y="2644325"/>
            <a:ext cx="242411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9"/>
          <p:cNvSpPr/>
          <p:nvPr/>
        </p:nvSpPr>
        <p:spPr>
          <a:xfrm rot="-8097413">
            <a:off x="1584098" y="3280044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9"/>
          <p:cNvSpPr txBox="1"/>
          <p:nvPr/>
        </p:nvSpPr>
        <p:spPr>
          <a:xfrm>
            <a:off x="482400" y="3820250"/>
            <a:ext cx="83499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Probabilidade de x1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16" name="Google Shape;316;p49"/>
          <p:cNvSpPr/>
          <p:nvPr/>
        </p:nvSpPr>
        <p:spPr>
          <a:xfrm rot="8102587">
            <a:off x="2772623" y="19801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22" name="Google Shape;322;p5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3" name="Google Shape;32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" id="324" name="Google Shape;324;p5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950" y="2644325"/>
            <a:ext cx="242411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0"/>
          <p:cNvSpPr/>
          <p:nvPr/>
        </p:nvSpPr>
        <p:spPr>
          <a:xfrm rot="-8097413">
            <a:off x="2272973" y="3235594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0"/>
          <p:cNvSpPr txBox="1"/>
          <p:nvPr/>
        </p:nvSpPr>
        <p:spPr>
          <a:xfrm>
            <a:off x="482400" y="3820250"/>
            <a:ext cx="83499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Probabilidade de x1 e x2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27" name="Google Shape;327;p50"/>
          <p:cNvSpPr/>
          <p:nvPr/>
        </p:nvSpPr>
        <p:spPr>
          <a:xfrm rot="8102587">
            <a:off x="2772623" y="19801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33" name="Google Shape;333;p5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4" name="Google Shape;33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" id="335" name="Google Shape;335;p5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950" y="2644325"/>
            <a:ext cx="242411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1"/>
          <p:cNvSpPr/>
          <p:nvPr/>
        </p:nvSpPr>
        <p:spPr>
          <a:xfrm rot="-8097413">
            <a:off x="2994848" y="31356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1"/>
          <p:cNvSpPr txBox="1"/>
          <p:nvPr/>
        </p:nvSpPr>
        <p:spPr>
          <a:xfrm>
            <a:off x="482400" y="3820250"/>
            <a:ext cx="83499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Probabilidade de x1 e x2 no nosso modelo</a:t>
            </a:r>
            <a:b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</a:b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(condicionado em theta)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38" name="Google Shape;338;p51"/>
          <p:cNvSpPr/>
          <p:nvPr/>
        </p:nvSpPr>
        <p:spPr>
          <a:xfrm rot="8102587">
            <a:off x="2772623" y="19801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44" name="Google Shape;344;p5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5" name="Google Shape;34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" id="346" name="Google Shape;346;p5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950" y="2644325"/>
            <a:ext cx="242411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2"/>
          <p:cNvSpPr/>
          <p:nvPr/>
        </p:nvSpPr>
        <p:spPr>
          <a:xfrm rot="-8097413">
            <a:off x="2994848" y="31356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2"/>
          <p:cNvSpPr txBox="1"/>
          <p:nvPr/>
        </p:nvSpPr>
        <p:spPr>
          <a:xfrm>
            <a:off x="482400" y="3820250"/>
            <a:ext cx="83499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UÉ?! MAS X1 E X2 SÃO INDEPENDENTES: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eNTÃO -&gt; p(X1, X2) = p(X1) p(X2).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O MESMO VALE NO MODELO!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349" name="Google Shape;349;p52"/>
          <p:cNvSpPr/>
          <p:nvPr/>
        </p:nvSpPr>
        <p:spPr>
          <a:xfrm rot="8102587">
            <a:off x="2772623" y="19801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55" name="Google Shape;355;p5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6" name="Google Shape;35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 = p(x_1 \mid \theta) p(x_2 \mid \theta)" id="357" name="Google Shape;357;p5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500" y="2689780"/>
            <a:ext cx="6439436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3"/>
          <p:cNvSpPr/>
          <p:nvPr/>
        </p:nvSpPr>
        <p:spPr>
          <a:xfrm rot="8102587">
            <a:off x="2772623" y="19801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64" name="Google Shape;364;p5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5" name="Google Shape;36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 = p(x_1 \mid \theta) p(x_2 \mid \theta) \\&#10;p(x_i \mid \theta) =  \theta^{x_i} (1-\theta)^{1-x_i}" id="366" name="Google Shape;366;p5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896" y="2623124"/>
            <a:ext cx="456557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4"/>
          <p:cNvSpPr/>
          <p:nvPr/>
        </p:nvSpPr>
        <p:spPr>
          <a:xfrm rot="8102587">
            <a:off x="2772623" y="19801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4"/>
          <p:cNvSpPr txBox="1"/>
          <p:nvPr/>
        </p:nvSpPr>
        <p:spPr>
          <a:xfrm>
            <a:off x="4482975" y="3053625"/>
            <a:ext cx="29388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plugando a densidade!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74" name="Google Shape;374;p5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5" name="Google Shape;37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 = p(x_1 \mid \theta) p(x_2 \mid \theta) \\&#10;p(x_i \mid \theta) =  \theta^{x_i} (1-\theta)^{1-x_i} \\&#10;p(x_1, x_2 \mid \theta) = \theta^{x_1} (1-\theta)^{1-x_1} \theta^{x_2} (1-\theta)^{1-x_2}" id="376" name="Google Shape;376;p5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825" y="2712000"/>
            <a:ext cx="5742300" cy="13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5"/>
          <p:cNvSpPr/>
          <p:nvPr/>
        </p:nvSpPr>
        <p:spPr>
          <a:xfrm rot="8102587">
            <a:off x="2772623" y="19801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5"/>
          <p:cNvSpPr txBox="1"/>
          <p:nvPr/>
        </p:nvSpPr>
        <p:spPr>
          <a:xfrm>
            <a:off x="2627525" y="4142450"/>
            <a:ext cx="29388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P(X1) * P(X2) ACIMA!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84" name="Google Shape;384;p5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5" name="Google Shape;38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 = p(x_1 \mid \theta) p(x_2 \mid \theta) \\&#10;p(x_i \mid \theta) =  \theta^{x_i} (1-\theta)^{1-x_i} \\&#10;p(x_1, x_2 \mid \theta) = \theta^{x_1} (1-\theta)^{1-x_1} \theta^{x_2} (1-\theta)^{1-x_2} \\&#10;p(x_1, x_2 \mid \theta) = \theta^{1} (1-\theta)^{1-1} \theta^{0} (1-\theta)^{1-0}" id="386" name="Google Shape;386;p5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99" y="2645325"/>
            <a:ext cx="5606526" cy="17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6"/>
          <p:cNvSpPr/>
          <p:nvPr/>
        </p:nvSpPr>
        <p:spPr>
          <a:xfrm rot="8102587">
            <a:off x="2772623" y="19801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6"/>
          <p:cNvSpPr txBox="1"/>
          <p:nvPr/>
        </p:nvSpPr>
        <p:spPr>
          <a:xfrm>
            <a:off x="2660850" y="4508350"/>
            <a:ext cx="29388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PLUGANDO X1 E X2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Pensando no Conjunto de Dados</a:t>
            </a:r>
            <a:endParaRPr/>
          </a:p>
        </p:txBody>
      </p:sp>
      <p:sp>
        <p:nvSpPr>
          <p:cNvPr id="394" name="Google Shape;394;p5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Pessoas onde um remédio teve algum efeito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CADA ponto é </a:t>
            </a:r>
            <a:r>
              <a:rPr b="1" lang="pt-BR">
                <a:solidFill>
                  <a:schemeClr val="dk1"/>
                </a:solidFill>
              </a:rPr>
              <a:t>Independente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Identicamente Distribuído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IID!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 X fosse: X = {1, 0}, qual seria?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5" name="Google Shape;395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x_1, x_2 \mid \theta) = p(x_1 \mid \theta) p(x_2 \mid \theta) \\&#10;p(x_i \mid \theta) =  \theta^{x_i} (1-\theta)^{1-x_i} \\&#10;p(x_1, x_2 \mid \theta) = \theta^{x_1} (1-\theta)^{1-x_1} \theta^{x_2} (1-\theta)^{1-x_2} \\&#10;p(x_1, x_2 \mid \theta) = \theta^{1} (1-\theta)^{1-1} \theta^{0} (1-\theta)^{1-0} \\&#10;p(x_1, x_2 \mid \theta) = \theta^{1} (1-\theta)^{1-0}" id="396" name="Google Shape;396;p5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26" y="2654400"/>
            <a:ext cx="5085600" cy="200881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7"/>
          <p:cNvSpPr/>
          <p:nvPr/>
        </p:nvSpPr>
        <p:spPr>
          <a:xfrm rot="8102587">
            <a:off x="2772623" y="198011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7"/>
          <p:cNvSpPr txBox="1"/>
          <p:nvPr/>
        </p:nvSpPr>
        <p:spPr>
          <a:xfrm>
            <a:off x="5960675" y="3286175"/>
            <a:ext cx="29388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removendo os os elevados a zero.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Observe a Função de Verossimilhança</a:t>
            </a:r>
            <a:endParaRPr/>
          </a:p>
        </p:txBody>
      </p:sp>
      <p:sp>
        <p:nvSpPr>
          <p:cNvPr id="404" name="Google Shape;40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 = \{1, 0\}\\&#10;p(x_1, x_2 \mid \theta) = \theta(1-\theta)" id="405" name="Google Shape;405;p5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6" y="1111050"/>
            <a:ext cx="3052724" cy="8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5050" y="1998825"/>
            <a:ext cx="4614191" cy="31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Observe a Função de Verossimilhança</a:t>
            </a:r>
            <a:endParaRPr/>
          </a:p>
        </p:txBody>
      </p:sp>
      <p:sp>
        <p:nvSpPr>
          <p:cNvPr id="412" name="Google Shape;41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 = \{1, 0\}\\&#10;p(x_1, x_2 \mid \theta) = \theta(1-\theta)" id="413" name="Google Shape;413;p5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6" y="1111050"/>
            <a:ext cx="3052724" cy="8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5050" y="1998825"/>
            <a:ext cx="4614191" cy="3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9"/>
          <p:cNvSpPr/>
          <p:nvPr/>
        </p:nvSpPr>
        <p:spPr>
          <a:xfrm rot="8102587">
            <a:off x="6450223" y="444666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9"/>
          <p:cNvSpPr txBox="1"/>
          <p:nvPr/>
        </p:nvSpPr>
        <p:spPr>
          <a:xfrm>
            <a:off x="6005150" y="1998825"/>
            <a:ext cx="29388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se theta=1?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Observe a Função de Verossimilhança</a:t>
            </a:r>
            <a:endParaRPr/>
          </a:p>
        </p:txBody>
      </p:sp>
      <p:sp>
        <p:nvSpPr>
          <p:cNvPr id="422" name="Google Shape;42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 = \{1, 0\}\\&#10;p(x_1, x_2 \mid \theta) = \theta(1-\theta)" id="423" name="Google Shape;423;p6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6" y="1111050"/>
            <a:ext cx="3052724" cy="8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5050" y="1998825"/>
            <a:ext cx="4614191" cy="3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60"/>
          <p:cNvSpPr/>
          <p:nvPr/>
        </p:nvSpPr>
        <p:spPr>
          <a:xfrm rot="8102587">
            <a:off x="2572648" y="444666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60"/>
          <p:cNvSpPr txBox="1"/>
          <p:nvPr/>
        </p:nvSpPr>
        <p:spPr>
          <a:xfrm>
            <a:off x="6005150" y="1998825"/>
            <a:ext cx="29388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pouco verossímil com os dados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Observe a Função de Verossimilhança</a:t>
            </a:r>
            <a:endParaRPr/>
          </a:p>
        </p:txBody>
      </p:sp>
      <p:sp>
        <p:nvSpPr>
          <p:cNvPr id="432" name="Google Shape;43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 = \{1, 0\}\\&#10;p(x_1, x_2 \mid \theta) = \theta(1-\theta)" id="433" name="Google Shape;433;p6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6" y="1111050"/>
            <a:ext cx="3052724" cy="8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5050" y="1998825"/>
            <a:ext cx="4614191" cy="3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1"/>
          <p:cNvSpPr/>
          <p:nvPr/>
        </p:nvSpPr>
        <p:spPr>
          <a:xfrm rot="8102587">
            <a:off x="4705873" y="2061694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61"/>
          <p:cNvSpPr txBox="1"/>
          <p:nvPr/>
        </p:nvSpPr>
        <p:spPr>
          <a:xfrm>
            <a:off x="6005150" y="1998825"/>
            <a:ext cx="29388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0.5 é o valor mais provável!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</a:t>
            </a:r>
            <a:endParaRPr/>
          </a:p>
        </p:txBody>
      </p:sp>
      <p:sp>
        <p:nvSpPr>
          <p:cNvPr id="442" name="Google Shape;442;p6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Tudo isso foi para mostrar que uma base de {1, 0} indica 50% para cada valor?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Não!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Tudo isso foi para mostrar que existe um pensamento estatístico muito poderoso, o da máxima </a:t>
            </a:r>
            <a:r>
              <a:rPr lang="pt-BR"/>
              <a:t>verossimilhança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explorar o mesmo na Regressão!</a:t>
            </a:r>
            <a:endParaRPr/>
          </a:p>
        </p:txBody>
      </p:sp>
      <p:sp>
        <p:nvSpPr>
          <p:cNvPr id="443" name="Google Shape;44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Observe que na base nova</a:t>
            </a:r>
            <a:endParaRPr/>
          </a:p>
        </p:txBody>
      </p:sp>
      <p:sp>
        <p:nvSpPr>
          <p:cNvPr id="449" name="Google Shape;449;p6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função muda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Agora o melhor valor, mais</a:t>
            </a:r>
            <a:br>
              <a:rPr lang="pt-BR"/>
            </a:br>
            <a:r>
              <a:rPr lang="pt-BR"/>
              <a:t>verossímil, é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 faz sentido, a chance de</a:t>
            </a:r>
            <a:br>
              <a:rPr lang="pt-BR"/>
            </a:br>
            <a:r>
              <a:rPr lang="pt-BR"/>
              <a:t>x=1 é de 100%!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função fala por si só!!!!</a:t>
            </a:r>
            <a:endParaRPr/>
          </a:p>
        </p:txBody>
      </p:sp>
      <p:sp>
        <p:nvSpPr>
          <p:cNvPr id="450" name="Google Shape;45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51" name="Google Shape;45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370" y="1284938"/>
            <a:ext cx="4484925" cy="3105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= \{1, 1\}\\&#10;p(x_1, x_2 \mid \theta) = \theta^{x_1=1} (1-\theta)^{1-x_1=1} \theta^{x_2=1}(1-\theta)^{1-x_2=1} \\&#10;p(x_1, x_2 \mid \theta) = \theta^2" id="452" name="Google Shape;452;p63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671" y="3314300"/>
            <a:ext cx="4222338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Bernoulli Caso Geral</a:t>
            </a:r>
            <a:endParaRPr/>
          </a:p>
        </p:txBody>
      </p:sp>
      <p:sp>
        <p:nvSpPr>
          <p:cNvPr id="458" name="Google Shape;45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9" name="Google Shape;459;p6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temos n-pontos, como fica a verossimilhança?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rnoulli(\theta) \\&#10;p(x_i \mid \theta) = \theta^{x_i} (1-\theta)^{1-x_i}" id="460" name="Google Shape;460;p6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907" y="1901875"/>
            <a:ext cx="3168712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Bernoulli Caso Geral</a:t>
            </a:r>
            <a:endParaRPr/>
          </a:p>
        </p:txBody>
      </p:sp>
      <p:sp>
        <p:nvSpPr>
          <p:cNvPr id="466" name="Google Shape;466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7" name="Google Shape;467;p6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temos n-pontos, como fica a verossimilhança?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rnoulli(\theta) \\&#10;p(x_i \mid \theta) = \theta^{x_i} (1-\theta)^{1-x_i}" id="468" name="Google Shape;468;p6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907" y="1901875"/>
            <a:ext cx="3168712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X\mid \theta) = p_{\theta}(X) = \prod_{i} p_{\theta}(x_i) \\&#10;\log(p_{\theta}(X)) = \mathcal{l}_{\theta}(X) =  \sum_{i} \log(p_{\theta}(x_i)) = \sum_{i} \log(p(x_i\mid \theta))" id="469" name="Google Shape;469;p65" title="MathEquation,#000000"/>
          <p:cNvPicPr preferRelativeResize="0"/>
          <p:nvPr/>
        </p:nvPicPr>
        <p:blipFill rotWithShape="1">
          <a:blip r:embed="rId4">
            <a:alphaModFix/>
          </a:blip>
          <a:srcRect b="49192" l="0" r="0" t="0"/>
          <a:stretch/>
        </p:blipFill>
        <p:spPr>
          <a:xfrm>
            <a:off x="910350" y="3481875"/>
            <a:ext cx="696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5"/>
          <p:cNvSpPr/>
          <p:nvPr/>
        </p:nvSpPr>
        <p:spPr>
          <a:xfrm rot="-8811055">
            <a:off x="2461487" y="3750479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5"/>
          <p:cNvSpPr txBox="1"/>
          <p:nvPr/>
        </p:nvSpPr>
        <p:spPr>
          <a:xfrm>
            <a:off x="1647125" y="4057975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APENAS UMA SIMPLIFICAÇÃO DE NOTAÇÃO!!!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Bernoulli Caso Geral</a:t>
            </a:r>
            <a:endParaRPr/>
          </a:p>
        </p:txBody>
      </p:sp>
      <p:sp>
        <p:nvSpPr>
          <p:cNvPr id="477" name="Google Shape;477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8" name="Google Shape;478;p6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temos n-pontos, como fica a verossimilhança?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rnoulli(\theta) \\&#10;p(x_i \mid \theta) = \theta^{x_i} (1-\theta)^{1-x_i}" id="479" name="Google Shape;479;p6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907" y="1901875"/>
            <a:ext cx="3168712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X\mid \theta) = p_{\theta}(X) = \prod_{i} p_{\theta}(x_i) \\&#10;\log(p_{\theta}(X)) = \mathcal{l}_{\theta}(X) =  \sum_{i} \log(p_{\theta}(x_i)) = \sum_{i} \log(p(x_i\mid \theta))" id="480" name="Google Shape;480;p66" title="MathEquation,#000000"/>
          <p:cNvPicPr preferRelativeResize="0"/>
          <p:nvPr/>
        </p:nvPicPr>
        <p:blipFill rotWithShape="1">
          <a:blip r:embed="rId4">
            <a:alphaModFix/>
          </a:blip>
          <a:srcRect b="49192" l="0" r="0" t="0"/>
          <a:stretch/>
        </p:blipFill>
        <p:spPr>
          <a:xfrm>
            <a:off x="910350" y="3481875"/>
            <a:ext cx="696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6"/>
          <p:cNvSpPr/>
          <p:nvPr/>
        </p:nvSpPr>
        <p:spPr>
          <a:xfrm rot="-8811055">
            <a:off x="3794737" y="3804604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66"/>
          <p:cNvSpPr txBox="1"/>
          <p:nvPr/>
        </p:nvSpPr>
        <p:spPr>
          <a:xfrm>
            <a:off x="847175" y="4057975"/>
            <a:ext cx="8052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N-PONTOS I.I.D → O CONJUNTO DE DADOS VIRA O PRODUTO!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 base abaixo, qual a cara da função?</a:t>
            </a:r>
            <a:endParaRPr/>
          </a:p>
        </p:txBody>
      </p:sp>
      <p:sp>
        <p:nvSpPr>
          <p:cNvPr id="488" name="Google Shape;488;p6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/>
          </a:p>
        </p:txBody>
      </p:sp>
      <p:sp>
        <p:nvSpPr>
          <p:cNvPr id="489" name="Google Shape;48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_i \sim Bernoulli(\theta) \\&#10;p(x_i \mid \theta) = \theta^{x_i} (1-\theta)^{1-x_i}" id="490" name="Google Shape;490;p6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282" y="1035250"/>
            <a:ext cx="3168712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X\mid \theta) = p_{\theta}(X) = \prod_{i} p_{\theta}(x_i) \\&#10;\log(p_{\theta}(X)) = \mathcal{l}_{\theta}(X) =  \sum_{i} \log(p_{\theta}(x_i)) = \sum_{i} \log(p(x_i\mid \theta))" id="491" name="Google Shape;491;p67" title="MathEquation,#000000"/>
          <p:cNvPicPr preferRelativeResize="0"/>
          <p:nvPr/>
        </p:nvPicPr>
        <p:blipFill rotWithShape="1">
          <a:blip r:embed="rId4">
            <a:alphaModFix/>
          </a:blip>
          <a:srcRect b="49192" l="0" r="0" t="0"/>
          <a:stretch/>
        </p:blipFill>
        <p:spPr>
          <a:xfrm>
            <a:off x="5065725" y="1948625"/>
            <a:ext cx="696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000" y="1856425"/>
            <a:ext cx="4245650" cy="265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 base abaixo, qual a cara da função?</a:t>
            </a:r>
            <a:endParaRPr/>
          </a:p>
        </p:txBody>
      </p:sp>
      <p:sp>
        <p:nvSpPr>
          <p:cNvPr id="498" name="Google Shape;498;p6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/>
          </a:p>
        </p:txBody>
      </p:sp>
      <p:sp>
        <p:nvSpPr>
          <p:cNvPr id="499" name="Google Shape;499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_i \sim Bernoulli(\theta) \\&#10;p(x_i \mid \theta) = \theta^{x_i} (1-\theta)^{1-x_i}" id="500" name="Google Shape;500;p6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282" y="1035250"/>
            <a:ext cx="3168712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X\mid \theta) = p_{\theta}(X) = \prod_{i} p_{\theta}(x_i) \\&#10;\log(p_{\theta}(X)) = \mathcal{l}_{\theta}(X) =  \sum_{i} \log(p_{\theta}(x_i)) = \sum_{i} \log(p(x_i\mid \theta))" id="501" name="Google Shape;501;p68" title="MathEquation,#000000"/>
          <p:cNvPicPr preferRelativeResize="0"/>
          <p:nvPr/>
        </p:nvPicPr>
        <p:blipFill rotWithShape="1">
          <a:blip r:embed="rId4">
            <a:alphaModFix/>
          </a:blip>
          <a:srcRect b="49192" l="0" r="0" t="0"/>
          <a:stretch/>
        </p:blipFill>
        <p:spPr>
          <a:xfrm>
            <a:off x="5065725" y="1948625"/>
            <a:ext cx="696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000" y="1856425"/>
            <a:ext cx="4245650" cy="26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68"/>
          <p:cNvSpPr/>
          <p:nvPr/>
        </p:nvSpPr>
        <p:spPr>
          <a:xfrm rot="-8811055">
            <a:off x="3061462" y="2005329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68"/>
          <p:cNvSpPr/>
          <p:nvPr/>
        </p:nvSpPr>
        <p:spPr>
          <a:xfrm rot="-8811055">
            <a:off x="3180537" y="4204454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8"/>
          <p:cNvSpPr txBox="1"/>
          <p:nvPr/>
        </p:nvSpPr>
        <p:spPr>
          <a:xfrm>
            <a:off x="4488150" y="3016488"/>
            <a:ext cx="45330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MÁXIMO EM 7/12. 7 POSITIVOS E 5 NEGATIVOS. 7/12=0.58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 mais uma vez...</a:t>
            </a:r>
            <a:endParaRPr/>
          </a:p>
        </p:txBody>
      </p:sp>
      <p:sp>
        <p:nvSpPr>
          <p:cNvPr id="511" name="Google Shape;511;p6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X = {1, 0, 1, 1, 0, 1, 1, 1, 0, 0, 1, 0}</a:t>
            </a:r>
            <a:endParaRPr/>
          </a:p>
        </p:txBody>
      </p:sp>
      <p:sp>
        <p:nvSpPr>
          <p:cNvPr id="512" name="Google Shape;512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x_i \sim Bernoulli(\theta) \\&#10;p(x_i \mid \theta) = \theta^{x_i} (1-\theta)^{1-x_i}" id="513" name="Google Shape;513;p6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282" y="1035250"/>
            <a:ext cx="3168712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X\mid \theta) = p_{\theta}(X) = \prod_{i} p_{\theta}(x_i) \\&#10;\log(p_{\theta}(X)) = \mathcal{l}_{\theta}(X) =  \sum_{i} \log(p_{\theta}(x_i)) = \sum_{i} \log(p(x_i\mid \theta))" id="514" name="Google Shape;514;p69" title="MathEquation,#000000"/>
          <p:cNvPicPr preferRelativeResize="0"/>
          <p:nvPr/>
        </p:nvPicPr>
        <p:blipFill rotWithShape="1">
          <a:blip r:embed="rId4">
            <a:alphaModFix/>
          </a:blip>
          <a:srcRect b="49192" l="0" r="0" t="0"/>
          <a:stretch/>
        </p:blipFill>
        <p:spPr>
          <a:xfrm>
            <a:off x="5065725" y="1948625"/>
            <a:ext cx="696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000" y="1856425"/>
            <a:ext cx="4245650" cy="26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69"/>
          <p:cNvSpPr/>
          <p:nvPr/>
        </p:nvSpPr>
        <p:spPr>
          <a:xfrm rot="-8811055">
            <a:off x="3061462" y="2005329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9"/>
          <p:cNvSpPr/>
          <p:nvPr/>
        </p:nvSpPr>
        <p:spPr>
          <a:xfrm rot="-8811055">
            <a:off x="3180537" y="4204454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9"/>
          <p:cNvSpPr/>
          <p:nvPr/>
        </p:nvSpPr>
        <p:spPr>
          <a:xfrm>
            <a:off x="5313625" y="3280325"/>
            <a:ext cx="3433200" cy="105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Será que é possível chegar em tal resultado analiticamente?</a:t>
            </a:r>
            <a:endParaRPr sz="17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9" name="Google Shape;519;p69"/>
          <p:cNvSpPr txBox="1"/>
          <p:nvPr/>
        </p:nvSpPr>
        <p:spPr>
          <a:xfrm>
            <a:off x="8013175" y="2312825"/>
            <a:ext cx="8892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pt-BR" sz="6200">
                <a:solidFill>
                  <a:schemeClr val="dk1"/>
                </a:solidFill>
              </a:rPr>
              <a:t>🤔</a:t>
            </a:r>
            <a:endParaRPr b="1" sz="6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 mais uma vez...</a:t>
            </a:r>
            <a:endParaRPr/>
          </a:p>
        </p:txBody>
      </p:sp>
      <p:sp>
        <p:nvSpPr>
          <p:cNvPr id="525" name="Google Shape;525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6" name="Google Shape;526;p7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Estamos achando o máxima da função abaixo</a:t>
            </a: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que maximizamos funções?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Deriva e iguala a zero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Ok, mas qual o significado deste máximo?!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p(X\mid \theta) = p_{\theta}(X) = \prod_{i} p_{\theta}(x_i) \\&#10;\log(p_{\theta}(X)) = \mathcal{l}_{\theta}(X) =  \sum_{i} \log(p_{\theta}(x_i)) = \sum_{i} \log(p(x_i\mid \theta))" id="527" name="Google Shape;527;p70" title="MathEquation,#000000"/>
          <p:cNvPicPr preferRelativeResize="0"/>
          <p:nvPr/>
        </p:nvPicPr>
        <p:blipFill rotWithShape="1">
          <a:blip r:embed="rId3">
            <a:alphaModFix/>
          </a:blip>
          <a:srcRect b="49192" l="0" r="0" t="0"/>
          <a:stretch/>
        </p:blipFill>
        <p:spPr>
          <a:xfrm>
            <a:off x="910350" y="1359750"/>
            <a:ext cx="696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70"/>
          <p:cNvSpPr/>
          <p:nvPr/>
        </p:nvSpPr>
        <p:spPr>
          <a:xfrm>
            <a:off x="2358200" y="3717350"/>
            <a:ext cx="3433200" cy="105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Encontre o parâmetro que </a:t>
            </a: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maximiza</a:t>
            </a: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 a probabilidade dos dados para este modelo! </a:t>
            </a:r>
            <a:endParaRPr sz="17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9" name="Google Shape;529;p70"/>
          <p:cNvSpPr txBox="1"/>
          <p:nvPr/>
        </p:nvSpPr>
        <p:spPr>
          <a:xfrm>
            <a:off x="5202200" y="2683175"/>
            <a:ext cx="8892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6200">
                <a:solidFill>
                  <a:schemeClr val="dk1"/>
                </a:solidFill>
              </a:rPr>
              <a:t>😲</a:t>
            </a:r>
            <a:endParaRPr b="1" sz="6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6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 mais uma vez...</a:t>
            </a:r>
            <a:endParaRPr/>
          </a:p>
        </p:txBody>
      </p:sp>
      <p:sp>
        <p:nvSpPr>
          <p:cNvPr id="535" name="Google Shape;535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6" name="Google Shape;536;p7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Estamos achando o máxima da função abaixo</a:t>
            </a: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que maximizamos funções?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Deriva e iguala a zero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Ok, mas qual o significado deste máximo?!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 interessante, é o modelo mais </a:t>
            </a:r>
            <a:r>
              <a:rPr lang="pt-BR"/>
              <a:t>PROVÁVEL TEORICAMENTE</a:t>
            </a:r>
            <a:r>
              <a:rPr lang="pt-BR"/>
              <a:t>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p(X\mid \theta) = p_{\theta}(X) = \prod_{i} p_{\theta}(x_i) \\&#10;\log(p_{\theta}(X)) = \mathcal{l}_{\theta}(X) =  \sum_{i} \log(p_{\theta}(x_i)) = \sum_{i} \log(p(x_i\mid \theta))" id="537" name="Google Shape;537;p71" title="MathEquation,#000000"/>
          <p:cNvPicPr preferRelativeResize="0"/>
          <p:nvPr/>
        </p:nvPicPr>
        <p:blipFill rotWithShape="1">
          <a:blip r:embed="rId3">
            <a:alphaModFix/>
          </a:blip>
          <a:srcRect b="49192" l="0" r="0" t="0"/>
          <a:stretch/>
        </p:blipFill>
        <p:spPr>
          <a:xfrm>
            <a:off x="910350" y="1359750"/>
            <a:ext cx="696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71"/>
          <p:cNvSpPr/>
          <p:nvPr/>
        </p:nvSpPr>
        <p:spPr>
          <a:xfrm>
            <a:off x="2369300" y="4006225"/>
            <a:ext cx="3433200" cy="105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Encontre o parâmetro que maximiza a probabilidade dos dados para este modelo! </a:t>
            </a:r>
            <a:endParaRPr sz="17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9" name="Google Shape;539;p71"/>
          <p:cNvSpPr txBox="1"/>
          <p:nvPr/>
        </p:nvSpPr>
        <p:spPr>
          <a:xfrm>
            <a:off x="5213300" y="2972050"/>
            <a:ext cx="8892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6200">
                <a:solidFill>
                  <a:schemeClr val="dk1"/>
                </a:solidFill>
              </a:rPr>
              <a:t>😲</a:t>
            </a:r>
            <a:endParaRPr b="1" sz="6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6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Calma mais uma vez...</a:t>
            </a:r>
            <a:endParaRPr/>
          </a:p>
        </p:txBody>
      </p:sp>
      <p:sp>
        <p:nvSpPr>
          <p:cNvPr id="545" name="Google Shape;545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6" name="Google Shape;546;p7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Estamos achando o máxima da função abaixo</a:t>
            </a: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que maximizamos funções?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Deriva e iguala a zero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Ok, mas qual o significado deste máximo?!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 interessante, é o modelo mais PROVÁVEL TEORICAMENTE!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p(X\mid \theta) = p_{\theta}(X) = \prod_{i} p_{\theta}(x_i) \\&#10;\log(p_{\theta}(X)) = \mathcal{l}_{\theta}(X) =  \sum_{i} \log(p_{\theta}(x_i)) = \sum_{i} \log(p(x_i\mid \theta))" id="547" name="Google Shape;547;p72" title="MathEquation,#000000"/>
          <p:cNvPicPr preferRelativeResize="0"/>
          <p:nvPr/>
        </p:nvPicPr>
        <p:blipFill rotWithShape="1">
          <a:blip r:embed="rId3">
            <a:alphaModFix/>
          </a:blip>
          <a:srcRect b="49192" l="0" r="0" t="0"/>
          <a:stretch/>
        </p:blipFill>
        <p:spPr>
          <a:xfrm>
            <a:off x="910350" y="1359750"/>
            <a:ext cx="696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72"/>
          <p:cNvSpPr/>
          <p:nvPr/>
        </p:nvSpPr>
        <p:spPr>
          <a:xfrm>
            <a:off x="2369300" y="4006225"/>
            <a:ext cx="3433200" cy="105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MAXIMIZAR UM PRODUTÓRIO É UM SACO!!!</a:t>
            </a: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sz="17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9" name="Google Shape;549;p72"/>
          <p:cNvSpPr txBox="1"/>
          <p:nvPr/>
        </p:nvSpPr>
        <p:spPr>
          <a:xfrm>
            <a:off x="5213300" y="2972050"/>
            <a:ext cx="8892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6200">
                <a:solidFill>
                  <a:schemeClr val="dk1"/>
                </a:solidFill>
              </a:rPr>
              <a:t>😭</a:t>
            </a:r>
            <a:endParaRPr b="1" sz="6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6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Bernoulli</a:t>
            </a:r>
            <a:endParaRPr/>
          </a:p>
        </p:txBody>
      </p:sp>
      <p:sp>
        <p:nvSpPr>
          <p:cNvPr id="555" name="Google Shape;555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6" name="Google Shape;556;p7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Verossimilhança e Log-Verossimilhança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Log por ser </a:t>
            </a:r>
            <a:r>
              <a:rPr lang="pt-BR"/>
              <a:t>monotonicamente</a:t>
            </a:r>
            <a:r>
              <a:rPr lang="pt-BR"/>
              <a:t> crescente não muda o local do máximo!</a:t>
            </a:r>
            <a:endParaRPr/>
          </a:p>
        </p:txBody>
      </p:sp>
      <p:pic>
        <p:nvPicPr>
          <p:cNvPr id="557" name="Google Shape;55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61312"/>
            <a:ext cx="4245650" cy="26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075" y="1863950"/>
            <a:ext cx="4318074" cy="2850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Bernoulli Caso Geral</a:t>
            </a:r>
            <a:endParaRPr/>
          </a:p>
        </p:txBody>
      </p:sp>
      <p:sp>
        <p:nvSpPr>
          <p:cNvPr id="564" name="Google Shape;564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65" name="Google Shape;565;p7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Verossimilhança e log-verossimilhança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nouli(\theta) \\&#10;p(x_i \mid \theta) = \theta^{x_i} (1-\theta)^{1-x_i}" id="566" name="Google Shape;566;p7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875" y="1901875"/>
            <a:ext cx="3234124" cy="79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_{\theta}(X) = \prod_{i} p_{\theta}(x_i) \\&#10;\log(p_{\theta}(X)) = \mathcal{l}_{\theta}(X) =  \sum_{i} \log(p_{\theta}(x_i)) = \sum_{i} \log(p(x_i\mid \theta))" id="567" name="Google Shape;567;p74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651" y="3470751"/>
            <a:ext cx="7134720" cy="7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Bernoulli Caso Geral</a:t>
            </a:r>
            <a:endParaRPr/>
          </a:p>
        </p:txBody>
      </p:sp>
      <p:sp>
        <p:nvSpPr>
          <p:cNvPr id="573" name="Google Shape;573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4" name="Google Shape;574;p7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Verossimilhança e log-verossimilhança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nouli(\theta) \\&#10;p(x_i \mid \theta) = \theta^{x_i} (1-\theta)^{1-x_i}" id="575" name="Google Shape;575;p7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875" y="1901875"/>
            <a:ext cx="3234124" cy="79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_{\theta}(X) = \prod_{i} p_{\theta}(x_i) \\&#10;\log(p_{\theta}(X)) = \mathcal{l}_{\theta}(X) =  \sum_{i} \log(p_{\theta}(x_i)) = \sum_{i} \log(p(x_i\mid \theta))" id="576" name="Google Shape;576;p75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651" y="3470751"/>
            <a:ext cx="7134720" cy="7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5"/>
          <p:cNvSpPr/>
          <p:nvPr/>
        </p:nvSpPr>
        <p:spPr>
          <a:xfrm rot="-8811055">
            <a:off x="2794762" y="4206004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75"/>
          <p:cNvSpPr txBox="1"/>
          <p:nvPr/>
        </p:nvSpPr>
        <p:spPr>
          <a:xfrm>
            <a:off x="1980400" y="451350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APENAS UMA SIMPLIFICAÇÃO DE NOTAÇÃO!!!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Bernoulli Caso Geral</a:t>
            </a:r>
            <a:endParaRPr/>
          </a:p>
        </p:txBody>
      </p:sp>
      <p:sp>
        <p:nvSpPr>
          <p:cNvPr id="584" name="Google Shape;584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5" name="Google Shape;585;p7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Pessoas onde um remédio teve algum efeito</a:t>
            </a:r>
            <a:br>
              <a:rPr lang="pt-BR"/>
            </a:br>
            <a:r>
              <a:rPr lang="pt-BR"/>
              <a:t>X = {1, 0, 1, 1, 0, 1, 1, 1, 0, 0, 1, 0}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Verossimilhança e log-verossimilhança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x_i \sim Benouli(\theta) \\&#10;p(x_i \mid \theta) = \theta^{x_i} (1-\theta)^{1-x_i}" id="586" name="Google Shape;586;p7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875" y="1901875"/>
            <a:ext cx="3234124" cy="79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_{\theta}(X) = \prod_{i} p_{\theta}(x_i) \\&#10;\log(p_{\theta}(X)) = \mathcal{l}_{\theta}(X) =  \sum_{i} \log(p_{\theta}(x_i)) = \sum_{i} \log(p(x_i\mid \theta))" id="587" name="Google Shape;587;p76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651" y="3470751"/>
            <a:ext cx="7134720" cy="7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76"/>
          <p:cNvSpPr/>
          <p:nvPr/>
        </p:nvSpPr>
        <p:spPr>
          <a:xfrm rot="-8811055">
            <a:off x="6984337" y="4192254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76"/>
          <p:cNvSpPr txBox="1"/>
          <p:nvPr/>
        </p:nvSpPr>
        <p:spPr>
          <a:xfrm>
            <a:off x="4572000" y="4308325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voltando para notação antiga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(apenas para explicar!)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595" name="Google Shape;595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_{\theta}(X) = \prod_{i} p_{\theta}(x_i) \\&#10;&#10;p_{\theta}(X) = \theta^{\sum_i x_i} (1-\theta)^{\sum_i (1-x_i)}\\&#10;l_{\theta}(X) = \log(p_{\theta}(X) ) \\&#10;l_{\theta}(X) = {\sum_i x_i}\log(\theta) + {\sum_i (1-x_i)}\log(1-\theta)&#10;" id="596" name="Google Shape;596;p77" title="MathEquation,#000000"/>
          <p:cNvPicPr preferRelativeResize="0"/>
          <p:nvPr/>
        </p:nvPicPr>
        <p:blipFill rotWithShape="1">
          <a:blip r:embed="rId3">
            <a:alphaModFix/>
          </a:blip>
          <a:srcRect b="75497" l="0" r="0" t="0"/>
          <a:stretch/>
        </p:blipFill>
        <p:spPr>
          <a:xfrm>
            <a:off x="427975" y="965375"/>
            <a:ext cx="5515476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602" name="Google Shape;602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_{\theta}(X) = \prod_{i} p_{\theta}(x_i) \\&#10;&#10;p_{\theta}(X) = \theta^{\sum_i x_i} (1-\theta)^{\sum_i (1-x_i)}\\&#10;l_{\theta}(X) = \log(p_{\theta}(X) ) \\&#10;l_{\theta}(X) = {\sum_i x_i}\log(\theta) + {\sum_i (1-x_i)}\log(1-\theta)&#10;" id="603" name="Google Shape;603;p78" title="MathEquation,#000000"/>
          <p:cNvPicPr preferRelativeResize="0"/>
          <p:nvPr/>
        </p:nvPicPr>
        <p:blipFill rotWithShape="1">
          <a:blip r:embed="rId3">
            <a:alphaModFix/>
          </a:blip>
          <a:srcRect b="47221" l="0" r="0" t="0"/>
          <a:stretch/>
        </p:blipFill>
        <p:spPr>
          <a:xfrm>
            <a:off x="427975" y="965375"/>
            <a:ext cx="5515474" cy="8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78"/>
          <p:cNvSpPr txBox="1"/>
          <p:nvPr/>
        </p:nvSpPr>
        <p:spPr>
          <a:xfrm>
            <a:off x="4057650" y="181320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resolvendo para n pontos.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Cada ponto positivo vai para theta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cada ponto negativo para 1-theta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θ</a:t>
            </a:r>
            <a:r>
              <a:rPr baseline="30000"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1</a:t>
            </a: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θ</a:t>
            </a:r>
            <a:r>
              <a:rPr baseline="30000"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1 </a:t>
            </a: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= </a:t>
            </a: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θ</a:t>
            </a:r>
            <a:r>
              <a:rPr baseline="30000"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2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610" name="Google Shape;610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_{\theta}(X) = \prod_{i} p_{\theta}(x_i) \\&#10;&#10;p_{\theta}(X) = \theta^{\sum_i x_i} (1-\theta)^{\sum_i (1-x_i)}\\&#10;l_{\theta}(X) = \log(p_{\theta}(X) ) \\&#10;l_{\theta}(X) = {\sum_i x_i}\log(\theta) + {\sum_i (1-x_i)}\log(1-\theta)&#10;" id="611" name="Google Shape;611;p79" title="MathEquation,#000000"/>
          <p:cNvPicPr preferRelativeResize="0"/>
          <p:nvPr/>
        </p:nvPicPr>
        <p:blipFill rotWithShape="1">
          <a:blip r:embed="rId3">
            <a:alphaModFix/>
          </a:blip>
          <a:srcRect b="24693" l="0" r="0" t="0"/>
          <a:stretch/>
        </p:blipFill>
        <p:spPr>
          <a:xfrm>
            <a:off x="427975" y="965375"/>
            <a:ext cx="5515476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79"/>
          <p:cNvSpPr txBox="1"/>
          <p:nvPr/>
        </p:nvSpPr>
        <p:spPr>
          <a:xfrm>
            <a:off x="4057650" y="181320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vamos trabalhar em log (mesma coisa)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618" name="Google Shape;618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_{\theta}(X) = \prod_{i} p_{\theta}(x_i) \\&#10;&#10;p_{\theta}(X) = \theta^{\sum_i x_i} (1-\theta)^{\sum_i (1-x_i)}\\&#10;l_{\theta}(X) = \log(p_{\theta}(X) ) \\&#10;l_{\theta}(X) = {\sum_i x_i}\log(\theta) + {\sum_i (1-x_i)}\log(1-\theta)&#10;" id="619" name="Google Shape;619;p80" title="MathEquation,#000000"/>
          <p:cNvPicPr preferRelativeResize="0"/>
          <p:nvPr/>
        </p:nvPicPr>
        <p:blipFill rotWithShape="1">
          <a:blip r:embed="rId3">
            <a:alphaModFix/>
          </a:blip>
          <a:srcRect b="24693" l="0" r="0" t="0"/>
          <a:stretch/>
        </p:blipFill>
        <p:spPr>
          <a:xfrm>
            <a:off x="427975" y="965375"/>
            <a:ext cx="5515476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80"/>
          <p:cNvSpPr txBox="1"/>
          <p:nvPr/>
        </p:nvSpPr>
        <p:spPr>
          <a:xfrm>
            <a:off x="4057650" y="181320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vamos trabalhar em log (mesma coisa)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626" name="Google Shape;626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_{\theta}(X) = \prod_{i} p_{\theta}(x_i) \\&#10;&#10;p_{\theta}(X) = \theta^{\sum_i x_i} (1-\theta)^{\sum_i (1-x_i)}\\&#10;l_{\theta}(X) = \log(p_{\theta}(X) ) \\&#10;l_{\theta}(X) = {\sum_i x_i}\log(\theta) + {\sum_i (1-x_i)}\log(1-\theta)&#10;" id="627" name="Google Shape;627;p81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975" y="965375"/>
            <a:ext cx="5515476" cy="16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81"/>
          <p:cNvSpPr txBox="1"/>
          <p:nvPr/>
        </p:nvSpPr>
        <p:spPr>
          <a:xfrm>
            <a:off x="1113825" y="298415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log(ab) = log(a) + log(b)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por isso os somatórios “caiem”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629" name="Google Shape;629;p81"/>
          <p:cNvSpPr/>
          <p:nvPr/>
        </p:nvSpPr>
        <p:spPr>
          <a:xfrm rot="-8811055">
            <a:off x="2083437" y="2564479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81"/>
          <p:cNvSpPr/>
          <p:nvPr/>
        </p:nvSpPr>
        <p:spPr>
          <a:xfrm rot="-8811055">
            <a:off x="4763812" y="2564479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636" name="Google Shape;636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_{\theta}(X) = \prod_{i} p_{\theta}(x_i) \\&#10;&#10;p_{\theta}(X) = \theta^{\sum_i x_i} (1-\theta)^{\sum_i (1-x_i)}\\&#10;l_{\theta}(X) = \log(p_{\theta}(X) ) \\&#10;l_{\theta}(X) = {\sum_i x_i}\log(\theta) + {\sum_i (1-x_i)}\log(1-\theta)&#10;" id="637" name="Google Shape;637;p82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975" y="965375"/>
            <a:ext cx="5515476" cy="16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82"/>
          <p:cNvSpPr txBox="1"/>
          <p:nvPr/>
        </p:nvSpPr>
        <p:spPr>
          <a:xfrm>
            <a:off x="1113825" y="298415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log(a</a:t>
            </a:r>
            <a:r>
              <a:rPr baseline="30000"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x</a:t>
            </a: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) = x log(a)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separa os dois casos, positivos e negativos em uma soma!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639" name="Google Shape;639;p82"/>
          <p:cNvSpPr/>
          <p:nvPr/>
        </p:nvSpPr>
        <p:spPr>
          <a:xfrm rot="-8811055">
            <a:off x="2017762" y="2628404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82"/>
          <p:cNvSpPr/>
          <p:nvPr/>
        </p:nvSpPr>
        <p:spPr>
          <a:xfrm rot="-8811055">
            <a:off x="4599087" y="2540029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646" name="Google Shape;646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_{\theta}(X) = \prod_{i} p_{\theta}(x_i) \\&#10;&#10;p_{\theta}(X) = \theta^{\sum_i x_i} (1-\theta)^{\sum_i (1-x_i)}\\&#10;l_{\theta}(X) = \log(p_{\theta}(X) ) \\&#10;l_{\theta}(X) = {\sum_i x_i}\log(\theta) + {\sum_i (1-x_i)}\log(1-\theta)&#10;" id="647" name="Google Shape;647;p83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975" y="965375"/>
            <a:ext cx="5515476" cy="16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83"/>
          <p:cNvSpPr txBox="1"/>
          <p:nvPr/>
        </p:nvSpPr>
        <p:spPr>
          <a:xfrm>
            <a:off x="1113825" y="298415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log(a</a:t>
            </a:r>
            <a:r>
              <a:rPr baseline="30000"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x</a:t>
            </a: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) = x log(a)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por isso os somatórios “caiem”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junto com o log(ab) = log(a) + log(b) (slide anterior)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chegamos no termo acima!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649" name="Google Shape;649;p83"/>
          <p:cNvSpPr/>
          <p:nvPr/>
        </p:nvSpPr>
        <p:spPr>
          <a:xfrm rot="-8811055">
            <a:off x="2017762" y="2628404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83"/>
          <p:cNvSpPr/>
          <p:nvPr/>
        </p:nvSpPr>
        <p:spPr>
          <a:xfrm rot="-8811055">
            <a:off x="2017762" y="1588429"/>
            <a:ext cx="281994" cy="2507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temos que derivar e setar para zero!</a:t>
            </a:r>
            <a:endParaRPr/>
          </a:p>
        </p:txBody>
      </p:sp>
      <p:sp>
        <p:nvSpPr>
          <p:cNvPr id="656" name="Google Shape;656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57" name="Google Shape;657;p84" title="MathEquation,#000000"/>
          <p:cNvPicPr preferRelativeResize="0"/>
          <p:nvPr/>
        </p:nvPicPr>
        <p:blipFill rotWithShape="1">
          <a:blip r:embed="rId3">
            <a:alphaModFix/>
          </a:blip>
          <a:srcRect b="0" l="-640" r="93735" t="36045"/>
          <a:stretch/>
        </p:blipFill>
        <p:spPr>
          <a:xfrm>
            <a:off x="3124625" y="1119575"/>
            <a:ext cx="36915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84"/>
          <p:cNvSpPr txBox="1"/>
          <p:nvPr/>
        </p:nvSpPr>
        <p:spPr>
          <a:xfrm>
            <a:off x="311700" y="1209125"/>
            <a:ext cx="466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Temos que computar: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59" name="Google Shape;659;p84" title="MathEquation,#000000"/>
          <p:cNvPicPr preferRelativeResize="0"/>
          <p:nvPr/>
        </p:nvPicPr>
        <p:blipFill rotWithShape="1">
          <a:blip r:embed="rId3">
            <a:alphaModFix/>
          </a:blip>
          <a:srcRect b="56046" l="0" r="0" t="0"/>
          <a:stretch/>
        </p:blipFill>
        <p:spPr>
          <a:xfrm>
            <a:off x="827850" y="1901175"/>
            <a:ext cx="534610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temos que derivar e setar para zero!</a:t>
            </a:r>
            <a:endParaRPr/>
          </a:p>
        </p:txBody>
      </p:sp>
      <p:sp>
        <p:nvSpPr>
          <p:cNvPr id="665" name="Google Shape;665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66" name="Google Shape;666;p85" title="MathEquation,#000000"/>
          <p:cNvPicPr preferRelativeResize="0"/>
          <p:nvPr/>
        </p:nvPicPr>
        <p:blipFill rotWithShape="1">
          <a:blip r:embed="rId3">
            <a:alphaModFix/>
          </a:blip>
          <a:srcRect b="0" l="-640" r="93735" t="36045"/>
          <a:stretch/>
        </p:blipFill>
        <p:spPr>
          <a:xfrm>
            <a:off x="1964575" y="2197850"/>
            <a:ext cx="36915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85"/>
          <p:cNvSpPr txBox="1"/>
          <p:nvPr/>
        </p:nvSpPr>
        <p:spPr>
          <a:xfrm>
            <a:off x="311700" y="1209125"/>
            <a:ext cx="2963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Temos que computar: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68" name="Google Shape;668;p85" title="MathEquation,#000000"/>
          <p:cNvPicPr preferRelativeResize="0"/>
          <p:nvPr/>
        </p:nvPicPr>
        <p:blipFill rotWithShape="1">
          <a:blip r:embed="rId3">
            <a:alphaModFix/>
          </a:blip>
          <a:srcRect b="56046" l="0" r="0" t="0"/>
          <a:stretch/>
        </p:blipFill>
        <p:spPr>
          <a:xfrm>
            <a:off x="827850" y="1901175"/>
            <a:ext cx="53461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669" name="Google Shape;669;p85" title="MathEquation,#000000"/>
          <p:cNvPicPr preferRelativeResize="0"/>
          <p:nvPr/>
        </p:nvPicPr>
        <p:blipFill rotWithShape="1">
          <a:blip r:embed="rId3">
            <a:alphaModFix/>
          </a:blip>
          <a:srcRect b="56046" l="18140" r="52997" t="0"/>
          <a:stretch/>
        </p:blipFill>
        <p:spPr>
          <a:xfrm>
            <a:off x="2289950" y="2376950"/>
            <a:ext cx="154305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85"/>
          <p:cNvSpPr txBox="1"/>
          <p:nvPr/>
        </p:nvSpPr>
        <p:spPr>
          <a:xfrm>
            <a:off x="1113825" y="298415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a </a:t>
            </a: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derivada</a:t>
            </a: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de log(a) = 1/a. como derivamos em theta, o somatório não afeta nada!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71" name="Google Shape;671;p85" title="MathEquation,#000000"/>
          <p:cNvPicPr preferRelativeResize="0"/>
          <p:nvPr/>
        </p:nvPicPr>
        <p:blipFill rotWithShape="1">
          <a:blip r:embed="rId3">
            <a:alphaModFix/>
          </a:blip>
          <a:srcRect b="0" l="-640" r="93735" t="36045"/>
          <a:stretch/>
        </p:blipFill>
        <p:spPr>
          <a:xfrm>
            <a:off x="903075" y="2197850"/>
            <a:ext cx="3691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672" name="Google Shape;672;p85" title="MathEquation,#000000"/>
          <p:cNvPicPr preferRelativeResize="0"/>
          <p:nvPr/>
        </p:nvPicPr>
        <p:blipFill rotWithShape="1">
          <a:blip r:embed="rId3">
            <a:alphaModFix/>
          </a:blip>
          <a:srcRect b="56046" l="12610" r="81453" t="0"/>
          <a:stretch/>
        </p:blipFill>
        <p:spPr>
          <a:xfrm>
            <a:off x="1502000" y="2374950"/>
            <a:ext cx="31737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temos que derivar e setar para zero!</a:t>
            </a:r>
            <a:endParaRPr/>
          </a:p>
        </p:txBody>
      </p:sp>
      <p:sp>
        <p:nvSpPr>
          <p:cNvPr id="678" name="Google Shape;678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79" name="Google Shape;679;p86" title="MathEquation,#000000"/>
          <p:cNvPicPr preferRelativeResize="0"/>
          <p:nvPr/>
        </p:nvPicPr>
        <p:blipFill rotWithShape="1">
          <a:blip r:embed="rId3">
            <a:alphaModFix/>
          </a:blip>
          <a:srcRect b="0" l="-640" r="93735" t="36045"/>
          <a:stretch/>
        </p:blipFill>
        <p:spPr>
          <a:xfrm>
            <a:off x="903075" y="2197850"/>
            <a:ext cx="36915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86"/>
          <p:cNvSpPr txBox="1"/>
          <p:nvPr/>
        </p:nvSpPr>
        <p:spPr>
          <a:xfrm>
            <a:off x="311700" y="1209125"/>
            <a:ext cx="2963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Temos que computar: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81" name="Google Shape;681;p86" title="MathEquation,#000000"/>
          <p:cNvPicPr preferRelativeResize="0"/>
          <p:nvPr/>
        </p:nvPicPr>
        <p:blipFill rotWithShape="1">
          <a:blip r:embed="rId3">
            <a:alphaModFix/>
          </a:blip>
          <a:srcRect b="56046" l="0" r="0" t="0"/>
          <a:stretch/>
        </p:blipFill>
        <p:spPr>
          <a:xfrm>
            <a:off x="827850" y="1901175"/>
            <a:ext cx="53461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86"/>
          <p:cNvSpPr txBox="1"/>
          <p:nvPr/>
        </p:nvSpPr>
        <p:spPr>
          <a:xfrm>
            <a:off x="1113825" y="298415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a derivada de log(1-a) = -1/(1-a). como derivamos em theta, o somatório não afeta nada!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83" name="Google Shape;683;p86" title="MathEquation,#000000"/>
          <p:cNvPicPr preferRelativeResize="0"/>
          <p:nvPr/>
        </p:nvPicPr>
        <p:blipFill rotWithShape="1">
          <a:blip r:embed="rId3">
            <a:alphaModFix/>
          </a:blip>
          <a:srcRect b="0" l="12717" r="75928" t="36045"/>
          <a:stretch/>
        </p:blipFill>
        <p:spPr>
          <a:xfrm>
            <a:off x="2448950" y="2285400"/>
            <a:ext cx="6070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684" name="Google Shape;684;p86" title="MathEquation,#000000"/>
          <p:cNvPicPr preferRelativeResize="0"/>
          <p:nvPr/>
        </p:nvPicPr>
        <p:blipFill rotWithShape="1">
          <a:blip r:embed="rId3">
            <a:alphaModFix/>
          </a:blip>
          <a:srcRect b="56046" l="12610" r="81453" t="0"/>
          <a:stretch/>
        </p:blipFill>
        <p:spPr>
          <a:xfrm>
            <a:off x="1502000" y="2374950"/>
            <a:ext cx="317374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685" name="Google Shape;685;p86" title="MathEquation,#000000"/>
          <p:cNvPicPr preferRelativeResize="0"/>
          <p:nvPr/>
        </p:nvPicPr>
        <p:blipFill rotWithShape="1">
          <a:blip r:embed="rId3">
            <a:alphaModFix/>
          </a:blip>
          <a:srcRect b="0" l="-640" r="93735" t="36045"/>
          <a:stretch/>
        </p:blipFill>
        <p:spPr>
          <a:xfrm>
            <a:off x="3540475" y="2285400"/>
            <a:ext cx="3691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686" name="Google Shape;686;p86" title="MathEquation,#000000"/>
          <p:cNvPicPr preferRelativeResize="0"/>
          <p:nvPr/>
        </p:nvPicPr>
        <p:blipFill rotWithShape="1">
          <a:blip r:embed="rId3">
            <a:alphaModFix/>
          </a:blip>
          <a:srcRect b="56048" l="52338" r="0" t="0"/>
          <a:stretch/>
        </p:blipFill>
        <p:spPr>
          <a:xfrm>
            <a:off x="3909625" y="2442675"/>
            <a:ext cx="2548050" cy="39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687" name="Google Shape;687;p86" title="MathEquation,#000000"/>
          <p:cNvPicPr preferRelativeResize="0"/>
          <p:nvPr/>
        </p:nvPicPr>
        <p:blipFill rotWithShape="1">
          <a:blip r:embed="rId3">
            <a:alphaModFix/>
          </a:blip>
          <a:srcRect b="56046" l="47014" r="48687" t="0"/>
          <a:stretch/>
        </p:blipFill>
        <p:spPr>
          <a:xfrm>
            <a:off x="3183325" y="2442663"/>
            <a:ext cx="229826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temos que derivar e setar para zero!</a:t>
            </a:r>
            <a:endParaRPr/>
          </a:p>
        </p:txBody>
      </p:sp>
      <p:sp>
        <p:nvSpPr>
          <p:cNvPr id="693" name="Google Shape;693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94" name="Google Shape;694;p87" title="MathEquation,#000000"/>
          <p:cNvPicPr preferRelativeResize="0"/>
          <p:nvPr/>
        </p:nvPicPr>
        <p:blipFill rotWithShape="1">
          <a:blip r:embed="rId3">
            <a:alphaModFix/>
          </a:blip>
          <a:srcRect b="0" l="-640" r="93735" t="36045"/>
          <a:stretch/>
        </p:blipFill>
        <p:spPr>
          <a:xfrm>
            <a:off x="903075" y="2197850"/>
            <a:ext cx="36915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87"/>
          <p:cNvSpPr txBox="1"/>
          <p:nvPr/>
        </p:nvSpPr>
        <p:spPr>
          <a:xfrm>
            <a:off x="311700" y="1209125"/>
            <a:ext cx="2963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Temos que computar: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96" name="Google Shape;696;p87" title="MathEquation,#000000"/>
          <p:cNvPicPr preferRelativeResize="0"/>
          <p:nvPr/>
        </p:nvPicPr>
        <p:blipFill rotWithShape="1">
          <a:blip r:embed="rId3">
            <a:alphaModFix/>
          </a:blip>
          <a:srcRect b="56046" l="0" r="0" t="0"/>
          <a:stretch/>
        </p:blipFill>
        <p:spPr>
          <a:xfrm>
            <a:off x="827850" y="1901175"/>
            <a:ext cx="53461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87"/>
          <p:cNvSpPr txBox="1"/>
          <p:nvPr/>
        </p:nvSpPr>
        <p:spPr>
          <a:xfrm>
            <a:off x="1113825" y="2984150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Chegamos aqui!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698" name="Google Shape;698;p87" title="MathEquation,#000000"/>
          <p:cNvPicPr preferRelativeResize="0"/>
          <p:nvPr/>
        </p:nvPicPr>
        <p:blipFill rotWithShape="1">
          <a:blip r:embed="rId3">
            <a:alphaModFix/>
          </a:blip>
          <a:srcRect b="0" l="12717" r="75928" t="36045"/>
          <a:stretch/>
        </p:blipFill>
        <p:spPr>
          <a:xfrm>
            <a:off x="2448950" y="2285400"/>
            <a:ext cx="6070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699" name="Google Shape;699;p87" title="MathEquation,#000000"/>
          <p:cNvPicPr preferRelativeResize="0"/>
          <p:nvPr/>
        </p:nvPicPr>
        <p:blipFill rotWithShape="1">
          <a:blip r:embed="rId3">
            <a:alphaModFix/>
          </a:blip>
          <a:srcRect b="56046" l="12610" r="81453" t="0"/>
          <a:stretch/>
        </p:blipFill>
        <p:spPr>
          <a:xfrm>
            <a:off x="1502000" y="2374950"/>
            <a:ext cx="317374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700" name="Google Shape;700;p87" title="MathEquation,#000000"/>
          <p:cNvPicPr preferRelativeResize="0"/>
          <p:nvPr/>
        </p:nvPicPr>
        <p:blipFill rotWithShape="1">
          <a:blip r:embed="rId3">
            <a:alphaModFix/>
          </a:blip>
          <a:srcRect b="0" l="-640" r="93735" t="36045"/>
          <a:stretch/>
        </p:blipFill>
        <p:spPr>
          <a:xfrm>
            <a:off x="3540475" y="2285400"/>
            <a:ext cx="3691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701" name="Google Shape;701;p87" title="MathEquation,#000000"/>
          <p:cNvPicPr preferRelativeResize="0"/>
          <p:nvPr/>
        </p:nvPicPr>
        <p:blipFill rotWithShape="1">
          <a:blip r:embed="rId3">
            <a:alphaModFix/>
          </a:blip>
          <a:srcRect b="56048" l="52338" r="0" t="0"/>
          <a:stretch/>
        </p:blipFill>
        <p:spPr>
          <a:xfrm>
            <a:off x="3909625" y="2442675"/>
            <a:ext cx="2548050" cy="39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702" name="Google Shape;702;p87" title="MathEquation,#000000"/>
          <p:cNvPicPr preferRelativeResize="0"/>
          <p:nvPr/>
        </p:nvPicPr>
        <p:blipFill rotWithShape="1">
          <a:blip r:embed="rId3">
            <a:alphaModFix/>
          </a:blip>
          <a:srcRect b="56046" l="47014" r="48687" t="0"/>
          <a:stretch/>
        </p:blipFill>
        <p:spPr>
          <a:xfrm>
            <a:off x="3183325" y="2442663"/>
            <a:ext cx="22982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_{\theta}(X) = {\sum_i x_i}\log(\theta) + {\sum_i (1-x_i)}\log(1-\theta) \\&#10;{dl \over d\theta} = {\sum_i x_i \over \theta} - {\sum_i 1-x_i \over 1-\theta}&#10;" id="703" name="Google Shape;703;p87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40001"/>
          <a:stretch/>
        </p:blipFill>
        <p:spPr>
          <a:xfrm>
            <a:off x="1272225" y="3897025"/>
            <a:ext cx="6291776" cy="6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temos que derivar e setar para zero!</a:t>
            </a:r>
            <a:endParaRPr/>
          </a:p>
        </p:txBody>
      </p:sp>
      <p:sp>
        <p:nvSpPr>
          <p:cNvPr id="709" name="Google Shape;709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710" name="Google Shape;710;p88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875" y="1197775"/>
            <a:ext cx="6291776" cy="10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88"/>
          <p:cNvSpPr txBox="1"/>
          <p:nvPr/>
        </p:nvSpPr>
        <p:spPr>
          <a:xfrm>
            <a:off x="433875" y="2436975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e agora?!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temos que derivar e setar para zero!</a:t>
            </a:r>
            <a:endParaRPr/>
          </a:p>
        </p:txBody>
      </p:sp>
      <p:sp>
        <p:nvSpPr>
          <p:cNvPr id="717" name="Google Shape;717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_{\theta}(X) = {\sum_i x_i}\log(\theta) + {\sum_i (1-x_i)}\log(1-\theta) \\&#10;{dl \over d\theta} = {\sum_i x_i \over \theta} - {\sum_i 1-x_i \over 1-\theta}&#10;" id="718" name="Google Shape;718;p89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875" y="1197775"/>
            <a:ext cx="6291776" cy="10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89"/>
          <p:cNvSpPr txBox="1"/>
          <p:nvPr/>
        </p:nvSpPr>
        <p:spPr>
          <a:xfrm>
            <a:off x="433875" y="2436975"/>
            <a:ext cx="72525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chegamos nesta expressão! e agora?!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o número de pontos negativos é N - POSITIVOS.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descr="\sum_i 1-x_i = n - \sum_i x_i" id="720" name="Google Shape;720;p8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3504" y="3708550"/>
            <a:ext cx="3616312" cy="4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9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726" name="Google Shape;726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7" name="Google Shape;727;p9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Daqui conseguimos otimizar a função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Assim. Passando os denominadores para os dois lados.</a:t>
            </a:r>
            <a:br>
              <a:rPr lang="pt-BR"/>
            </a:br>
            <a:endParaRPr/>
          </a:p>
        </p:txBody>
      </p:sp>
      <p:pic>
        <p:nvPicPr>
          <p:cNvPr descr="{dl \over d\theta} = {\sum_i x_i \over \theta} - {\sum_i 1-x_i \over 1-\theta} \\&#10;{dl \over d\theta} = 0&#10;\\&#10;\sum_i 1-x_i = n - \sum x_i" id="728" name="Google Shape;728;p9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21" y="1353450"/>
            <a:ext cx="2194178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\sum_i x_i \over \theta} = {n-\sum_i x_i \over 1-\theta} \\&#10;\sum_i x_i -\theta \sum_i x_i = {\theta n-\theta\sum_i x_i } \\&#10;\sum_i x_i = \theta n" id="729" name="Google Shape;729;p90" title="MathEquation,#000000"/>
          <p:cNvPicPr preferRelativeResize="0"/>
          <p:nvPr/>
        </p:nvPicPr>
        <p:blipFill rotWithShape="1">
          <a:blip r:embed="rId4">
            <a:alphaModFix/>
          </a:blip>
          <a:srcRect b="57322" l="0" r="0" t="0"/>
          <a:stretch/>
        </p:blipFill>
        <p:spPr>
          <a:xfrm>
            <a:off x="904825" y="3065076"/>
            <a:ext cx="3326424" cy="49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735" name="Google Shape;735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6" name="Google Shape;736;p9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Daqui conseguimos otimizar a função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Assim. Agora, cancelando os termos iguais dos dois lados</a:t>
            </a:r>
            <a:br>
              <a:rPr lang="pt-BR"/>
            </a:br>
            <a:endParaRPr/>
          </a:p>
        </p:txBody>
      </p:sp>
      <p:pic>
        <p:nvPicPr>
          <p:cNvPr descr="{dl \over d\theta} = {\sum_i x_i \over \theta} - {\sum_i 1-x_i \over 1-\theta} \\&#10;{dl \over d\theta} = 0&#10;\\&#10;\sum_i 1-x_i = n - \sum x_i" id="737" name="Google Shape;737;p9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21" y="1353450"/>
            <a:ext cx="2194178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\sum_i x_i \over \theta} = {n-\sum_i x_i \over 1-\theta} \\&#10;\sum_i x_i -\theta \sum_i x_i = {\theta n-\theta\sum_i x_i } \\&#10;\sum_i x_i = \theta n" id="738" name="Google Shape;738;p91" title="MathEquation,#000000"/>
          <p:cNvPicPr preferRelativeResize="0"/>
          <p:nvPr/>
        </p:nvPicPr>
        <p:blipFill rotWithShape="1">
          <a:blip r:embed="rId4">
            <a:alphaModFix/>
          </a:blip>
          <a:srcRect b="27845" l="0" r="0" t="0"/>
          <a:stretch/>
        </p:blipFill>
        <p:spPr>
          <a:xfrm>
            <a:off x="904825" y="3065076"/>
            <a:ext cx="3326424" cy="8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744" name="Google Shape;744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45" name="Google Shape;745;p9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Daqui conseguimos otimizar a função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Assim. Agora, cancelando os termos iguais dos dois lados</a:t>
            </a:r>
            <a:br>
              <a:rPr lang="pt-BR"/>
            </a:br>
            <a:endParaRPr/>
          </a:p>
        </p:txBody>
      </p:sp>
      <p:pic>
        <p:nvPicPr>
          <p:cNvPr descr="{dl \over d\theta} = {\sum_i x_i \over \theta} - {\sum_i 1-x_i \over 1-\theta} \\&#10;{dl \over d\theta} = 0&#10;\\&#10;\sum_i 1-x_i = n - \sum x_i" id="746" name="Google Shape;746;p9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21" y="1353450"/>
            <a:ext cx="2194178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\sum_i x_i \over \theta} = {n-\sum_i x_i \over 1-\theta} \\&#10;\sum_i x_i -\theta \sum_i x_i = {\theta n-\theta\sum_i x_i } \\&#10;\sum_i x_i = \theta n \\&#10;\theta = {{\sum_i x_i} \over n}" id="747" name="Google Shape;747;p9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20" y="3076175"/>
            <a:ext cx="3521274" cy="17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Máxima</a:t>
            </a:r>
            <a:r>
              <a:rPr lang="pt-BR"/>
              <a:t> Verossimilhança</a:t>
            </a:r>
            <a:endParaRPr/>
          </a:p>
        </p:txBody>
      </p:sp>
      <p:sp>
        <p:nvSpPr>
          <p:cNvPr id="753" name="Google Shape;753;p9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Assumimos que as observações são independentes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Maximizamos o log da verossimilhança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Encontramos os parâmetros ótimos!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 no fim foi apenas a média, respondendo as dúvidas do primeiro slide!</a:t>
            </a:r>
            <a:endParaRPr/>
          </a:p>
        </p:txBody>
      </p:sp>
      <p:sp>
        <p:nvSpPr>
          <p:cNvPr id="754" name="Google Shape;754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4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com normal no notebook</a:t>
            </a:r>
            <a:endParaRPr/>
          </a:p>
        </p:txBody>
      </p:sp>
      <p:sp>
        <p:nvSpPr>
          <p:cNvPr id="760" name="Google Shape;760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rgbClr val="FFFFFF"/>
                </a:solidFill>
              </a:rPr>
              <a:t>‹#›</a:t>
            </a:fld>
            <a:endParaRPr sz="1000">
              <a:solidFill>
                <a:srgbClr val="FFFFFF"/>
              </a:solidFill>
            </a:endParaRPr>
          </a:p>
        </p:txBody>
      </p:sp>
      <p:sp>
        <p:nvSpPr>
          <p:cNvPr id="766" name="Google Shape;766;p9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 na Regressão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Linear (Função de Perda)</a:t>
            </a:r>
            <a:endParaRPr/>
          </a:p>
        </p:txBody>
      </p:sp>
      <p:sp>
        <p:nvSpPr>
          <p:cNvPr id="772" name="Google Shape;772;p9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Captura quão bem nosso modelo se ajusta aos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 caso da regressão linear, em particular, fazemos:</a:t>
            </a:r>
            <a:endParaRPr/>
          </a:p>
        </p:txBody>
      </p:sp>
      <p:sp>
        <p:nvSpPr>
          <p:cNvPr id="773" name="Google Shape;773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Theta = [a, b] \\&#10;\mathcal{L}(\Theta) = \sum_i (y_i - \hat{y}_i)^2" id="774" name="Google Shape;774;p96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46763"/>
          <a:stretch/>
        </p:blipFill>
        <p:spPr>
          <a:xfrm>
            <a:off x="2484300" y="2233700"/>
            <a:ext cx="4323400" cy="67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Theta = [\alpha, \beta] \\&#10;\mathcal{L}(\Theta) = \sum_i (y_i - \beta x_i - \alpha)^2" id="775" name="Google Shape;775;p96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4300" y="3263725"/>
            <a:ext cx="5491892" cy="12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9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</a:t>
            </a:r>
            <a:r>
              <a:rPr lang="pt-BR"/>
              <a:t>Probabilístico</a:t>
            </a:r>
            <a:r>
              <a:rPr lang="pt-BR"/>
              <a:t> </a:t>
            </a:r>
            <a:r>
              <a:rPr lang="pt-BR"/>
              <a:t>Erros Normais</a:t>
            </a:r>
            <a:endParaRPr/>
          </a:p>
        </p:txBody>
      </p:sp>
      <p:sp>
        <p:nvSpPr>
          <p:cNvPr id="781" name="Google Shape;781;p9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invés de focar no valor quadrático do erro, vamos pensar no caso ideal. Qual seria o valor ideal do erro da minha regressão: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Normais</a:t>
            </a:r>
            <a:endParaRPr/>
          </a:p>
        </p:txBody>
      </p:sp>
      <p:sp>
        <p:nvSpPr>
          <p:cNvPr id="788" name="Google Shape;788;p9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invés de focar no valor quadrático do erro, vamos pensar no caso ideal. Qual seria o valor ideal do erro da minha regressão: 0</a:t>
            </a:r>
            <a:br>
              <a:rPr lang="pt-BR"/>
            </a:br>
            <a:br>
              <a:rPr lang="pt-BR"/>
            </a:br>
            <a:r>
              <a:rPr b="1" lang="pt-BR">
                <a:solidFill>
                  <a:schemeClr val="dk2"/>
                </a:solidFill>
              </a:rPr>
              <a:t>y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>
                <a:solidFill>
                  <a:schemeClr val="dk2"/>
                </a:solidFill>
              </a:rPr>
              <a:t> + ε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br>
              <a:rPr b="1" baseline="-25000" lang="pt-BR">
                <a:solidFill>
                  <a:schemeClr val="dk2"/>
                </a:solidFill>
              </a:rPr>
            </a:br>
            <a:r>
              <a:rPr b="1" lang="pt-BR">
                <a:solidFill>
                  <a:schemeClr val="dk2"/>
                </a:solidFill>
              </a:rPr>
              <a:t>ε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= y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0000FF"/>
                </a:solidFill>
              </a:rPr>
              <a:t>α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pt-BR"/>
            </a:br>
            <a:r>
              <a:rPr lang="pt-BR"/>
              <a:t>É possível?</a:t>
            </a:r>
            <a:endParaRPr/>
          </a:p>
        </p:txBody>
      </p:sp>
      <p:sp>
        <p:nvSpPr>
          <p:cNvPr id="789" name="Google Shape;789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9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Normais</a:t>
            </a:r>
            <a:endParaRPr/>
          </a:p>
        </p:txBody>
      </p:sp>
      <p:sp>
        <p:nvSpPr>
          <p:cNvPr id="795" name="Google Shape;795;p9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invés de focar no valor quadrático do erro, vamos pensar no caso ideal. Qual seria o valor ideal do erro da minha regressão: 0</a:t>
            </a:r>
            <a:br>
              <a:rPr lang="pt-BR"/>
            </a:br>
            <a:br>
              <a:rPr lang="pt-BR"/>
            </a:br>
            <a:r>
              <a:rPr b="1" lang="pt-BR">
                <a:solidFill>
                  <a:schemeClr val="dk2"/>
                </a:solidFill>
              </a:rPr>
              <a:t>y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>
                <a:solidFill>
                  <a:schemeClr val="dk2"/>
                </a:solidFill>
              </a:rPr>
              <a:t> + ε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br>
              <a:rPr b="1" baseline="-25000" lang="pt-BR">
                <a:solidFill>
                  <a:schemeClr val="dk2"/>
                </a:solidFill>
              </a:rPr>
            </a:br>
            <a:r>
              <a:rPr b="1" lang="pt-BR">
                <a:solidFill>
                  <a:schemeClr val="dk2"/>
                </a:solidFill>
              </a:rPr>
              <a:t>ε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= y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0000FF"/>
                </a:solidFill>
              </a:rPr>
              <a:t>α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pt-BR"/>
            </a:br>
            <a:r>
              <a:rPr lang="pt-BR"/>
              <a:t>É possível? Sim, x = y. Mas no caso geral?</a:t>
            </a:r>
            <a:endParaRPr/>
          </a:p>
        </p:txBody>
      </p:sp>
      <p:sp>
        <p:nvSpPr>
          <p:cNvPr id="796" name="Google Shape;796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0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Normais</a:t>
            </a:r>
            <a:endParaRPr/>
          </a:p>
        </p:txBody>
      </p:sp>
      <p:sp>
        <p:nvSpPr>
          <p:cNvPr id="802" name="Google Shape;802;p10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invés de focar no valor quadrático do erro, vamos pensar no caso ideal. Qual seria o valor ideal do erro da minha regressão: 0</a:t>
            </a:r>
            <a:br>
              <a:rPr lang="pt-BR"/>
            </a:br>
            <a:br>
              <a:rPr lang="pt-BR"/>
            </a:br>
            <a:r>
              <a:rPr b="1" lang="pt-BR">
                <a:solidFill>
                  <a:schemeClr val="dk2"/>
                </a:solidFill>
              </a:rPr>
              <a:t>y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>
                <a:solidFill>
                  <a:schemeClr val="dk2"/>
                </a:solidFill>
              </a:rPr>
              <a:t> + ε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br>
              <a:rPr b="1" baseline="-25000" lang="pt-BR">
                <a:solidFill>
                  <a:schemeClr val="dk2"/>
                </a:solidFill>
              </a:rPr>
            </a:br>
            <a:r>
              <a:rPr b="1" lang="pt-BR">
                <a:solidFill>
                  <a:schemeClr val="dk2"/>
                </a:solidFill>
              </a:rPr>
              <a:t>ε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= y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0000FF"/>
                </a:solidFill>
              </a:rPr>
              <a:t>α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r>
              <a:rPr lang="pt-BR"/>
              <a:t>É possível? Sim, x = y. Mas no caso geral? Não.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E na média?</a:t>
            </a:r>
            <a:endParaRPr/>
          </a:p>
        </p:txBody>
      </p:sp>
      <p:sp>
        <p:nvSpPr>
          <p:cNvPr id="803" name="Google Shape;803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Normais</a:t>
            </a:r>
            <a:endParaRPr/>
          </a:p>
        </p:txBody>
      </p:sp>
      <p:sp>
        <p:nvSpPr>
          <p:cNvPr id="809" name="Google Shape;809;p10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invés de focar no valor quadrático do erro, vamos pensar no caso ideal. Qual seria o valor ideal do erro da minha regressão: 0</a:t>
            </a:r>
            <a:br>
              <a:rPr lang="pt-BR"/>
            </a:br>
            <a:br>
              <a:rPr lang="pt-BR"/>
            </a:br>
            <a:r>
              <a:rPr b="1" lang="pt-BR">
                <a:solidFill>
                  <a:schemeClr val="dk2"/>
                </a:solidFill>
              </a:rPr>
              <a:t>y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>
                <a:solidFill>
                  <a:schemeClr val="dk2"/>
                </a:solidFill>
              </a:rPr>
              <a:t> + ε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br>
              <a:rPr b="1" baseline="-25000" lang="pt-BR">
                <a:solidFill>
                  <a:schemeClr val="dk2"/>
                </a:solidFill>
              </a:rPr>
            </a:br>
            <a:r>
              <a:rPr b="1" lang="pt-BR">
                <a:solidFill>
                  <a:schemeClr val="dk2"/>
                </a:solidFill>
              </a:rPr>
              <a:t>ε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= y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0000FF"/>
                </a:solidFill>
              </a:rPr>
              <a:t>α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r>
              <a:rPr lang="pt-BR"/>
              <a:t>É possível? Sim, x = y. Mas no caso geral? Não.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E na média? ← Um bom modelo!</a:t>
            </a:r>
            <a:endParaRPr/>
          </a:p>
        </p:txBody>
      </p:sp>
      <p:sp>
        <p:nvSpPr>
          <p:cNvPr id="810" name="Google Shape;810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2"/>
          <p:cNvSpPr txBox="1"/>
          <p:nvPr>
            <p:ph idx="1" type="body"/>
          </p:nvPr>
        </p:nvSpPr>
        <p:spPr>
          <a:xfrm>
            <a:off x="311700" y="1152475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Vamos assumir que:</a:t>
            </a:r>
            <a:br>
              <a:rPr lang="pt-BR"/>
            </a:br>
            <a:br>
              <a:rPr lang="pt-BR"/>
            </a:br>
            <a:endParaRPr/>
          </a:p>
        </p:txBody>
      </p:sp>
      <p:sp>
        <p:nvSpPr>
          <p:cNvPr id="816" name="Google Shape;816;p10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Normais</a:t>
            </a:r>
            <a:endParaRPr/>
          </a:p>
        </p:txBody>
      </p:sp>
      <p:sp>
        <p:nvSpPr>
          <p:cNvPr id="817" name="Google Shape;817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epsilon_i \sim Normal(0, \sigma_i)" id="818" name="Google Shape;818;p10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60" y="1683526"/>
            <a:ext cx="3140364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03"/>
          <p:cNvSpPr txBox="1"/>
          <p:nvPr>
            <p:ph idx="1" type="body"/>
          </p:nvPr>
        </p:nvSpPr>
        <p:spPr>
          <a:xfrm>
            <a:off x="311700" y="1193238"/>
            <a:ext cx="8520600" cy="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assumir que:</a:t>
            </a: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Isto é, cada um dos erros vem de uma distribuição normal.</a:t>
            </a:r>
            <a:br>
              <a:rPr lang="pt-BR"/>
            </a:br>
            <a:r>
              <a:rPr lang="pt-BR"/>
              <a:t>Em outra palavras: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/>
              <a:t>Ao assumir que cada erro é uma normal centrada em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/>
              <a:t>Teremos um desvio padrão dos erros que podemos estimar dos dados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pt-BR" sz="1400"/>
              <a:t>Após a regressão</a:t>
            </a:r>
            <a:r>
              <a:rPr lang="pt-BR"/>
              <a:t> </a:t>
            </a:r>
            <a:endParaRPr/>
          </a:p>
        </p:txBody>
      </p:sp>
      <p:sp>
        <p:nvSpPr>
          <p:cNvPr id="824" name="Google Shape;824;p10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Normais</a:t>
            </a:r>
            <a:endParaRPr/>
          </a:p>
        </p:txBody>
      </p:sp>
      <p:sp>
        <p:nvSpPr>
          <p:cNvPr id="825" name="Google Shape;825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epsilon_i \sim Normal(0, \sigma^2)" id="826" name="Google Shape;826;p10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60" y="1667856"/>
            <a:ext cx="2902858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0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 de Dados</a:t>
            </a:r>
            <a:endParaRPr/>
          </a:p>
        </p:txBody>
      </p:sp>
      <p:sp>
        <p:nvSpPr>
          <p:cNvPr id="832" name="Google Shape;832;p10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Apartamentos em BH.</a:t>
            </a:r>
            <a:endParaRPr/>
          </a:p>
        </p:txBody>
      </p:sp>
      <p:sp>
        <p:nvSpPr>
          <p:cNvPr id="833" name="Google Shape;833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34" name="Google Shape;83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034" y="1589800"/>
            <a:ext cx="5255924" cy="35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0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 de Dados</a:t>
            </a:r>
            <a:endParaRPr/>
          </a:p>
        </p:txBody>
      </p:sp>
      <p:sp>
        <p:nvSpPr>
          <p:cNvPr id="840" name="Google Shape;840;p10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Apartamentos em BH.Queremos prever o preço de compra como função da área</a:t>
            </a:r>
            <a:endParaRPr/>
          </a:p>
        </p:txBody>
      </p:sp>
      <p:sp>
        <p:nvSpPr>
          <p:cNvPr id="841" name="Google Shape;841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42" name="Google Shape;842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034" y="1589800"/>
            <a:ext cx="5255924" cy="35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0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848" name="Google Shape;848;p10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Estamos assumindo que:</a:t>
            </a:r>
            <a:br>
              <a:rPr lang="pt-BR"/>
            </a:br>
            <a:r>
              <a:rPr b="1" lang="pt-BR">
                <a:solidFill>
                  <a:schemeClr val="dk2"/>
                </a:solidFill>
              </a:rPr>
              <a:t>ε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= y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-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0000FF"/>
                </a:solidFill>
              </a:rPr>
              <a:t>α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Ou seja, um erro na estimativa de um ponto não depende de outros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razoável mas não 100% correto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Sim, um apartamento pode impactar o preço de outro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Porém, provavelmente existe um efeito de mercado impactando os dois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Uma única variável causando os dois, não observada nos dados </a:t>
            </a:r>
            <a:endParaRPr/>
          </a:p>
        </p:txBody>
      </p:sp>
      <p:sp>
        <p:nvSpPr>
          <p:cNvPr id="849" name="Google Shape;849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0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855" name="Google Shape;855;p10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Temos uma função de densidade de probabilidade para os erros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a função de densidade da Normal</a:t>
            </a:r>
            <a:endParaRPr/>
          </a:p>
        </p:txBody>
      </p:sp>
      <p:sp>
        <p:nvSpPr>
          <p:cNvPr id="856" name="Google Shape;856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epsilon_i \sim Normal(0, \sigma^2)" id="857" name="Google Shape;857;p10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760" y="1482868"/>
            <a:ext cx="2902858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x\mid \mu, \sigma^2) = \frac{1}{{\sqrt {\sigma ^22\pi } }}&#10;e^{- ({x - \mu })^2 / 2\sigma^2} &#10;" id="858" name="Google Shape;858;p10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750" y="2440663"/>
            <a:ext cx="4802326" cy="69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\epsilon_i\mid \mu, \sigma^2) = \frac{1}{{\sqrt {\sigma ^22\pi } }}&#10;e^{- ({\epsilon_i - \mu })^2 / 2\sigma^2} &#10;" id="859" name="Google Shape;859;p10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4737" y="3191113"/>
            <a:ext cx="4930890" cy="6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0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865" name="Google Shape;865;p10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no nosso modelo a média é zero, ficamos com:</a:t>
            </a: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</p:txBody>
      </p:sp>
      <p:sp>
        <p:nvSpPr>
          <p:cNvPr id="866" name="Google Shape;866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\epsilon_i\mid \mu = 0, \sigma^2, \alpha, \beta) = \frac{1}{{\sqrt {\sigma ^22\pi } }}&#10;e^{- ({\epsilon_i - \mu })^2 / 2\sigma^2} &#10;" id="867" name="Google Shape;867;p10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763" y="1363233"/>
            <a:ext cx="6306206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0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873" name="Google Shape;873;p10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no nosso modelo a média é zero, ficamos com: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a função acima. Lembrando de Bayes, como lemos tal função?</a:t>
            </a:r>
            <a:endParaRPr/>
          </a:p>
        </p:txBody>
      </p:sp>
      <p:sp>
        <p:nvSpPr>
          <p:cNvPr id="874" name="Google Shape;874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\epsilon_i\mid \mu = 0, \sigma^2, \alpha, \beta) = \frac{1}{{\sqrt {\sigma ^22\pi } }}&#10;e^{- ({\epsilon_i - \mu })^2 / 2\sigma^2} &#10;" id="875" name="Google Shape;875;p10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763" y="1363233"/>
            <a:ext cx="6306206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\epsilon_i\mid \sigma^2, \alpha, \beta) = \frac{1}{{\sqrt {\sigma ^22\pi } }}&#10;e^{- ({y_i - \beta x_i - \alpha })^2 / 2\sigma^2} &#10;" id="876" name="Google Shape;876;p10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8774" y="1984525"/>
            <a:ext cx="5836596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1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882" name="Google Shape;882;p11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no nosso modelo a média é zero, ficamos com: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a função acima. Lembrando de Bayes, como lemos tal função?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Probabilidade de uma observação (erro para uma reta). </a:t>
            </a:r>
            <a:endParaRPr/>
          </a:p>
        </p:txBody>
      </p:sp>
      <p:sp>
        <p:nvSpPr>
          <p:cNvPr id="883" name="Google Shape;883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\epsilon_i\mid \sigma^2, \alpha, \beta) = \frac{1}{{\sqrt {\sigma ^22\pi } }}&#10;e^{- ({y_i - \beta x_i - \alpha })^2 / 2\sigma^2} &#10;" id="884" name="Google Shape;884;p11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449" y="2184500"/>
            <a:ext cx="5836596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\epsilon_i\mid \mu = 0, \sigma^2, \alpha, \beta) = \frac{1}{{\sqrt {\sigma ^22\pi } }}&#10;e^{- ({\epsilon_i - \mu })^2 / 2\sigma^2} &#10;" id="885" name="Google Shape;885;p110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438" y="1496533"/>
            <a:ext cx="6306206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110"/>
          <p:cNvSpPr/>
          <p:nvPr/>
        </p:nvSpPr>
        <p:spPr>
          <a:xfrm rot="-8097413">
            <a:off x="1350773" y="263476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1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892" name="Google Shape;892;p11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no nosso modelo a média é zero, ficamos com: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a função acima. Lembrando de Bayes, como lemos tal função?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Probabilidade de uma observação.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 3 parâmetros! Isto é uma verossimilhança!</a:t>
            </a:r>
            <a:endParaRPr/>
          </a:p>
        </p:txBody>
      </p:sp>
      <p:sp>
        <p:nvSpPr>
          <p:cNvPr id="893" name="Google Shape;893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\epsilon_i\mid \sigma^2, \alpha, \beta) = \frac{1}{{\sqrt {\sigma ^22\pi } }}&#10;e^{- ({y_i - \beta x_i - \alpha })^2 / 2\sigma^2} &#10;" id="894" name="Google Shape;894;p11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449" y="2184500"/>
            <a:ext cx="5836596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\epsilon_i\mid \mu = 0, \sigma^2, \alpha, \beta) = \frac{1}{{\sqrt {\sigma ^22\pi } }}&#10;e^{- ({\epsilon_i - \mu })^2 / 2\sigma^2} &#10;" id="895" name="Google Shape;895;p11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438" y="1496533"/>
            <a:ext cx="6306206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111"/>
          <p:cNvSpPr/>
          <p:nvPr/>
        </p:nvSpPr>
        <p:spPr>
          <a:xfrm rot="-8097413">
            <a:off x="2139623" y="2690094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1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902" name="Google Shape;902;p11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no nosso modelo a média é zero, ficamos com: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a função acima. Lembrando de Bayes, como lemos tal função?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Probabilidade de uma observação.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 3 parâmetros! Isto é uma verossimilhança!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Mas calma, eu não sei qual a reta?!!! SÓ QUE POSSO APRENDER ELA!</a:t>
            </a:r>
            <a:endParaRPr/>
          </a:p>
        </p:txBody>
      </p:sp>
      <p:sp>
        <p:nvSpPr>
          <p:cNvPr id="903" name="Google Shape;903;p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\epsilon_i\mid \sigma^2, \alpha, \beta) = \frac{1}{{\sqrt {\sigma ^22\pi } }}&#10;e^{- ({y_i - \beta x_i - \alpha })^2 / 2\sigma^2} &#10;" id="904" name="Google Shape;904;p11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449" y="2184500"/>
            <a:ext cx="5836596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\epsilon_i\mid \mu = 0, \sigma^2, \alpha, \beta) = \frac{1}{{\sqrt {\sigma ^22\pi } }}&#10;e^{- ({\epsilon_i - \mu })^2 / 2\sigma^2} &#10;" id="905" name="Google Shape;905;p11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438" y="1496533"/>
            <a:ext cx="6306206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112"/>
          <p:cNvSpPr/>
          <p:nvPr/>
        </p:nvSpPr>
        <p:spPr>
          <a:xfrm rot="-8097413">
            <a:off x="2461823" y="2634769"/>
            <a:ext cx="281924" cy="250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1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912" name="Google Shape;912;p113"/>
          <p:cNvSpPr txBox="1"/>
          <p:nvPr>
            <p:ph idx="1" type="body"/>
          </p:nvPr>
        </p:nvSpPr>
        <p:spPr>
          <a:xfrm>
            <a:off x="311700" y="1898600"/>
            <a:ext cx="8520600" cy="26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Para entender tal função: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Vamos focar numa base de 3 pontos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Além do mais, vamos assumir uma reta qualquer</a:t>
            </a:r>
            <a:endParaRPr/>
          </a:p>
        </p:txBody>
      </p:sp>
      <p:sp>
        <p:nvSpPr>
          <p:cNvPr id="913" name="Google Shape;913;p1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\epsilon_i\mid \sigma^2, \alpha, \beta) = \frac{1}{{\sqrt {\sigma ^22\pi } }}&#10;e^{- ({y_i - \beta x_i - \alpha })^2 / 2\sigma^2} &#10;" id="914" name="Google Shape;914;p11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624" y="1212800"/>
            <a:ext cx="5836596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1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𝝈 foi computada usando std(e</a:t>
            </a:r>
            <a:r>
              <a:rPr baseline="-25000" lang="pt-BR"/>
              <a:t>1</a:t>
            </a:r>
            <a:r>
              <a:rPr lang="pt-BR"/>
              <a:t>, e</a:t>
            </a:r>
            <a:r>
              <a:rPr baseline="-25000" lang="pt-BR" sz="2900"/>
              <a:t>2</a:t>
            </a:r>
            <a:r>
              <a:rPr lang="pt-BR"/>
              <a:t>, e</a:t>
            </a:r>
            <a:r>
              <a:rPr baseline="-25000" lang="pt-BR"/>
              <a:t>3</a:t>
            </a:r>
            <a:r>
              <a:rPr lang="pt-BR"/>
              <a:t>)</a:t>
            </a:r>
            <a:endParaRPr/>
          </a:p>
        </p:txBody>
      </p:sp>
      <p:sp>
        <p:nvSpPr>
          <p:cNvPr id="920" name="Google Shape;920;p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21" name="Google Shape;921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43700"/>
            <a:ext cx="8520602" cy="2586226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114"/>
          <p:cNvSpPr txBox="1"/>
          <p:nvPr/>
        </p:nvSpPr>
        <p:spPr>
          <a:xfrm>
            <a:off x="640250" y="4002950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23" name="Google Shape;923;p114"/>
          <p:cNvSpPr txBox="1"/>
          <p:nvPr/>
        </p:nvSpPr>
        <p:spPr>
          <a:xfrm>
            <a:off x="2381700" y="3293913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24" name="Google Shape;924;p114"/>
          <p:cNvSpPr txBox="1"/>
          <p:nvPr/>
        </p:nvSpPr>
        <p:spPr>
          <a:xfrm>
            <a:off x="4095275" y="3432388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descr="p(\epsilon_i\mid \sigma^2, \alpha, \beta) = \frac{1}{{\sqrt {\sigma ^22\pi } }}&#10;e^{- ({y_i - \beta x_i - \alpha })^2 / 2\sigma^2} &#10;" id="925" name="Google Shape;925;p114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2224" y="1212800"/>
            <a:ext cx="5836596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114"/>
          <p:cNvSpPr/>
          <p:nvPr/>
        </p:nvSpPr>
        <p:spPr>
          <a:xfrm rot="3337929">
            <a:off x="5245048" y="2459144"/>
            <a:ext cx="1195740" cy="3550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Modelo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1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dos 3 erros é o mais verossímil?</a:t>
            </a:r>
            <a:endParaRPr/>
          </a:p>
        </p:txBody>
      </p:sp>
      <p:sp>
        <p:nvSpPr>
          <p:cNvPr id="932" name="Google Shape;932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33" name="Google Shape;933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43700"/>
            <a:ext cx="8520602" cy="2586226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115"/>
          <p:cNvSpPr txBox="1"/>
          <p:nvPr/>
        </p:nvSpPr>
        <p:spPr>
          <a:xfrm>
            <a:off x="640250" y="4002950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35" name="Google Shape;935;p115"/>
          <p:cNvSpPr txBox="1"/>
          <p:nvPr/>
        </p:nvSpPr>
        <p:spPr>
          <a:xfrm>
            <a:off x="2381700" y="3293913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36" name="Google Shape;936;p115"/>
          <p:cNvSpPr txBox="1"/>
          <p:nvPr/>
        </p:nvSpPr>
        <p:spPr>
          <a:xfrm>
            <a:off x="4095275" y="3432388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37" name="Google Shape;937;p115"/>
          <p:cNvSpPr/>
          <p:nvPr/>
        </p:nvSpPr>
        <p:spPr>
          <a:xfrm>
            <a:off x="2090750" y="3169863"/>
            <a:ext cx="933900" cy="933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(\epsilon_i\mid \sigma^2, \alpha, \beta) = \frac{1}{{\sqrt {\sigma ^22\pi } }}&#10;e^{- ({y_i - \beta x_i - \alpha })^2 / 2\sigma^2} &#10;" id="938" name="Google Shape;938;p115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3699" y="1184875"/>
            <a:ext cx="5836596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1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dos 3 erros é o mais verossímil?</a:t>
            </a:r>
            <a:endParaRPr/>
          </a:p>
        </p:txBody>
      </p:sp>
      <p:sp>
        <p:nvSpPr>
          <p:cNvPr id="944" name="Google Shape;944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45" name="Google Shape;945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43700"/>
            <a:ext cx="8520602" cy="2586226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16"/>
          <p:cNvSpPr txBox="1"/>
          <p:nvPr/>
        </p:nvSpPr>
        <p:spPr>
          <a:xfrm>
            <a:off x="640250" y="4002950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47" name="Google Shape;947;p116"/>
          <p:cNvSpPr txBox="1"/>
          <p:nvPr/>
        </p:nvSpPr>
        <p:spPr>
          <a:xfrm>
            <a:off x="2381700" y="3293913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48" name="Google Shape;948;p116"/>
          <p:cNvSpPr txBox="1"/>
          <p:nvPr/>
        </p:nvSpPr>
        <p:spPr>
          <a:xfrm>
            <a:off x="4095275" y="3432388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49" name="Google Shape;949;p116"/>
          <p:cNvSpPr/>
          <p:nvPr/>
        </p:nvSpPr>
        <p:spPr>
          <a:xfrm>
            <a:off x="2090750" y="3169863"/>
            <a:ext cx="933900" cy="933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(\epsilon_i\mid \sigma^2, \alpha, \beta) = \frac{1}{{\sqrt {\sigma ^22\pi } }}&#10;e^{- ({y_i - \beta x_i - \alpha })^2 / 2\sigma^2} &#10;" id="950" name="Google Shape;950;p116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3699" y="1184875"/>
            <a:ext cx="5836596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116"/>
          <p:cNvSpPr txBox="1"/>
          <p:nvPr/>
        </p:nvSpPr>
        <p:spPr>
          <a:xfrm>
            <a:off x="4572000" y="1870663"/>
            <a:ext cx="45330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o mais perto da curva!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952" name="Google Shape;952;p116"/>
          <p:cNvSpPr/>
          <p:nvPr/>
        </p:nvSpPr>
        <p:spPr>
          <a:xfrm rot="3338524">
            <a:off x="6624353" y="4382865"/>
            <a:ext cx="299808" cy="3550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1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dos 3 erros é o mais verossímil?</a:t>
            </a:r>
            <a:endParaRPr/>
          </a:p>
        </p:txBody>
      </p:sp>
      <p:sp>
        <p:nvSpPr>
          <p:cNvPr id="958" name="Google Shape;958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59" name="Google Shape;959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43700"/>
            <a:ext cx="8520602" cy="2586226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117"/>
          <p:cNvSpPr txBox="1"/>
          <p:nvPr/>
        </p:nvSpPr>
        <p:spPr>
          <a:xfrm>
            <a:off x="640250" y="4002950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61" name="Google Shape;961;p117"/>
          <p:cNvSpPr txBox="1"/>
          <p:nvPr/>
        </p:nvSpPr>
        <p:spPr>
          <a:xfrm>
            <a:off x="2381700" y="3293913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62" name="Google Shape;962;p117"/>
          <p:cNvSpPr txBox="1"/>
          <p:nvPr/>
        </p:nvSpPr>
        <p:spPr>
          <a:xfrm>
            <a:off x="4095275" y="3432388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63" name="Google Shape;963;p117"/>
          <p:cNvSpPr/>
          <p:nvPr/>
        </p:nvSpPr>
        <p:spPr>
          <a:xfrm>
            <a:off x="2090750" y="3169863"/>
            <a:ext cx="933900" cy="933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(\epsilon_i\mid \sigma^2, \alpha, \beta) = \frac{1}{{\sqrt {\sigma ^22\pi } }}&#10;e^{- ({y_i - \beta x_i - \alpha })^2 / 2\sigma^2} &#10;" id="964" name="Google Shape;964;p11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3699" y="1184875"/>
            <a:ext cx="5836596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117"/>
          <p:cNvSpPr/>
          <p:nvPr/>
        </p:nvSpPr>
        <p:spPr>
          <a:xfrm rot="3338524">
            <a:off x="6624353" y="4382865"/>
            <a:ext cx="299808" cy="3550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6" name="Google Shape;966;p117"/>
          <p:cNvSpPr/>
          <p:nvPr/>
        </p:nvSpPr>
        <p:spPr>
          <a:xfrm>
            <a:off x="5545775" y="1207100"/>
            <a:ext cx="1185300" cy="39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17"/>
          <p:cNvSpPr txBox="1"/>
          <p:nvPr/>
        </p:nvSpPr>
        <p:spPr>
          <a:xfrm>
            <a:off x="3314900" y="2083400"/>
            <a:ext cx="2921100" cy="73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Quanto menor for o erro </a:t>
            </a:r>
            <a:r>
              <a:rPr b="1" i="1" lang="pt-BR" sz="18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∊</a:t>
            </a:r>
            <a:r>
              <a:rPr b="1" baseline="-25000" i="1" lang="pt-BR" sz="18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</a:t>
            </a:r>
            <a:r>
              <a:rPr lang="pt-BR" sz="18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maior será a probabilidade!</a:t>
            </a:r>
            <a:endParaRPr sz="18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8" name="Google Shape;968;p117"/>
          <p:cNvCxnSpPr>
            <a:stCxn id="966" idx="2"/>
            <a:endCxn id="967" idx="0"/>
          </p:cNvCxnSpPr>
          <p:nvPr/>
        </p:nvCxnSpPr>
        <p:spPr>
          <a:xfrm flipH="1">
            <a:off x="4775525" y="1600700"/>
            <a:ext cx="1362900" cy="482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1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dos 3 erros é o mais verossímil?</a:t>
            </a:r>
            <a:endParaRPr/>
          </a:p>
        </p:txBody>
      </p:sp>
      <p:sp>
        <p:nvSpPr>
          <p:cNvPr id="974" name="Google Shape;974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75" name="Google Shape;975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43700"/>
            <a:ext cx="8520602" cy="2586226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118"/>
          <p:cNvSpPr txBox="1"/>
          <p:nvPr/>
        </p:nvSpPr>
        <p:spPr>
          <a:xfrm>
            <a:off x="640250" y="4002950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77" name="Google Shape;977;p118"/>
          <p:cNvSpPr txBox="1"/>
          <p:nvPr/>
        </p:nvSpPr>
        <p:spPr>
          <a:xfrm>
            <a:off x="2381700" y="3293913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78" name="Google Shape;978;p118"/>
          <p:cNvSpPr txBox="1"/>
          <p:nvPr/>
        </p:nvSpPr>
        <p:spPr>
          <a:xfrm>
            <a:off x="4095275" y="3432388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79" name="Google Shape;979;p118"/>
          <p:cNvSpPr/>
          <p:nvPr/>
        </p:nvSpPr>
        <p:spPr>
          <a:xfrm>
            <a:off x="2090750" y="3169863"/>
            <a:ext cx="933900" cy="933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(\epsilon_i\mid \sigma^2, \alpha, \beta) = \frac{1}{{\sqrt {\sigma ^22\pi } }}&#10;e^{- ({y_i - \beta x_i - \alpha })^2 / 2\sigma^2} &#10;" id="980" name="Google Shape;980;p118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3699" y="1184875"/>
            <a:ext cx="5836596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118"/>
          <p:cNvSpPr txBox="1"/>
          <p:nvPr/>
        </p:nvSpPr>
        <p:spPr>
          <a:xfrm>
            <a:off x="4572000" y="1870663"/>
            <a:ext cx="45330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quanto menor o erro, mais verossímil!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982" name="Google Shape;982;p118"/>
          <p:cNvSpPr/>
          <p:nvPr/>
        </p:nvSpPr>
        <p:spPr>
          <a:xfrm rot="3338524">
            <a:off x="6624353" y="4382865"/>
            <a:ext cx="299808" cy="3550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3" name="Google Shape;983;p118"/>
          <p:cNvSpPr txBox="1"/>
          <p:nvPr/>
        </p:nvSpPr>
        <p:spPr>
          <a:xfrm>
            <a:off x="7605825" y="1961625"/>
            <a:ext cx="10425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pt-BR" sz="6200">
                <a:solidFill>
                  <a:schemeClr val="dk1"/>
                </a:solidFill>
              </a:rPr>
              <a:t>😲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1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maximizar para todos os pontos?!</a:t>
            </a:r>
            <a:endParaRPr/>
          </a:p>
        </p:txBody>
      </p:sp>
      <p:sp>
        <p:nvSpPr>
          <p:cNvPr id="989" name="Google Shape;989;p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90" name="Google Shape;990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43700"/>
            <a:ext cx="8520602" cy="2586226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119"/>
          <p:cNvSpPr txBox="1"/>
          <p:nvPr/>
        </p:nvSpPr>
        <p:spPr>
          <a:xfrm>
            <a:off x="640250" y="4002950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92" name="Google Shape;992;p119"/>
          <p:cNvSpPr txBox="1"/>
          <p:nvPr/>
        </p:nvSpPr>
        <p:spPr>
          <a:xfrm>
            <a:off x="2381700" y="3293913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93" name="Google Shape;993;p119"/>
          <p:cNvSpPr txBox="1"/>
          <p:nvPr/>
        </p:nvSpPr>
        <p:spPr>
          <a:xfrm>
            <a:off x="4095275" y="3432388"/>
            <a:ext cx="145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e</a:t>
            </a:r>
            <a:r>
              <a:rPr b="1" baseline="-25000" lang="pt-BR" sz="12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endParaRPr sz="1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descr="p(\epsilon_i\mid \sigma^2, \alpha, \beta) = \frac{1}{{\sqrt {\sigma ^22\pi } }}&#10;e^{- ({y_i - \beta x_i - \alpha })^2 / 2\sigma^2} &#10;" id="994" name="Google Shape;994;p11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3699" y="1226775"/>
            <a:ext cx="5836596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119"/>
          <p:cNvSpPr txBox="1"/>
          <p:nvPr/>
        </p:nvSpPr>
        <p:spPr>
          <a:xfrm>
            <a:off x="1935600" y="761175"/>
            <a:ext cx="52728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8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ACHAMOS A RETA DE MENOR ERRO!</a:t>
            </a:r>
            <a:endParaRPr sz="2000">
              <a:solidFill>
                <a:srgbClr val="98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2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Independentes</a:t>
            </a:r>
            <a:endParaRPr/>
          </a:p>
        </p:txBody>
      </p:sp>
      <p:sp>
        <p:nvSpPr>
          <p:cNvPr id="1001" name="Google Shape;1001;p12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Ao assumir </a:t>
            </a:r>
            <a:r>
              <a:rPr lang="pt-BR"/>
              <a:t>independência</a:t>
            </a:r>
            <a:r>
              <a:rPr lang="pt-BR"/>
              <a:t>, estamos dizendo que:</a:t>
            </a: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P(A, B) = P(A) P(B) para VAs independentes</a:t>
            </a:r>
            <a:br>
              <a:rPr lang="pt-BR"/>
            </a:br>
            <a:endParaRPr/>
          </a:p>
        </p:txBody>
      </p:sp>
      <p:sp>
        <p:nvSpPr>
          <p:cNvPr id="1002" name="Google Shape;1002;p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(\epsilon_i\mid \sigma^2, \alpha, \beta) = \frac{1}{{\sqrt {\sigma ^22\pi } }}&#10;e^{- ({y_i - \beta x_i - \alpha })^2 / 2\sigma^2} &#10;" id="1003" name="Google Shape;1003;p12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749" y="1457025"/>
            <a:ext cx="5836596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2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Independentes</a:t>
            </a:r>
            <a:endParaRPr/>
          </a:p>
        </p:txBody>
      </p:sp>
      <p:sp>
        <p:nvSpPr>
          <p:cNvPr id="1009" name="Google Shape;1009;p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E = \{\epsilon_1, \epsilon_2, \cdots, \epsilon_n\}" id="1010" name="Google Shape;1010;p12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98" y="2163771"/>
            <a:ext cx="276210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E \mid \sigma^2, \alpha, \beta) = \prod_{i} p(\epsilon_i\mid \sigma^2, \alpha, \beta)" id="1011" name="Google Shape;1011;p12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100" y="2811848"/>
            <a:ext cx="5677648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121"/>
          <p:cNvSpPr txBox="1"/>
          <p:nvPr>
            <p:ph idx="1" type="body"/>
          </p:nvPr>
        </p:nvSpPr>
        <p:spPr>
          <a:xfrm>
            <a:off x="311700" y="1236600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Assumindo um modelo (reta definida por alfa e beta) qualquer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Olhando para uma vários erros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2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Independentes</a:t>
            </a:r>
            <a:endParaRPr/>
          </a:p>
        </p:txBody>
      </p:sp>
      <p:sp>
        <p:nvSpPr>
          <p:cNvPr id="1018" name="Google Shape;1018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9" name="Google Shape;1019;p122"/>
          <p:cNvSpPr txBox="1"/>
          <p:nvPr>
            <p:ph idx="1" type="body"/>
          </p:nvPr>
        </p:nvSpPr>
        <p:spPr>
          <a:xfrm>
            <a:off x="311700" y="1245700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Assumindo um modelo (reta definida por alfa e beta) qualquer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Olhando para uma vários erros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Simplificando. Tudo que é subscrito será estimado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Além do mais, vamos dizer que a variância também é estimada dos dados</a:t>
            </a:r>
            <a:endParaRPr/>
          </a:p>
        </p:txBody>
      </p:sp>
      <p:pic>
        <p:nvPicPr>
          <p:cNvPr descr="\Theta = \{\alpha, \beta, \sigma^2\}\\&#10;p_{\Theta}(E) = \prod_{i} p_{\Theta}(\epsilon_i) = \prod_{i} p_{\Theta}(\epsilon_i\mid \mu=0, \sigma^2, \alpha, \beta) " id="1020" name="Google Shape;1020;p12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99" y="4138529"/>
            <a:ext cx="6245138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 = \{\epsilon_1, \epsilon_2, \cdots, \epsilon_n\}" id="1021" name="Google Shape;1021;p12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098" y="2097096"/>
            <a:ext cx="276210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(E \mid \sigma^2, \alpha, \beta) = \prod_{i} p(\epsilon_i\mid \sigma^2, \alpha, \beta)" id="1022" name="Google Shape;1022;p122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2100" y="2745173"/>
            <a:ext cx="5677648" cy="4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2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1028" name="Google Shape;1028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29" name="Google Shape;1029;p123"/>
          <p:cNvSpPr txBox="1"/>
          <p:nvPr>
            <p:ph idx="1" type="body"/>
          </p:nvPr>
        </p:nvSpPr>
        <p:spPr>
          <a:xfrm>
            <a:off x="311700" y="1068425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Acabamos de definir nossa SEGUNDA função de verossimilhança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Quão provável são os dados para um modelo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podemos proceder?</a:t>
            </a:r>
            <a:endParaRPr/>
          </a:p>
        </p:txBody>
      </p:sp>
      <p:pic>
        <p:nvPicPr>
          <p:cNvPr descr="\Theta = \{\alpha, \beta, \sigma^2\}\\&#10;p_{\Theta}(E) = \prod_{i} p_{\Theta}(\epsilon_i)" id="1030" name="Google Shape;1030;p12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044" y="1919825"/>
            <a:ext cx="2540000" cy="8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2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Verossimilhança</a:t>
            </a:r>
            <a:endParaRPr/>
          </a:p>
        </p:txBody>
      </p:sp>
      <p:sp>
        <p:nvSpPr>
          <p:cNvPr id="1036" name="Google Shape;1036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37" name="Google Shape;1037;p124"/>
          <p:cNvSpPr txBox="1"/>
          <p:nvPr>
            <p:ph idx="1" type="body"/>
          </p:nvPr>
        </p:nvSpPr>
        <p:spPr>
          <a:xfrm>
            <a:off x="311700" y="1068425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Acabamos de definir nossa SEGUNDA função de verossimilhança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Quão provável são os dados para um modelo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podemos proceder? Maximizando a mesma!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Queremos os parâmetros (Theta) que melhor se ajustam os nossos dados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Vamos maximizar a função acima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 produtório é chato :-(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 mundo das somas é mais bacana do que o mundo da multiplicação :-)</a:t>
            </a:r>
            <a:endParaRPr/>
          </a:p>
        </p:txBody>
      </p:sp>
      <p:pic>
        <p:nvPicPr>
          <p:cNvPr descr="\Theta = \{\alpha, \beta, \sigma^2\}\\&#10;p_{\Theta}(E) = \prod_{i} p_{\Theta}(\epsilon_i)" id="1038" name="Google Shape;1038;p12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044" y="1919825"/>
            <a:ext cx="2540000" cy="8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2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 Verossimilhança</a:t>
            </a:r>
            <a:endParaRPr/>
          </a:p>
        </p:txBody>
      </p:sp>
      <p:sp>
        <p:nvSpPr>
          <p:cNvPr id="1044" name="Google Shape;1044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p_{\Theta}(E) = \prod_{i} p_{\Theta}(\epsilon_i) \\&#10;\log(p_{\Theta}(E)) = \mathcal{l}_{\Theta}(E) =  \sum_{i} \log(p_{\Theta}(\epsilon_i))" id="1045" name="Google Shape;1045;p12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125" y="3414575"/>
            <a:ext cx="5121204" cy="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25"/>
          <p:cNvSpPr txBox="1"/>
          <p:nvPr>
            <p:ph idx="1" type="body"/>
          </p:nvPr>
        </p:nvSpPr>
        <p:spPr>
          <a:xfrm>
            <a:off x="311700" y="1236600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o log é uma função monotonicamente crescente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Maximizar o log(f(x)) = Maximizar f(x)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Lembre-se que maximizar é achar o local onde a derivada é zero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Vai ser o mesmo local nos dois casos → o log não muda este local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O log não shifta os dados (eixo-x)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Sempre max(f(x)) == max(log(f(x))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Portanto vamos trabalhar no log 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2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 Verossimilhança (Log Likelihood)</a:t>
            </a:r>
            <a:endParaRPr/>
          </a:p>
        </p:txBody>
      </p:sp>
      <p:sp>
        <p:nvSpPr>
          <p:cNvPr id="1052" name="Google Shape;1052;p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mathcal{l}_{\Theta}(E) =  \sum^n_{i=1} \log(p_{\Theta}(\epsilon_i)) \\&#10;&#10;\mathcal{l}_{\Theta}(E) =  \sum^n_{i=1} \log(\frac{1}{{\sqrt {\sigma ^22\pi } }}&#10;e^{- ({y_i - \beta x_i - \alpha })^2 / 2\sigma^2}) \\&#10;&#10;\mathcal{l}_{\Theta}(E) =  n \log(\frac{1}{{\sqrt {\sigma ^22\pi } }}) + \sum^n_{i=1}&#10;\log(e^{- ({y_i - \beta x_i - \alpha })^2 / 2\sigma^2})) \\&#10;&#10;\mathcal{l}_{\Theta}(E) =  n \log(\frac{1}{{\sqrt {\sigma ^22\pi } }}) - { \sum^n_{i=1} ({y_i - \beta x_i - \alpha })^2 \over 2\sigma^2} \\&#10;&#10;\mathcal{l}_{\Theta}(E) =  -n \log({\sqrt {\sigma ^22\pi } }) - { \sum^n_{i=1} ({y_i - \beta x_i - \alpha })^2 \over 2\sigma^2} \\&#10;&#10;\mathcal{l}_{\Theta}(E) =  -n \log(\sqrt{2\pi}) - n{\log(\sigma) } - { \sum^n_{i=1} ({y_i - \beta x_i - \alpha })^2 \over 2\sigma^2} \\" id="1053" name="Google Shape;1053;p126" title="MathEquation,#000000"/>
          <p:cNvPicPr preferRelativeResize="0"/>
          <p:nvPr/>
        </p:nvPicPr>
        <p:blipFill rotWithShape="1">
          <a:blip r:embed="rId3">
            <a:alphaModFix/>
          </a:blip>
          <a:srcRect b="72733" l="0" r="0" t="0"/>
          <a:stretch/>
        </p:blipFill>
        <p:spPr>
          <a:xfrm>
            <a:off x="452250" y="1126880"/>
            <a:ext cx="6010450" cy="97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2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log(a * b) = log(a) + log(b)</a:t>
            </a:r>
            <a:endParaRPr/>
          </a:p>
        </p:txBody>
      </p:sp>
      <p:sp>
        <p:nvSpPr>
          <p:cNvPr id="1059" name="Google Shape;1059;p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mathcal{l}_{\Theta}(E) =  \sum^n_{i=1} \log(p_{\Theta}(\epsilon_i)) \\&#10;&#10;\mathcal{l}_{\Theta}(E) =  \sum^n_{i=1} \log(\frac{1}{{\sqrt {\sigma ^22\pi } }}&#10;e^{- ({y_i - \beta x_i - \alpha })^2 / 2\sigma^2}) \\&#10;&#10;\mathcal{l}_{\Theta}(E) =  n \log(\frac{1}{{\sqrt {\sigma ^22\pi } }}) + \sum^n_{i=1}&#10;\log(e^{- ({y_i - \beta x_i - \alpha })^2 / 2\sigma^2})) \\&#10;&#10;\mathcal{l}_{\Theta}(E) =  n \log(\frac{1}{{\sqrt {\sigma ^22\pi } }}) - { \sum^n_{i=1} ({y_i - \beta x_i - \alpha })^2 \over 2\sigma^2} \\&#10;&#10;\mathcal{l}_{\Theta}(E) =  -n \log({\sqrt {\sigma ^22\pi } }) - { \sum^n_{i=1} ({y_i - \beta x_i - \alpha })^2 \over 2\sigma^2} \\&#10;&#10;\mathcal{l}_{\Theta}(E) =  -n \log(\sqrt{2\pi}) - n{\log(\sigma) } - { \sum^n_{i=1} ({y_i - \beta x_i - \alpha })^2 \over 2\sigma^2} \\" id="1060" name="Google Shape;1060;p127" title="MathEquation,#000000"/>
          <p:cNvPicPr preferRelativeResize="0"/>
          <p:nvPr/>
        </p:nvPicPr>
        <p:blipFill rotWithShape="1">
          <a:blip r:embed="rId3">
            <a:alphaModFix/>
          </a:blip>
          <a:srcRect b="72733" l="0" r="0" t="0"/>
          <a:stretch/>
        </p:blipFill>
        <p:spPr>
          <a:xfrm>
            <a:off x="430050" y="1049105"/>
            <a:ext cx="6010450" cy="97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2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log(a</a:t>
            </a:r>
            <a:r>
              <a:rPr baseline="30000" lang="pt-BR"/>
              <a:t>x</a:t>
            </a:r>
            <a:r>
              <a:rPr lang="pt-BR"/>
              <a:t>) = x log (a); log(e) = 1</a:t>
            </a:r>
            <a:endParaRPr baseline="30000"/>
          </a:p>
        </p:txBody>
      </p:sp>
      <p:sp>
        <p:nvSpPr>
          <p:cNvPr id="1066" name="Google Shape;1066;p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mathcal{l}_{\Theta}(E) =  \sum^n_{i=1} \log(p_{\Theta}(\epsilon_i)) \\&#10;&#10;\mathcal{l}_{\Theta}(E) =  \sum^n_{i=1} \log(\frac{1}{{\sqrt {\sigma ^22\pi } }}&#10;e^{- ({y_i - \beta x_i - \alpha })^2 / 2\sigma^2}) \\&#10;&#10;\mathcal{l}_{\Theta}(E) =  n \log(\frac{1}{{\sqrt {\sigma ^22\pi } }}) + \sum^n_{i=1}&#10;\log(e^{- ({y_i - \beta x_i - \alpha })^2 / 2\sigma^2})) \\&#10;&#10;\mathcal{l}_{\Theta}(E) =  n \log(\frac{1}{{\sqrt {\sigma ^22\pi } }}) - { \sum^n_{i=1} ({y_i - \beta x_i - \alpha })^2 \over 2\sigma^2} \\&#10;&#10;\mathcal{l}_{\Theta}(E) =  -n \log({\sqrt {\sigma ^22\pi } }) - { \sum^n_{i=1} ({y_i - \beta x_i - \alpha })^2 \over 2\sigma^2} \\&#10;&#10;\mathcal{l}_{\Theta}(E) =  -n \log(\sqrt{2\pi}) - n{\log(\sigma) } - { \sum^n_{i=1} ({y_i - \beta x_i - \alpha })^2 \over 2\sigma^2} \\" id="1067" name="Google Shape;1067;p128" title="MathEquation,#000000"/>
          <p:cNvPicPr preferRelativeResize="0"/>
          <p:nvPr/>
        </p:nvPicPr>
        <p:blipFill rotWithShape="1">
          <a:blip r:embed="rId3">
            <a:alphaModFix/>
          </a:blip>
          <a:srcRect b="55819" l="0" r="0" t="0"/>
          <a:stretch/>
        </p:blipFill>
        <p:spPr>
          <a:xfrm>
            <a:off x="452250" y="995072"/>
            <a:ext cx="6010450" cy="15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2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log(1/x) = -log(x)</a:t>
            </a:r>
            <a:endParaRPr baseline="30000"/>
          </a:p>
        </p:txBody>
      </p:sp>
      <p:sp>
        <p:nvSpPr>
          <p:cNvPr id="1073" name="Google Shape;1073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mathcal{l}_{\Theta}(E) =  \sum^n_{i=1} \log(p_{\Theta}(\epsilon_i)) \\&#10;&#10;\mathcal{l}_{\Theta}(E) =  \sum^n_{i=1} \log(\frac{1}{{\sqrt {\sigma ^22\pi } }}&#10;e^{- ({y_i - \beta x_i - \alpha })^2 / 2\sigma^2}) \\&#10;&#10;\mathcal{l}_{\Theta}(E) =  n \log(\frac{1}{{\sqrt {\sigma ^22\pi } }}) + \sum^n_{i=1}&#10;\log(e^{- ({y_i - \beta x_i - \alpha })^2 / 2\sigma^2})) \\&#10;&#10;\mathcal{l}_{\Theta}(E) =  n \log(\frac{1}{{\sqrt {\sigma ^22\pi } }}) - { \sum^n_{i=1} ({y_i - \beta x_i - \alpha })^2 \over 2\sigma^2} \\&#10;&#10;\mathcal{l}_{\Theta}(E) =  -n \log({\sqrt {\sigma ^22\pi } }) - { \sum^n_{i=1} ({y_i - \beta x_i - \alpha })^2 \over 2\sigma^2} \\&#10;&#10;\mathcal{l}_{\Theta}(E) =  -n \log(\sqrt{2\pi}) - n{\log(\sigma) } - { \sum^n_{i=1} ({y_i - \beta x_i - \alpha })^2 \over 2\sigma^2} \\" id="1074" name="Google Shape;1074;p129" title="MathEquation,#000000"/>
          <p:cNvPicPr preferRelativeResize="0"/>
          <p:nvPr/>
        </p:nvPicPr>
        <p:blipFill rotWithShape="1">
          <a:blip r:embed="rId3">
            <a:alphaModFix/>
          </a:blip>
          <a:srcRect b="37142" l="0" r="0" t="0"/>
          <a:stretch/>
        </p:blipFill>
        <p:spPr>
          <a:xfrm>
            <a:off x="430050" y="1315751"/>
            <a:ext cx="6010450" cy="224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3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log(</a:t>
            </a:r>
            <a:r>
              <a:rPr lang="pt-BR"/>
              <a:t>a</a:t>
            </a:r>
            <a:r>
              <a:rPr lang="pt-BR"/>
              <a:t> </a:t>
            </a:r>
            <a:r>
              <a:rPr lang="pt-BR"/>
              <a:t>* b</a:t>
            </a:r>
            <a:r>
              <a:rPr lang="pt-BR"/>
              <a:t>) = log(a)</a:t>
            </a:r>
            <a:r>
              <a:rPr lang="pt-BR"/>
              <a:t> + log(b)</a:t>
            </a:r>
            <a:endParaRPr/>
          </a:p>
        </p:txBody>
      </p:sp>
      <p:sp>
        <p:nvSpPr>
          <p:cNvPr id="1080" name="Google Shape;1080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mathcal{l}_{\Theta}(E) =  \sum^n_{i=1} \log(p_{\Theta}(\epsilon_i)) \\&#10;&#10;\mathcal{l}_{\Theta}(E) =  \sum^n_{i=1} \log(\frac{1}{{\sqrt {\sigma ^22\pi } }}&#10;e^{- ({y_i - \beta x_i - \alpha })^2 / 2\sigma^2}) \\&#10;&#10;\mathcal{l}_{\Theta}(E) =  n \log(\frac{1}{{\sqrt {\sigma ^22\pi } }}) + \sum^n_{i=1}&#10;\log(e^{- ({y_i - \beta x_i - \alpha })^2 / 2\sigma^2})) \\&#10;&#10;\mathcal{l}_{\Theta}(E) =  n \log(\frac{1}{{\sqrt {\sigma ^22\pi } }}) - { \sum^n_{i=1} ({y_i - \beta x_i - \alpha })^2 \over 2\sigma^2} \\&#10;&#10;\mathcal{l}_{\Theta}(E) =  -n \log({\sqrt {\sigma ^22\pi } }) - { \sum^n_{i=1} ({y_i - \beta x_i - \alpha })^2 \over 2\sigma^2} \\&#10;&#10;\mathcal{l}_{\Theta}(E) =  -n \log(\sqrt{2\pi}) - n{\log(\sigma) } - { \sum^n_{i=1} ({y_i - \beta x_i - \alpha })^2 \over 2\sigma^2} \\" id="1081" name="Google Shape;1081;p130" title="MathEquation,#000000"/>
          <p:cNvPicPr preferRelativeResize="0"/>
          <p:nvPr/>
        </p:nvPicPr>
        <p:blipFill rotWithShape="1">
          <a:blip r:embed="rId3">
            <a:alphaModFix/>
          </a:blip>
          <a:srcRect b="20230" l="0" r="0" t="0"/>
          <a:stretch/>
        </p:blipFill>
        <p:spPr>
          <a:xfrm>
            <a:off x="430050" y="1315750"/>
            <a:ext cx="6010450" cy="284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3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 Verossimilhança (Log Likelihood)</a:t>
            </a:r>
            <a:endParaRPr/>
          </a:p>
        </p:txBody>
      </p:sp>
      <p:sp>
        <p:nvSpPr>
          <p:cNvPr id="1087" name="Google Shape;1087;p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mathcal{l}_{\Theta}(E) =  \sum^n_{i=1} \log(p_{\Theta}(\epsilon_i)) \\&#10;&#10;\mathcal{l}_{\Theta}(E) =  \sum^n_{i=1} \log(\frac{1}{{\sqrt {\sigma ^22\pi } }}&#10;e^{- ({y_i - \beta x_i - \alpha })^2 / 2\sigma^2}) \\&#10;&#10;\mathcal{l}_{\Theta}(E) =  n \log(\frac{1}{{\sqrt {\sigma ^22\pi } }}) + \sum^n_{i=1}&#10;\log(e^{- ({y_i - \beta x_i - \alpha })^2 / 2\sigma^2})) \\&#10;&#10;\mathcal{l}_{\Theta}(E) =  n \log(\frac{1}{{\sqrt {\sigma ^22\pi } }}) - { \sum^n_{i=1} ({y_i - \beta x_i - \alpha })^2 \over 2\sigma^2} \\&#10;&#10;\mathcal{l}_{\Theta}(E) =  -n \log({\sqrt {\sigma ^22\pi } }) - { \sum^n_{i=1} ({y_i - \beta x_i - \alpha })^2 \over 2\sigma^2} \\&#10;&#10;\mathcal{l}_{\Theta}(E) =  -n \log(\sqrt{2\pi}) - n{\log(\sigma) } - { \sum^n_{i=1} ({y_i - \beta x_i - \alpha })^2 \over 2\sigma^2} \\" id="1088" name="Google Shape;1088;p13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49" y="1315758"/>
            <a:ext cx="6010442" cy="35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3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 Verossimilhança</a:t>
            </a:r>
            <a:endParaRPr/>
          </a:p>
        </p:txBody>
      </p:sp>
      <p:sp>
        <p:nvSpPr>
          <p:cNvPr id="1094" name="Google Shape;1094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95" name="Google Shape;1095;p132"/>
          <p:cNvSpPr txBox="1"/>
          <p:nvPr>
            <p:ph idx="1" type="body"/>
          </p:nvPr>
        </p:nvSpPr>
        <p:spPr>
          <a:xfrm>
            <a:off x="311700" y="1236600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Maximizar a log verossimilhança implica em achar os parâmetros que melhor se ajustam aos dados!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Serve para qualquer modelo probabilístico!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 lindo!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3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Maximizando alfa e beta</a:t>
            </a:r>
            <a:endParaRPr/>
          </a:p>
        </p:txBody>
      </p:sp>
      <p:sp>
        <p:nvSpPr>
          <p:cNvPr id="1101" name="Google Shape;1101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2" name="Google Shape;1102;p133"/>
          <p:cNvSpPr txBox="1"/>
          <p:nvPr>
            <p:ph idx="1" type="body"/>
          </p:nvPr>
        </p:nvSpPr>
        <p:spPr>
          <a:xfrm>
            <a:off x="311700" y="1236600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fator importante ao derivar em alfa e beta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Note como o sigma vai sumir!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Não participa da derivada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2/sigma some ao igualar para zero!</a:t>
            </a:r>
            <a:endParaRPr/>
          </a:p>
        </p:txBody>
      </p:sp>
      <p:pic>
        <p:nvPicPr>
          <p:cNvPr descr="\mathcal{l}_{\Theta}(E) =  \sum^n_{i=1} \log(p_{\Theta}(\epsilon_i)) \\&#10;&#10;\mathcal{l}_{\Theta}(E) =  \sum^n_{i=1} \log(\frac{1}{{\sqrt {\sigma ^22\pi } }}&#10;e^{- ({y_i - \beta x_i - \alpha })^2 / 2\sigma^2}) \\&#10;&#10;\mathcal{l}_{\Theta}(E) =  n \log(\frac{1}{{\sqrt {\sigma ^22\pi } }}) + \sum^n_{i=1}&#10;\log(e^{- ({y_i - \beta x_i - \alpha })^2 / 2\sigma^2})) \\&#10;&#10;\mathcal{l}_{\Theta}(E) =  n \log(\frac{1}{{\sqrt {\sigma ^22\pi } }}) - { \sum^n_{i=1} ({y_i - \beta x_i - \alpha })^2 \over 2\sigma^2} \\&#10;&#10;\mathcal{l}_{\Theta}(E) =  -n \log({\sqrt {\sigma ^22\pi } }) - { \sum^n_{i=1} ({y_i - \beta x_i - \alpha })^2 \over 2\sigma^2} \\&#10;&#10;\mathcal{l}_{\Theta}(E) =  -n \log(2\pi) - n{\log(\sigma) } - { \sum^n_{i=1} ({y_i - \beta x_i - \alpha })^2 \over 2\sigma^2} \\" id="1103" name="Google Shape;1103;p133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80026"/>
          <a:stretch/>
        </p:blipFill>
        <p:spPr>
          <a:xfrm>
            <a:off x="818850" y="1661275"/>
            <a:ext cx="5928776" cy="71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d \mathcal{l}_{\Theta}(E) \over d\alpha} =  \frac{d}{d\alpha}{ - \sum^n_{i=1} ({y_i - \beta x_i - \alpha })^2 \over 2\sigma^2} \\&#10;&#10;{d \mathcal{l}_{\Theta}(E) \over d\beta} =  \frac{d}{d\beta}{-  \sum^n_{i=1} ({y_i - \beta x_i - \alpha })^2 \over 2\sigma^2}" id="1104" name="Google Shape;1104;p133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847" y="2295517"/>
            <a:ext cx="3515570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qrt{\,}" id="1105" name="Google Shape;1105;p133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5850" y="1661272"/>
            <a:ext cx="283850" cy="33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3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Maximizando</a:t>
            </a:r>
            <a:endParaRPr/>
          </a:p>
        </p:txBody>
      </p:sp>
      <p:sp>
        <p:nvSpPr>
          <p:cNvPr id="1111" name="Google Shape;1111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12" name="Google Shape;1112;p134"/>
          <p:cNvSpPr txBox="1"/>
          <p:nvPr>
            <p:ph idx="1" type="body"/>
          </p:nvPr>
        </p:nvSpPr>
        <p:spPr>
          <a:xfrm>
            <a:off x="311700" y="1236600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fator importante ao derivar em alfa e beta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Note como o sigma some vai sumir ao igualar a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o sinal negativo. Maximizar a verossimilhança da regressão minimiza os erros quadrados. Retornamos para o caso da aula passada!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http://mathworld.wolfram.com/LeastSquaresFitting.html</a:t>
            </a:r>
            <a:endParaRPr/>
          </a:p>
        </p:txBody>
      </p:sp>
      <p:pic>
        <p:nvPicPr>
          <p:cNvPr descr="\mathcal{l}_{\Theta}(E) =  \sum^n_{i=1} \log(p_{\Theta}(\epsilon_i)) \\&#10;&#10;\mathcal{l}_{\Theta}(E) =  \sum^n_{i=1} \log(\frac{1}{{\sqrt {\sigma ^22\pi } }}&#10;e^{- ({y_i - \beta x_i - \alpha })^2 / 2\sigma^2}) \\&#10;&#10;\mathcal{l}_{\Theta}(E) =  n \log(\frac{1}{{\sqrt {\sigma ^22\pi } }}) + \sum^n_{i=1}&#10;\log(e^{- ({y_i - \beta x_i - \alpha })^2 / 2\sigma^2})) \\&#10;&#10;\mathcal{l}_{\Theta}(E) =  n \log(\frac{1}{{\sqrt {\sigma ^22\pi } }}) - { \sum^n_{i=1} ({y_i - \beta x_i - \alpha })^2 \over 2\sigma^2} \\&#10;&#10;\mathcal{l}_{\Theta}(E) =  -n \log({\sqrt {\sigma ^22\pi } }) - { \sum^n_{i=1} ({y_i - \beta x_i - \alpha })^2 \over 2\sigma^2} \\&#10;&#10;\mathcal{l}_{\Theta}(E) =  -n \log(2\pi) - n{\log(\sigma) } - { \sum^n_{i=1} ({y_i - \beta x_i - \alpha })^2 \over 2\sigma^2} \\" id="1113" name="Google Shape;1113;p134" title="MathEquation,#000000"/>
          <p:cNvPicPr preferRelativeResize="0"/>
          <p:nvPr/>
        </p:nvPicPr>
        <p:blipFill rotWithShape="1">
          <a:blip r:embed="rId4">
            <a:alphaModFix/>
          </a:blip>
          <a:srcRect b="0" l="0" r="0" t="80026"/>
          <a:stretch/>
        </p:blipFill>
        <p:spPr>
          <a:xfrm>
            <a:off x="818850" y="1661275"/>
            <a:ext cx="5928776" cy="7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8847" y="2295517"/>
            <a:ext cx="3515570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qrt{\,}" id="1115" name="Google Shape;1115;p134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5850" y="1661272"/>
            <a:ext cx="283850" cy="33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3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Maximizando</a:t>
            </a:r>
            <a:endParaRPr/>
          </a:p>
        </p:txBody>
      </p:sp>
      <p:sp>
        <p:nvSpPr>
          <p:cNvPr id="1121" name="Google Shape;1121;p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22" name="Google Shape;1122;p135"/>
          <p:cNvSpPr txBox="1"/>
          <p:nvPr>
            <p:ph idx="1" type="body"/>
          </p:nvPr>
        </p:nvSpPr>
        <p:spPr>
          <a:xfrm>
            <a:off x="311700" y="1236600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Ou seja, o melhor estimador do modelo é o mesmo de antes!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</a:t>
            </a:r>
            <a:r>
              <a:rPr lang="pt-BR"/>
              <a:t>como o sigma</a:t>
            </a:r>
            <a:r>
              <a:rPr lang="pt-BR"/>
              <a:t> não impacta os valores de alfa e beta. Porém, será útil no para </a:t>
            </a:r>
            <a:r>
              <a:rPr lang="pt-BR"/>
              <a:t>entendermos</a:t>
            </a:r>
            <a:r>
              <a:rPr lang="pt-BR"/>
              <a:t> os erros do estimador (é a variância dos erros afinal).</a:t>
            </a:r>
            <a:endParaRPr/>
          </a:p>
        </p:txBody>
      </p:sp>
      <p:pic>
        <p:nvPicPr>
          <p:cNvPr id="1123" name="Google Shape;1123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75" y="1694650"/>
            <a:ext cx="3710800" cy="175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d \mathcal{l}_{\Theta}(E) \over d\sigma} =  -{n\over \sigma} + { 2 \sum^n_{i=1} ({y_i - \beta x_i - \alpha })^2 \over 2\sigma^3} \\&#10;&#10;{d \mathcal{l}_{\Theta}(E) \over d\sigma} = 0 \\&#10;&#10;\sigma^2 = { \sum^n_{i=1} ({y_i - \beta x_i - \alpha })^2 \over n}" id="1124" name="Google Shape;1124;p135" title="MathEquation,#000000"/>
          <p:cNvPicPr preferRelativeResize="0"/>
          <p:nvPr/>
        </p:nvPicPr>
        <p:blipFill rotWithShape="1">
          <a:blip r:embed="rId4">
            <a:alphaModFix/>
          </a:blip>
          <a:srcRect b="0" l="0" r="0" t="68772"/>
          <a:stretch/>
        </p:blipFill>
        <p:spPr>
          <a:xfrm>
            <a:off x="861200" y="3448850"/>
            <a:ext cx="4387476" cy="6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3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Lições</a:t>
            </a:r>
            <a:endParaRPr/>
          </a:p>
        </p:txBody>
      </p:sp>
      <p:sp>
        <p:nvSpPr>
          <p:cNvPr id="1130" name="Google Shape;1130;p13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estimador onde observamos: </a:t>
            </a:r>
            <a:r>
              <a:rPr b="1" lang="pt-BR">
                <a:solidFill>
                  <a:schemeClr val="dk2"/>
                </a:solidFill>
              </a:rPr>
              <a:t>ε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= y</a:t>
            </a:r>
            <a:r>
              <a:rPr b="1" baseline="-25000" lang="pt-BR">
                <a:solidFill>
                  <a:schemeClr val="dk2"/>
                </a:solidFill>
              </a:rPr>
              <a:t>i </a:t>
            </a:r>
            <a:r>
              <a:rPr b="1" lang="pt-BR">
                <a:solidFill>
                  <a:schemeClr val="dk2"/>
                </a:solidFill>
              </a:rPr>
              <a:t>-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- </a:t>
            </a:r>
            <a:r>
              <a:rPr b="1" lang="pt-BR">
                <a:solidFill>
                  <a:srgbClr val="0000FF"/>
                </a:solidFill>
              </a:rPr>
              <a:t>α </a:t>
            </a:r>
            <a:endParaRPr b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Para um valor qualquer de alfa e beta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Além do mais, assumimos que cada erro acima vem de uma Normal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a mesma coisa de um estimador de mínimos quadrados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Redundante, mas no processo aprendemos sobre verossimilhanças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usar o resultado para verificar se o modelo se adequa aos dados</a:t>
            </a:r>
            <a:endParaRPr/>
          </a:p>
        </p:txBody>
      </p:sp>
      <p:sp>
        <p:nvSpPr>
          <p:cNvPr id="1131" name="Google Shape;1131;p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rgbClr val="FFFFFF"/>
                </a:solidFill>
              </a:rPr>
              <a:t>‹#›</a:t>
            </a:fld>
            <a:endParaRPr sz="1000">
              <a:solidFill>
                <a:srgbClr val="FFFFFF"/>
              </a:solidFill>
            </a:endParaRPr>
          </a:p>
        </p:txBody>
      </p:sp>
      <p:sp>
        <p:nvSpPr>
          <p:cNvPr id="1137" name="Google Shape;1137;p1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Fazendo Uso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3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 de Dados</a:t>
            </a:r>
            <a:endParaRPr/>
          </a:p>
        </p:txBody>
      </p:sp>
      <p:sp>
        <p:nvSpPr>
          <p:cNvPr id="1143" name="Google Shape;1143;p13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Apartamentos em BH.</a:t>
            </a:r>
            <a:endParaRPr/>
          </a:p>
        </p:txBody>
      </p:sp>
      <p:sp>
        <p:nvSpPr>
          <p:cNvPr id="1144" name="Google Shape;1144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45" name="Google Shape;1145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034" y="1589800"/>
            <a:ext cx="5255924" cy="35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3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 de Dados</a:t>
            </a:r>
            <a:endParaRPr/>
          </a:p>
        </p:txBody>
      </p:sp>
      <p:sp>
        <p:nvSpPr>
          <p:cNvPr id="1151" name="Google Shape;1151;p13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Preço é mais ou menos 3.5 x área + 200k: </a:t>
            </a:r>
            <a:r>
              <a:rPr b="1" lang="pt-BR">
                <a:solidFill>
                  <a:schemeClr val="dk2"/>
                </a:solidFill>
              </a:rPr>
              <a:t>y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= </a:t>
            </a:r>
            <a:r>
              <a:rPr b="1" lang="pt-BR">
                <a:solidFill>
                  <a:srgbClr val="FF0000"/>
                </a:solidFill>
              </a:rPr>
              <a:t>3.53 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+ </a:t>
            </a:r>
            <a:r>
              <a:rPr b="1" lang="pt-BR">
                <a:solidFill>
                  <a:srgbClr val="0000FF"/>
                </a:solidFill>
              </a:rPr>
              <a:t>200.52</a:t>
            </a:r>
            <a:endParaRPr/>
          </a:p>
        </p:txBody>
      </p:sp>
      <p:sp>
        <p:nvSpPr>
          <p:cNvPr id="1152" name="Google Shape;1152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53" name="Google Shape;1153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051" y="1649325"/>
            <a:ext cx="5167900" cy="34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4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</a:t>
            </a:r>
            <a:endParaRPr/>
          </a:p>
        </p:txBody>
      </p:sp>
      <p:sp>
        <p:nvSpPr>
          <p:cNvPr id="1159" name="Google Shape;1159;p14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Note que existe uma relação linear. O IC da mesma foi estimado via bootstrap.</a:t>
            </a:r>
            <a:endParaRPr/>
          </a:p>
        </p:txBody>
      </p:sp>
      <p:sp>
        <p:nvSpPr>
          <p:cNvPr id="1160" name="Google Shape;1160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61" name="Google Shape;1161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051" y="1649325"/>
            <a:ext cx="5167900" cy="34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4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 de Dados</a:t>
            </a:r>
            <a:endParaRPr/>
          </a:p>
        </p:txBody>
      </p:sp>
      <p:sp>
        <p:nvSpPr>
          <p:cNvPr id="1167" name="Google Shape;1167;p14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Caso apareça um novo apto de 275m2, qual é o preço?</a:t>
            </a:r>
            <a:endParaRPr/>
          </a:p>
        </p:txBody>
      </p:sp>
      <p:sp>
        <p:nvSpPr>
          <p:cNvPr id="1168" name="Google Shape;1168;p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69" name="Google Shape;1169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051" y="1649325"/>
            <a:ext cx="5167900" cy="349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141"/>
          <p:cNvSpPr/>
          <p:nvPr/>
        </p:nvSpPr>
        <p:spPr>
          <a:xfrm>
            <a:off x="5457900" y="4688750"/>
            <a:ext cx="163500" cy="1635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4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 de Dados</a:t>
            </a:r>
            <a:endParaRPr/>
          </a:p>
        </p:txBody>
      </p:sp>
      <p:sp>
        <p:nvSpPr>
          <p:cNvPr id="1176" name="Google Shape;1176;p14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Basta aplicar a regressão: </a:t>
            </a:r>
            <a:r>
              <a:rPr b="1" lang="pt-BR">
                <a:solidFill>
                  <a:schemeClr val="dk2"/>
                </a:solidFill>
              </a:rPr>
              <a:t>y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r>
              <a:rPr b="1" lang="pt-BR">
                <a:solidFill>
                  <a:schemeClr val="dk2"/>
                </a:solidFill>
              </a:rPr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endParaRPr/>
          </a:p>
        </p:txBody>
      </p:sp>
      <p:sp>
        <p:nvSpPr>
          <p:cNvPr id="1177" name="Google Shape;1177;p1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78" name="Google Shape;1178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051" y="1649325"/>
            <a:ext cx="5167900" cy="349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142"/>
          <p:cNvSpPr/>
          <p:nvPr/>
        </p:nvSpPr>
        <p:spPr>
          <a:xfrm>
            <a:off x="5457900" y="4652925"/>
            <a:ext cx="163500" cy="1635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4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 de Dados</a:t>
            </a:r>
            <a:endParaRPr/>
          </a:p>
        </p:txBody>
      </p:sp>
      <p:sp>
        <p:nvSpPr>
          <p:cNvPr id="1185" name="Google Shape;1185;p14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Entre 1,000,000 e 1,250,000 reais.</a:t>
            </a:r>
            <a:endParaRPr/>
          </a:p>
        </p:txBody>
      </p:sp>
      <p:sp>
        <p:nvSpPr>
          <p:cNvPr id="1186" name="Google Shape;1186;p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87" name="Google Shape;1187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051" y="1649325"/>
            <a:ext cx="5167900" cy="349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143"/>
          <p:cNvSpPr/>
          <p:nvPr/>
        </p:nvSpPr>
        <p:spPr>
          <a:xfrm>
            <a:off x="5457900" y="3091625"/>
            <a:ext cx="163500" cy="1635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4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da Regressão</a:t>
            </a:r>
            <a:endParaRPr/>
          </a:p>
        </p:txBody>
      </p:sp>
      <p:sp>
        <p:nvSpPr>
          <p:cNvPr id="1194" name="Google Shape;1194;p14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mensurar o R2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também ter uma ideia visual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os erros são centrados em zero, ao plotar valor-de-x pelo erro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Queremos pontos igualmente dispersados  positivos e negativos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Lembre-se da PDF da Normal. A mediana e a média são iguais →   50% dos erros acima de 0 abaixo.</a:t>
            </a:r>
            <a:endParaRPr/>
          </a:p>
        </p:txBody>
      </p:sp>
      <p:sp>
        <p:nvSpPr>
          <p:cNvPr id="1195" name="Google Shape;1195;p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96" name="Google Shape;1196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00" y="2697026"/>
            <a:ext cx="8170399" cy="244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144"/>
          <p:cNvSpPr/>
          <p:nvPr/>
        </p:nvSpPr>
        <p:spPr>
          <a:xfrm rot="3337929">
            <a:off x="5296848" y="3065994"/>
            <a:ext cx="1195740" cy="3550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Modelo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4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da Regressão</a:t>
            </a:r>
            <a:endParaRPr/>
          </a:p>
        </p:txBody>
      </p:sp>
      <p:sp>
        <p:nvSpPr>
          <p:cNvPr id="1203" name="Google Shape;1203;p14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mensurar o R2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também ter uma ideia visual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os erros são centrados em zero, ao plotar valor-de-x pelo erro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Queremos pontos igualmente dispersados  positivos e negativos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Lembre-se da PDF da Normal. A mediana e a média são iguais →   50% dos erros acima de 0 abaixo.</a:t>
            </a:r>
            <a:endParaRPr/>
          </a:p>
        </p:txBody>
      </p:sp>
      <p:sp>
        <p:nvSpPr>
          <p:cNvPr id="1204" name="Google Shape;1204;p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05" name="Google Shape;1205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00" y="2697026"/>
            <a:ext cx="8170399" cy="244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45"/>
          <p:cNvSpPr/>
          <p:nvPr/>
        </p:nvSpPr>
        <p:spPr>
          <a:xfrm rot="3337929">
            <a:off x="5296848" y="3065994"/>
            <a:ext cx="1195740" cy="3550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Modelo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7" name="Google Shape;1207;p145"/>
          <p:cNvSpPr txBox="1"/>
          <p:nvPr/>
        </p:nvSpPr>
        <p:spPr>
          <a:xfrm>
            <a:off x="6341775" y="456887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50%  |   50%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4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Residual</a:t>
            </a:r>
            <a:endParaRPr/>
          </a:p>
        </p:txBody>
      </p:sp>
      <p:sp>
        <p:nvSpPr>
          <p:cNvPr id="1213" name="Google Shape;1213;p146"/>
          <p:cNvSpPr txBox="1"/>
          <p:nvPr>
            <p:ph idx="1" type="body"/>
          </p:nvPr>
        </p:nvSpPr>
        <p:spPr>
          <a:xfrm>
            <a:off x="311700" y="1152475"/>
            <a:ext cx="368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Erro por eixo-x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1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15" name="Google Shape;1215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3725" y="1451063"/>
            <a:ext cx="4355900" cy="285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4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Residual</a:t>
            </a:r>
            <a:endParaRPr/>
          </a:p>
        </p:txBody>
      </p:sp>
      <p:sp>
        <p:nvSpPr>
          <p:cNvPr id="1221" name="Google Shape;1221;p147"/>
          <p:cNvSpPr txBox="1"/>
          <p:nvPr>
            <p:ph idx="1" type="body"/>
          </p:nvPr>
        </p:nvSpPr>
        <p:spPr>
          <a:xfrm>
            <a:off x="311700" y="1152475"/>
            <a:ext cx="368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Parece sem nenhum padrão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Queremos isto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Erros espalhados para os dois lados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Parece que fica pior quando x aumenta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23" name="Google Shape;1223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3725" y="1451063"/>
            <a:ext cx="4355900" cy="285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4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Dugongos (“Peixes Boi”)</a:t>
            </a:r>
            <a:endParaRPr/>
          </a:p>
        </p:txBody>
      </p:sp>
      <p:sp>
        <p:nvSpPr>
          <p:cNvPr id="1229" name="Google Shape;1229;p14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31" name="Google Shape;1231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700" y="1311325"/>
            <a:ext cx="571500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4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Dugongos (“Peixes Boi”)</a:t>
            </a:r>
            <a:endParaRPr/>
          </a:p>
        </p:txBody>
      </p:sp>
      <p:sp>
        <p:nvSpPr>
          <p:cNvPr id="1237" name="Google Shape;1237;p14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Prever o comprimento de acordo com a idade</a:t>
            </a:r>
            <a:endParaRPr/>
          </a:p>
        </p:txBody>
      </p:sp>
      <p:sp>
        <p:nvSpPr>
          <p:cNvPr id="1238" name="Google Shape;1238;p1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39" name="Google Shape;1239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075" y="1685425"/>
            <a:ext cx="4627326" cy="32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5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Residual Plot</a:t>
            </a:r>
            <a:endParaRPr/>
          </a:p>
        </p:txBody>
      </p:sp>
      <p:sp>
        <p:nvSpPr>
          <p:cNvPr id="1245" name="Google Shape;1245;p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6" name="Google Shape;1246;p150"/>
          <p:cNvSpPr txBox="1"/>
          <p:nvPr>
            <p:ph idx="1" type="body"/>
          </p:nvPr>
        </p:nvSpPr>
        <p:spPr>
          <a:xfrm>
            <a:off x="311700" y="1152475"/>
            <a:ext cx="37188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Pior do que antes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Sempre negativo nos extremos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Majoritariamente positivo no centro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relação parece linear mas o modelo não é muito bom!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Ou seja, os erros não são normais!</a:t>
            </a:r>
            <a:endParaRPr/>
          </a:p>
        </p:txBody>
      </p:sp>
      <p:pic>
        <p:nvPicPr>
          <p:cNvPr id="1247" name="Google Shape;124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375" y="1564600"/>
            <a:ext cx="4095601" cy="267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15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Contato</a:t>
            </a:r>
            <a:endParaRPr/>
          </a:p>
        </p:txBody>
      </p:sp>
      <p:sp>
        <p:nvSpPr>
          <p:cNvPr id="1253" name="Google Shape;1253;p15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Flavio Vinicius Diniz de Figueiredo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flavio@dcc.ufmg.br</a:t>
            </a:r>
            <a:r>
              <a:rPr lang="pt-BR"/>
              <a:t> 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Introdução à Ciência dos Dados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